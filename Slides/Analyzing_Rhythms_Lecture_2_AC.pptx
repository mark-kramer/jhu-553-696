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60" r:id="rId4"/>
    <p:sldId id="334" r:id="rId5"/>
    <p:sldId id="335" r:id="rId6"/>
    <p:sldId id="336" r:id="rId7"/>
    <p:sldId id="337" r:id="rId8"/>
    <p:sldId id="339" r:id="rId9"/>
    <p:sldId id="341" r:id="rId10"/>
    <p:sldId id="342" r:id="rId11"/>
    <p:sldId id="343" r:id="rId12"/>
    <p:sldId id="344" r:id="rId13"/>
    <p:sldId id="345" r:id="rId14"/>
    <p:sldId id="346" r:id="rId15"/>
    <p:sldId id="347" r:id="rId16"/>
    <p:sldId id="349" r:id="rId17"/>
    <p:sldId id="348" r:id="rId18"/>
    <p:sldId id="350" r:id="rId19"/>
    <p:sldId id="351" r:id="rId20"/>
    <p:sldId id="352" r:id="rId21"/>
    <p:sldId id="353" r:id="rId22"/>
    <p:sldId id="354" r:id="rId23"/>
    <p:sldId id="358" r:id="rId24"/>
    <p:sldId id="356" r:id="rId25"/>
    <p:sldId id="357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41"/>
    <p:restoredTop sz="94658"/>
  </p:normalViewPr>
  <p:slideViewPr>
    <p:cSldViewPr snapToGrid="0">
      <p:cViewPr varScale="1">
        <p:scale>
          <a:sx n="120" d="100"/>
          <a:sy n="120" d="100"/>
        </p:scale>
        <p:origin x="47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2T20:06:31.55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0 24575,'60'35'0,"-18"-2"0,4 0 0,3 3 0,13 19 0,-22-21 0,-1 0 0,30 25 0,-33-22 0,0 0 0,27 29 0,-1 7 0,-27-24 0,-3-1 0,-2 0 0,-6-2 0,0 1 0,2 3 0,12 26 0,-7-20 0,2 2-1036,-6-7 1,1 1 1035,16 20 0,0 0 0,-17-16 0,0-1 0,14 18 0,1 3 0,-3 5 0,0 0 0,4 3 0,2 0 0,0 5 0,-1-1 0,-5-7 0,0-2 0,4 3 0,-2 0 0,-6-3 0,-1-2 0,3-2 0,-1-1 0,-3-2 0,-2-3 0,-8-18 0,0 0-71,6 11 0,0-1 71,7 21 0,-11-29 0,0-1 0,16 34 0,-7-9 0,4-2 0,-6-9 0,9 19 0,-10-26 0,3 2 0,-2-2 0,1 0-735,6 16 1,2 0 734,-2-11 0,0-1 0,-7 2 0,0 1 0,13 9 0,0-1 0,-8-11 0,0 1 0,5 9 0,-1-3 0,-11-25 0,-2-1 0,2 14 0,-1-2 0,21 22 0,-20-28 0,0 1 0,21 38 0,-19-39 0,1 1 0,11 38-663,6-7 663,-29-32 0,-1 1 0,23 36 0,-20-29 0,1 2 0,5-8 0,1-1 0,-8 2 0,1-1 0,6 1 0,0-2 0,15 38 0,-11-29 0,2 0 0,-7-8 0,-1 1 0,4 4 0,-1 0 0,-4-7 0,-2-1 0,17 34 0,6-3 0,-4 6 0,11-4 0,-3 5 0,3-13 0,-22-30 0,1 1 0,-1-4 0,0 1 0,4 3 0,1 1 0,4 2 0,0-1 0,-4-1 0,1 0 0,7 3 0,1-1 0,-4-5 0,-2-1 0,28 34 0,-30-38 0,-1-2 0,10 20 1131,16 15-1131,-18-16 605,-1-1-605,-8-9 1562,0-9-1562,8 16 798,-6-11-798,0 4 249,12 7-249,-18-18 0,35 30 0,-29-25 0,19 14 0,-13-7 0,7 7 0,-1 0 0,11 11 0,-8-8 0,7 7 0,-7-2 0,-2-5 0,1 5 0,5-14 0,-5 5 0,4-11 0,-5 5 0,5-6 0,-6-7 0,4-2 0,-13-7 0,4 0 0,-17-6 0,4-2 0,-13-5 0,-4-6 0,3 0 0,-9-5 0,4 0 0,-4 0 0,0 0 0,10-5 0,4-12 0,18-10 0,-4-10 0,2-4 0,30-25 0,-30 26 0,0-3 0,3-3 0,-3 1-797,13-26 797,-11 21 0,1-4 0,-11 3 0,-1 0 0,7 0 0,0-1-678,0-10 1,-1-1 677,0 1 0,-1 0 0,2-4 0,-3-1 0,-5 2 0,-2 0 0,3 0 0,0-1 0,-5 0 0,-2 2-524,15-30 524,-17 40 0,0-2 0,-4-2 0,-1 1 0,0 0 0,0-1 0,3-12 0,-1-1 0,-6 12 0,0 1 0,2-1 0,2-2-434,-1-3 1,1-2 433,3 1 0,0 0 0,-3-1 0,0 2 0,2 8 0,1 2 0,-1-4 0,0 1 0,12-40 0,-9 43 0,0 1 0,9-44 0,4 2 0,-13 9 0,-6 33 0,-2 1 0,1-15 114,-3 7 1,0 0-115,1-7 0,-4 10 0,-1-1 0,1-14 0,4-18 0,-10 20 0,4-15 0,-4 28 0,1-1 0,1 2 0,1-1 0,1-3 0,1 0 0,0 3 0,1 0 0,-1 3 0,0 0 61,1-10 0,0-3-61,-1-10 0,2-2 0,3 0 0,0-1 0,1-9 0,1-1 0,3 5 0,0-1 0,-3-6 0,-1 2 0,-1 19 0,0 3 0,-4-8 0,0 3 0,-1 17 0,0 2 0,1-11 0,0 0 0,-1 5 0,1 0 0,0-10 0,-1 1 0,8-33 0,-8 42 0,1 3 510,4-12-510,2-13 0,4 13 0,-3-16 0,5 8 0,-2 2 910,-4 9-910,4 14 498,-7 4-498,0 14 1274,-1 6-1274,6-22 0,7 3 0,2-16 0,11-1 0,-3-3 0,6-10 0,1 0 0,8-9 0,-8 17 0,7-9 0,-9 12 0,0 0 0,-8 24 0,0 0 0,14-23 0,16-12 0,-29 33 0,4 0 0,-12 10 0,4 5 0,-7 3 0,-5 10 0,-2 2 0,-4 5 0,0-1 0,0 5 0,-4-3 0,3-2 0,9-13 0,0 1 0,9-6 0,-6 8 0,-5-1 0,4 5 0,-9 2 0,4 8 0,-5-2 0,-1 7 0,1-3 0,0 4 0,0 0 0,-1 0 0,18 0 0,-3 5 0,22 7 0,11 9 0,10 6 0,25-5-496,-40-7 0,1-1 496,0-5 0,0-1 0,43 14 0,3-6 0,-13-2 0,-1 0 0,-10 0 0,-27-2 0,-8 0 0,-17-1 0,-3-5 992,-10 2-992,1 8 0,0 14 0,1 12 0,7 15 0,2 10 0,12 10 0,3 9-581,-14-34 0,1 2 581,0 0 0,0 2 0,2 8 0,-1 2 0,1 4 0,0 2-811,0-1 0,0 2 811,0 4 0,1 1 0,4 4 0,1 4-827,-5-12 0,1 5 0,0-4 827,5 10 0,1 4-710,-4-11 0,3 11 0,-1 0 1,-2-12 709,4 2 0,1 3 0,-3-7 0,5 15 0,3 6 0,-1-3 0,-4-11 0,1 2 0,-3-8 0,2 6-578,5 7 0,2 8 0,1-1 0,-4-6 578,-1-2 0,-3-6 0,-3-5 0,4 6 0,-2-4 351,3 10 1,-2 0-352,-6-13 0,-3-3 0,-7-12 0,1 0 0,13 32 0,-4-3 0,-9 8 0,0-29 0,1 2 0,-7-12 0,0-1 195,2 6 0,3 4-195,9 30 0,1 2 0,-6-22 0,3 1 198,2-2 1,4 5-1,-2-4-198,4 11 0,0-1 0,-4-17 0,1 2 0,-2 0 0,-4-6 0,-2-1 0,-1 0 0,12 32 0,-2 0 1130,-6-5 1,-3-4-1131,-4-18 0,-1-2 0,-3 6 0,-2-2-161,-4-17 1,0-1 160,0 4 0,1 2 0,3 7 0,1 3 0,6 4 0,-1 0 0,-3-5 0,0-2 0,4-7 0,1-3 0,2 33 0,4-21 0,-4 7 0,3-10 0,-10-3 1564,3-13-1564,-10 6 0,-2-8 0,-5-6 2550,0-3-2550,0-12 1663,0 5-1663,0-11 862,0 4-862,0-10 149,0-2-149,4-4 0,-3-1 0,7-4 0,-7 4 0,6-8 0,-6 7 0,7-7 0,14 9 0,1 1 0,22 8 0,-5 5 0,15 7 0,-7-5 0,0 5 0,-10-8 0,-11-6 0,-2 4 0,-10-10 0,-1 3 0,5-4 0,3 1 0,16 1 0,18 0 0,10 8 0,16 3 0,-9-2 0,7 6 0,-15-12 0,0 10 0,-11-10 0,-20 1 0,4-4 0,-22-6 0,3-1 0,-10-5 0,0 0 0,0 0 0,-1 0 0,6 0 0,0-4 0,12-8 0,1-11 0,14-9 0,-4-5 0,6-8 0,-7 6 0,-6-3 0,-2 7 0,-12 7 0,3 2 0,-8 10 0,2 2 0,-4 9 0,-4 1 0,-1 4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2T20:07:13.01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4727 1 24575,'0'51'0,"-9"33"0,-5 12 0,0-21 0,-3 6-1853,1-13 1,-3 7 0,-1 3-1,1-4 1853,-1 6 0,0-3 0,-3 1 0,-8 13 0,-4 2 0,2 3-728,9-19 1,3 2 0,-1 1 0,-2 0 727,-2 0 0,-2-1 0,0 2 0,0 1-361,0 8 1,-1 3 0,1 0 0,-2-2 360,0-4 0,-2-2 0,1 0 0,-1 3-544,6-11 0,-1 2 1,1 1-1,-1-1 0,-1 0 544,0-4 0,0 0 0,-1-1 0,0 1 0,0 0 0,-2 3 0,-1 2 0,0-1 0,1-2 0,1-3-7,-5 21 0,2-5 0,-3 1 7,3-16 0,-2 0 0,0-1 0,3-3 0,0 3 0,3-2 0,-3 2 0,2-7 0,-3 3 0,0 0 0,1-1 0,-7 20 0,1-2 0,-1 0 0,-2 0 0,0-1 0,1-1 0,6-6 0,1-3 0,-2 0 0,-2-4 0,-3-1 0,3 0 0,4-5 0,2 0 0,-1-1 484,-1-3 0,-1-1 0,0 0-484,-15 26 0,1-2 0,2 1 0,0-3 0,-5-3 0,-1-2 0,8-5 0,1 0 0,-3-1 0,0-1 0,4-5 0,1 0 0,1-5 0,0 0 0,-1-1 0,2-1 0,3-4 0,1-1 1176,-2-5 1,0 1-1177,5 4 0,1-1 0,-2-8 0,0-1 0,0 5 0,0 0 0,0-6 0,-1 1 0,-3 4 0,-1 1 0,1 1 0,-2-1 0,-2 2 0,-2 0 0,-2 6 0,1-3 0,7-18 0,-1-1 0,-8 14 0,1-1 4138,-19 3-4138,25-14 0,-1-2 0,-21 12 3568,10-2-3568,15-20 1527,10-4-1527,11-11 1036,1-1-1036,5-4 426,-3-1-426,-1-4 0,-5 9 0,-12 3 0,1 9 0,-11 8 0,-6-4 0,0 10 0,-8-9 0,12 3 0,-4-6 0,18-6 0,-4-1 0,12-11 0,5 0 0,2-5 0,11 0 0,3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483071-18F5-2F47-99FE-808A82663442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46246B-C494-6649-BF7E-AFDD4A56CB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521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46246B-C494-6649-BF7E-AFDD4A56CB1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4700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F6E72C-9F40-9298-58CE-A522189E8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88609C-6F45-E5D5-2C86-39A6E28556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988565-A739-FB68-6F34-F0FE8FB777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3A9886-9038-169C-B16D-FD855EB78B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46246B-C494-6649-BF7E-AFDD4A56CB1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2934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46246B-C494-6649-BF7E-AFDD4A56CB1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8538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E4AE5-8D62-5AB9-F7A6-9A0C3A5C7F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84CE7A-2A73-7AF5-2A65-55FC190262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84055B-23F8-1D9C-BA76-EC3B6000C6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25B6D6-7351-E421-1EB3-3F66591287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46246B-C494-6649-BF7E-AFDD4A56CB1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748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A4525A-5E29-4BC7-F937-1E6F64478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87E9B8-1FAA-DC10-6F41-6BDC0E6CC0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C83635-B40D-80B3-45D0-7A1BEAD414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0BE793-C3B4-DCE5-3795-7AC1C9A316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46246B-C494-6649-BF7E-AFDD4A56CB1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8475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5B2BC-67DC-0366-D9DA-56D8DF3B0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ADE0D7-90B3-DA7E-A112-62A2066E45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1672E1-9A5A-EEEB-A18D-8A2C62B29B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CADEFC-E4D4-DD3B-E635-508FB6FB0A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46246B-C494-6649-BF7E-AFDD4A56CB1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2190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F5AB04-467A-3A0D-5189-B2C9E5F4B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C03558-10B3-9DD5-7CDB-E7E3F342A1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2EE966-733B-36DB-013F-D24B2D7981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7A7017-EF9B-CEE5-EA79-D039CF91F9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46246B-C494-6649-BF7E-AFDD4A56CB1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0332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46246B-C494-6649-BF7E-AFDD4A56CB17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0285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6FFE7F-6997-1B13-C814-637E31CDC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6EBE92-1765-6261-9379-0C1C5F84EB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60E9D7-7397-9B5C-6E9D-BBA737979A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40603D-DD27-6F48-79F7-752B5F1E1C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46246B-C494-6649-BF7E-AFDD4A56CB1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8499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5A2D95-8AFA-7816-5D87-CB8E140E72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B86304-50CD-98C6-6BEB-6DF0AC7261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08504F-8522-91F2-3D7F-1AED03C70C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7D110D-1A66-1283-BE8D-0EF203CE5C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46246B-C494-6649-BF7E-AFDD4A56CB17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0074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D45E1-8D88-BD58-87D7-589046126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C9DEDA-3F91-EE61-0F5E-5507F87361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8D847A-8E21-2209-EA9D-721AB550CA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88D4EE-E9E7-B24C-5585-BFD9C23BA7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46246B-C494-6649-BF7E-AFDD4A56CB17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398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BB52E6-16B8-ABF9-6193-7346EE5F0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78ECC7-02BF-9E4F-0A28-5EF7086AAD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62A56B-B9AC-9BC4-4DA8-94EBFA6DEB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E19A1F-67F0-9AAD-33BF-EEDED58757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46246B-C494-6649-BF7E-AFDD4A56CB17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1377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69C28-4DF1-0512-2150-DBC17133F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0D4A47-2A01-5579-39BE-AE140B0E4A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51EDC8-CF15-4399-06FD-5B11A629A7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25D121-9A73-9FFC-1767-335D281AAA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46246B-C494-6649-BF7E-AFDD4A56CB17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07755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26505C-5FD3-7FD8-45E4-91CE467C6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BD0B13-4304-8989-DDD9-54B7F3CC15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268FE0-3E46-549B-503F-FC80DA64B4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6F97B2-10BF-E201-A0DE-87CCCB01CC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46246B-C494-6649-BF7E-AFDD4A56CB17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4477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397B4-A448-0844-02DF-38210EDB79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0037E8-8210-0798-8CC7-F96163CB1C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32FA8F-CA37-3F4D-F4D9-0B736BC9A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A791A-827A-2841-BCED-EC8004CAE979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683726-7BF0-6E80-05E5-F19FA29B0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5F7BDE-A1C7-1BF6-3130-CD12FE2E8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44911-8E1B-A34E-903A-E6703C02E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2650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A1639-7190-8909-4A5E-3E99BEBAC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497" y="23018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997027-3068-D75B-453A-4199C3CE6B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1532"/>
            <a:ext cx="10515600" cy="53875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F77540-AF4E-E201-93AA-759EFD4E8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A791A-827A-2841-BCED-EC8004CAE979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30CBD6-7C48-E6F4-210C-4675DB90E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D4CB01-3201-BE9D-EE77-A812B362D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44911-8E1B-A34E-903A-E6703C02E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8575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7A870-E27D-F49F-07AD-9F6C76C89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832501-B77C-6766-ACF8-9CD6800D08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106163-A364-9638-E760-DB0F87057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A791A-827A-2841-BCED-EC8004CAE979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92488F-32D2-4EAD-A235-D80F761E5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0682BD-110D-3E49-E839-5E6C0E4E3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44911-8E1B-A34E-903A-E6703C02E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867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96AA8-7E2D-E97C-6C06-0C4FB9B0B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014FBC-1C36-217C-E7C2-62EE04F61A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30CAEF-7CE0-91D1-0E44-95CFF3BB53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24FB7A-08AB-8738-FF22-AE5DD802B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A791A-827A-2841-BCED-EC8004CAE979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1BB897-F06D-4BBA-9456-AF96455D9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DE115E-5658-6ECE-49F4-FD57795E1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44911-8E1B-A34E-903A-E6703C02E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7926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55567-9A61-FD1B-CB46-D52DD43DAD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816AF9-F761-1C06-A60A-792C9257DF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154FCA-A1BB-173B-4D97-20812E3B88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1C7AAC-DC6F-0B7A-21EC-47C1FD9DFD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DF3070-0871-A686-A7DD-F95185E254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72B939-97EA-3774-957D-BB7E59555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A791A-827A-2841-BCED-EC8004CAE979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37259D-53F7-7274-F0FD-4B0BC0F4F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778958-4A40-5EA3-3821-A1BADBDC4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44911-8E1B-A34E-903A-E6703C02E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1498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E207B-1168-4AB5-559A-C6514401D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668872-AFB6-2865-130C-A2847576E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A791A-827A-2841-BCED-EC8004CAE979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B5DF73-C60B-8F7B-6008-1886B77E9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81CFC9-5C87-A8D5-0287-8CF181CB2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44911-8E1B-A34E-903A-E6703C02E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133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3EE3BC-3E5D-740C-E064-5C5CB1FB0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A791A-827A-2841-BCED-EC8004CAE979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012039-6111-35AF-DB1E-EB1CAD10E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058C9A-3AEB-E26F-C3B6-C77CF6307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44911-8E1B-A34E-903A-E6703C02E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187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3C97E-B115-7144-9D7E-9B469B844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9756AF-D04D-A8F5-B0B8-372BFB01E2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212DB5-C754-63C1-EB74-DB6C6666BF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DA5A8F-1025-BC7C-B25E-D5727BC61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A791A-827A-2841-BCED-EC8004CAE979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911BA0-33C4-0F73-EC52-2DDBB26A9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6DC555-DB89-B5AB-92BC-844DB661E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44911-8E1B-A34E-903A-E6703C02E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2134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11BC6-E31A-06C6-81DA-F36E1BCBD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E7FF27-7372-21A7-F98D-B876FC9E6C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1BA1E8-EAED-3EB8-376D-98E216F89C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BFE130-ACD0-3BD6-1DA4-F507921BD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A791A-827A-2841-BCED-EC8004CAE979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2BAD80-D172-1E3C-D94D-CFFEC91D0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6D4E56-6101-02BA-973C-2AFA88E03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44911-8E1B-A34E-903A-E6703C02E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592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8DC07-0E6F-73C4-6E33-FA61059A8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326DD8-3FEB-DE6B-6F64-B28EF95BBF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76E16E-9D38-5D81-90C6-5CD66D511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A791A-827A-2841-BCED-EC8004CAE979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7A3A0A-1887-A5ED-2F17-35D546191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F63C1B-8C3F-7842-EB8E-5BCE31CE6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44911-8E1B-A34E-903A-E6703C02E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6067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5DF286-B5CD-175A-1CC0-3278BC1998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EA4BCE-DA2A-5323-5AE2-282D9681C3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313819-0D01-7210-1567-8E7B088D8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A791A-827A-2841-BCED-EC8004CAE979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B21588-3FC7-D711-2EF1-A70D3A4AC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43BDBF-E1C3-CDC1-5CD6-1CB20F080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44911-8E1B-A34E-903A-E6703C02E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3953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D5FCE3-9D70-5C40-47DC-BB56B4FABC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DED25F-E933-547B-2A7B-A43365869C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537354-F6E2-C709-0018-5BB269EB13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5A791A-827A-2841-BCED-EC8004CAE979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0323AC-BFC7-3121-C2C7-536A02B8A2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6E124F-6D54-C3E0-A207-39524C623F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E44911-8E1B-A34E-903A-E6703C02E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950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5.png"/><Relationship Id="rId7" Type="http://schemas.openxmlformats.org/officeDocument/2006/relationships/image" Target="../media/image1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5.png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23.png"/><Relationship Id="rId6" Type="http://schemas.openxmlformats.org/officeDocument/2006/relationships/image" Target="../media/image24.png"/><Relationship Id="rId15" Type="http://schemas.openxmlformats.org/officeDocument/2006/relationships/image" Target="../media/image18.png"/><Relationship Id="rId10" Type="http://schemas.openxmlformats.org/officeDocument/2006/relationships/image" Target="../media/image26.png"/><Relationship Id="rId4" Type="http://schemas.openxmlformats.org/officeDocument/2006/relationships/image" Target="../media/image220.png"/><Relationship Id="rId9" Type="http://schemas.openxmlformats.org/officeDocument/2006/relationships/image" Target="../media/image250.png"/><Relationship Id="rId14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20.png"/><Relationship Id="rId3" Type="http://schemas.openxmlformats.org/officeDocument/2006/relationships/image" Target="../media/image270.png"/><Relationship Id="rId7" Type="http://schemas.openxmlformats.org/officeDocument/2006/relationships/image" Target="../media/image280.png"/><Relationship Id="rId12" Type="http://schemas.openxmlformats.org/officeDocument/2006/relationships/image" Target="../media/image25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0.png"/><Relationship Id="rId11" Type="http://schemas.openxmlformats.org/officeDocument/2006/relationships/image" Target="../media/image25.png"/><Relationship Id="rId5" Type="http://schemas.openxmlformats.org/officeDocument/2006/relationships/image" Target="../media/image220.png"/><Relationship Id="rId15" Type="http://schemas.openxmlformats.org/officeDocument/2006/relationships/image" Target="../media/image32.png"/><Relationship Id="rId10" Type="http://schemas.openxmlformats.org/officeDocument/2006/relationships/image" Target="../media/image31.png"/><Relationship Id="rId4" Type="http://schemas.openxmlformats.org/officeDocument/2006/relationships/image" Target="../media/image23.png"/><Relationship Id="rId14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5.png"/><Relationship Id="rId3" Type="http://schemas.openxmlformats.org/officeDocument/2006/relationships/image" Target="../media/image38.png"/><Relationship Id="rId12" Type="http://schemas.openxmlformats.org/officeDocument/2006/relationships/image" Target="../media/image2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11" Type="http://schemas.openxmlformats.org/officeDocument/2006/relationships/image" Target="../media/image44.png"/><Relationship Id="rId5" Type="http://schemas.openxmlformats.org/officeDocument/2006/relationships/image" Target="../media/image40.png"/><Relationship Id="rId10" Type="http://schemas.openxmlformats.org/officeDocument/2006/relationships/image" Target="../media/image42.png"/><Relationship Id="rId4" Type="http://schemas.openxmlformats.org/officeDocument/2006/relationships/image" Target="../media/image39.png"/><Relationship Id="rId9" Type="http://schemas.openxmlformats.org/officeDocument/2006/relationships/image" Target="../media/image43.png"/><Relationship Id="rId14" Type="http://schemas.openxmlformats.org/officeDocument/2006/relationships/image" Target="../media/image4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0.png"/><Relationship Id="rId3" Type="http://schemas.openxmlformats.org/officeDocument/2006/relationships/image" Target="../media/image47.png"/><Relationship Id="rId7" Type="http://schemas.openxmlformats.org/officeDocument/2006/relationships/image" Target="../media/image50.png"/><Relationship Id="rId12" Type="http://schemas.openxmlformats.org/officeDocument/2006/relationships/image" Target="../media/image5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11" Type="http://schemas.openxmlformats.org/officeDocument/2006/relationships/image" Target="../media/image510.png"/><Relationship Id="rId5" Type="http://schemas.openxmlformats.org/officeDocument/2006/relationships/image" Target="../media/image23.png"/><Relationship Id="rId10" Type="http://schemas.openxmlformats.org/officeDocument/2006/relationships/image" Target="../media/image51.png"/><Relationship Id="rId4" Type="http://schemas.openxmlformats.org/officeDocument/2006/relationships/image" Target="../media/image48.png"/><Relationship Id="rId9" Type="http://schemas.openxmlformats.org/officeDocument/2006/relationships/image" Target="../media/image47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0.png"/><Relationship Id="rId13" Type="http://schemas.openxmlformats.org/officeDocument/2006/relationships/image" Target="../media/image59.png"/><Relationship Id="rId3" Type="http://schemas.openxmlformats.org/officeDocument/2006/relationships/image" Target="../media/image53.png"/><Relationship Id="rId12" Type="http://schemas.openxmlformats.org/officeDocument/2006/relationships/image" Target="../media/image5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11" Type="http://schemas.openxmlformats.org/officeDocument/2006/relationships/image" Target="../media/image23.png"/><Relationship Id="rId5" Type="http://schemas.openxmlformats.org/officeDocument/2006/relationships/image" Target="../media/image55.png"/><Relationship Id="rId10" Type="http://schemas.openxmlformats.org/officeDocument/2006/relationships/image" Target="../media/image471.png"/><Relationship Id="rId4" Type="http://schemas.openxmlformats.org/officeDocument/2006/relationships/image" Target="../media/image54.png"/><Relationship Id="rId9" Type="http://schemas.openxmlformats.org/officeDocument/2006/relationships/image" Target="../media/image5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560.png"/><Relationship Id="rId7" Type="http://schemas.openxmlformats.org/officeDocument/2006/relationships/image" Target="../media/image590.png"/><Relationship Id="rId12" Type="http://schemas.openxmlformats.org/officeDocument/2006/relationships/image" Target="../media/image6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0.png"/><Relationship Id="rId11" Type="http://schemas.openxmlformats.org/officeDocument/2006/relationships/image" Target="../media/image62.png"/><Relationship Id="rId5" Type="http://schemas.openxmlformats.org/officeDocument/2006/relationships/image" Target="../media/image60.png"/><Relationship Id="rId10" Type="http://schemas.openxmlformats.org/officeDocument/2006/relationships/image" Target="../media/image23.png"/><Relationship Id="rId4" Type="http://schemas.openxmlformats.org/officeDocument/2006/relationships/image" Target="../media/image591.png"/><Relationship Id="rId9" Type="http://schemas.openxmlformats.org/officeDocument/2006/relationships/image" Target="../media/image47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13" Type="http://schemas.openxmlformats.org/officeDocument/2006/relationships/image" Target="../media/image70.png"/><Relationship Id="rId3" Type="http://schemas.openxmlformats.org/officeDocument/2006/relationships/image" Target="../media/image620.png"/><Relationship Id="rId7" Type="http://schemas.openxmlformats.org/officeDocument/2006/relationships/image" Target="../media/image66.png"/><Relationship Id="rId12" Type="http://schemas.openxmlformats.org/officeDocument/2006/relationships/image" Target="../media/image6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.png"/><Relationship Id="rId11" Type="http://schemas.openxmlformats.org/officeDocument/2006/relationships/customXml" Target="../ink/ink2.xml"/><Relationship Id="rId5" Type="http://schemas.openxmlformats.org/officeDocument/2006/relationships/image" Target="../media/image64.png"/><Relationship Id="rId10" Type="http://schemas.openxmlformats.org/officeDocument/2006/relationships/image" Target="../media/image68.png"/><Relationship Id="rId4" Type="http://schemas.openxmlformats.org/officeDocument/2006/relationships/image" Target="../media/image630.png"/><Relationship Id="rId9" Type="http://schemas.openxmlformats.org/officeDocument/2006/relationships/customXml" Target="../ink/ink1.xml"/><Relationship Id="rId14" Type="http://schemas.openxmlformats.org/officeDocument/2006/relationships/image" Target="../media/image3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3" Type="http://schemas.openxmlformats.org/officeDocument/2006/relationships/image" Target="../media/image72.png"/><Relationship Id="rId7" Type="http://schemas.openxmlformats.org/officeDocument/2006/relationships/image" Target="../media/image76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3" Type="http://schemas.openxmlformats.org/officeDocument/2006/relationships/image" Target="../media/image79.png"/><Relationship Id="rId7" Type="http://schemas.openxmlformats.org/officeDocument/2006/relationships/image" Target="../media/image83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10.png"/><Relationship Id="rId4" Type="http://schemas.openxmlformats.org/officeDocument/2006/relationships/image" Target="../media/image8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7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0.png"/><Relationship Id="rId5" Type="http://schemas.openxmlformats.org/officeDocument/2006/relationships/image" Target="../media/image89.png"/><Relationship Id="rId4" Type="http://schemas.openxmlformats.org/officeDocument/2006/relationships/image" Target="../media/image88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13" Type="http://schemas.openxmlformats.org/officeDocument/2006/relationships/image" Target="../media/image95.png"/><Relationship Id="rId3" Type="http://schemas.openxmlformats.org/officeDocument/2006/relationships/image" Target="../media/image85.png"/><Relationship Id="rId7" Type="http://schemas.openxmlformats.org/officeDocument/2006/relationships/image" Target="../media/image890.png"/><Relationship Id="rId12" Type="http://schemas.openxmlformats.org/officeDocument/2006/relationships/image" Target="../media/image9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80.png"/><Relationship Id="rId11" Type="http://schemas.openxmlformats.org/officeDocument/2006/relationships/image" Target="../media/image93.png"/><Relationship Id="rId5" Type="http://schemas.openxmlformats.org/officeDocument/2006/relationships/image" Target="../media/image850.png"/><Relationship Id="rId10" Type="http://schemas.openxmlformats.org/officeDocument/2006/relationships/image" Target="../media/image92.png"/><Relationship Id="rId4" Type="http://schemas.openxmlformats.org/officeDocument/2006/relationships/image" Target="../media/image840.png"/><Relationship Id="rId9" Type="http://schemas.openxmlformats.org/officeDocument/2006/relationships/image" Target="../media/image910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png"/><Relationship Id="rId3" Type="http://schemas.openxmlformats.org/officeDocument/2006/relationships/image" Target="../media/image93.png"/><Relationship Id="rId7" Type="http://schemas.openxmlformats.org/officeDocument/2006/relationships/image" Target="../media/image9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60.png"/><Relationship Id="rId5" Type="http://schemas.openxmlformats.org/officeDocument/2006/relationships/image" Target="../media/image950.png"/><Relationship Id="rId4" Type="http://schemas.openxmlformats.org/officeDocument/2006/relationships/image" Target="../media/image96.png"/><Relationship Id="rId9" Type="http://schemas.openxmlformats.org/officeDocument/2006/relationships/image" Target="../media/image9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01.png"/><Relationship Id="rId4" Type="http://schemas.openxmlformats.org/officeDocument/2006/relationships/image" Target="../media/image100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png"/><Relationship Id="rId3" Type="http://schemas.openxmlformats.org/officeDocument/2006/relationships/image" Target="../media/image101.png"/><Relationship Id="rId7" Type="http://schemas.openxmlformats.org/officeDocument/2006/relationships/image" Target="../media/image10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4.png"/><Relationship Id="rId5" Type="http://schemas.openxmlformats.org/officeDocument/2006/relationships/image" Target="../media/image103.png"/><Relationship Id="rId10" Type="http://schemas.openxmlformats.org/officeDocument/2006/relationships/image" Target="../media/image108.png"/><Relationship Id="rId4" Type="http://schemas.openxmlformats.org/officeDocument/2006/relationships/image" Target="../media/image102.png"/><Relationship Id="rId9" Type="http://schemas.openxmlformats.org/officeDocument/2006/relationships/image" Target="../media/image107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png"/><Relationship Id="rId3" Type="http://schemas.openxmlformats.org/officeDocument/2006/relationships/image" Target="../media/image82.png"/><Relationship Id="rId7" Type="http://schemas.openxmlformats.org/officeDocument/2006/relationships/image" Target="../media/image1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4.png"/><Relationship Id="rId11" Type="http://schemas.openxmlformats.org/officeDocument/2006/relationships/image" Target="../media/image114.png"/><Relationship Id="rId5" Type="http://schemas.openxmlformats.org/officeDocument/2006/relationships/image" Target="../media/image109.png"/><Relationship Id="rId10" Type="http://schemas.openxmlformats.org/officeDocument/2006/relationships/image" Target="../media/image113.png"/><Relationship Id="rId4" Type="http://schemas.openxmlformats.org/officeDocument/2006/relationships/image" Target="../media/image1080.png"/><Relationship Id="rId9" Type="http://schemas.openxmlformats.org/officeDocument/2006/relationships/image" Target="../media/image112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0.png"/><Relationship Id="rId3" Type="http://schemas.openxmlformats.org/officeDocument/2006/relationships/image" Target="../media/image1120.png"/><Relationship Id="rId7" Type="http://schemas.openxmlformats.org/officeDocument/2006/relationships/image" Target="../media/image8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30.png"/><Relationship Id="rId5" Type="http://schemas.openxmlformats.org/officeDocument/2006/relationships/image" Target="../media/image83.png"/><Relationship Id="rId4" Type="http://schemas.openxmlformats.org/officeDocument/2006/relationships/image" Target="../media/image8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0BED457-04A4-2CB8-A0F0-462C620CFDF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Analyzing Rhythms (Part 2)</a:t>
            </a:r>
          </a:p>
          <a:p>
            <a:r>
              <a:rPr lang="en-US" dirty="0"/>
              <a:t>Instructor: Mark Kramer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F5D652-273B-4F7F-7902-C6C9A629D9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Rhythms</a:t>
            </a:r>
          </a:p>
        </p:txBody>
      </p:sp>
    </p:spTree>
    <p:extLst>
      <p:ext uri="{BB962C8B-B14F-4D97-AF65-F5344CB8AC3E}">
        <p14:creationId xmlns:p14="http://schemas.microsoft.com/office/powerpoint/2010/main" val="39032555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2B064-5C48-406B-AFB7-ABB3FCA02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ECCBB2-5A72-803A-6120-9086EA97E0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Autocovariance</a:t>
            </a:r>
          </a:p>
        </p:txBody>
      </p:sp>
    </p:spTree>
    <p:extLst>
      <p:ext uri="{BB962C8B-B14F-4D97-AF65-F5344CB8AC3E}">
        <p14:creationId xmlns:p14="http://schemas.microsoft.com/office/powerpoint/2010/main" val="23341394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AEE8AD7D-49C2-E143-B8B6-1A7E9FA969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024" y="40966"/>
            <a:ext cx="10515600" cy="1325563"/>
          </a:xfrm>
        </p:spPr>
        <p:txBody>
          <a:bodyPr/>
          <a:lstStyle/>
          <a:p>
            <a:r>
              <a:rPr lang="en-US" dirty="0"/>
              <a:t>Notation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5EE37D3-BEA9-5F36-9D76-73D47B1D5CE8}"/>
              </a:ext>
            </a:extLst>
          </p:cNvPr>
          <p:cNvGrpSpPr/>
          <p:nvPr/>
        </p:nvGrpSpPr>
        <p:grpSpPr>
          <a:xfrm>
            <a:off x="1718267" y="967654"/>
            <a:ext cx="8715195" cy="2032174"/>
            <a:chOff x="1959429" y="979714"/>
            <a:chExt cx="8715195" cy="2032174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2AB8E434-7A0D-53F2-A966-17A8AB0A22E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59429" y="1076531"/>
              <a:ext cx="8715195" cy="1935357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A59E071-C13A-1F8E-C557-164FC6191D02}"/>
                </a:ext>
              </a:extLst>
            </p:cNvPr>
            <p:cNvSpPr/>
            <p:nvPr/>
          </p:nvSpPr>
          <p:spPr>
            <a:xfrm>
              <a:off x="3320143" y="979714"/>
              <a:ext cx="352912" cy="26125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241693BC-671D-B800-8921-36A9BF629A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2455" y="3307748"/>
            <a:ext cx="4279900" cy="6858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BE362E5-A891-2D52-8B36-F76B1DA4DA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7262" y="3206640"/>
            <a:ext cx="1981200" cy="8382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98408BF-C75D-D5D4-C7D3-3431B60549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02577" y="4103409"/>
            <a:ext cx="4013200" cy="7366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4ADB746-1569-E794-89ED-B7D6F54533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3462" y="4133097"/>
            <a:ext cx="2209800" cy="622300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B82E1F38-73A5-D00F-DEE6-D16F1C47FC35}"/>
              </a:ext>
            </a:extLst>
          </p:cNvPr>
          <p:cNvGrpSpPr/>
          <p:nvPr/>
        </p:nvGrpSpPr>
        <p:grpSpPr>
          <a:xfrm>
            <a:off x="2406155" y="4678397"/>
            <a:ext cx="7772400" cy="1196777"/>
            <a:chOff x="2406155" y="5167745"/>
            <a:chExt cx="7772400" cy="1196777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D6CD0C28-7A53-7941-A4E7-C9FAEB61F80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406155" y="5402109"/>
              <a:ext cx="7772400" cy="962413"/>
            </a:xfrm>
            <a:prstGeom prst="rect">
              <a:avLst/>
            </a:prstGeom>
          </p:spPr>
        </p:pic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89CEFA47-8E27-4952-5266-4535C0E243D5}"/>
                </a:ext>
              </a:extLst>
            </p:cNvPr>
            <p:cNvSpPr/>
            <p:nvPr/>
          </p:nvSpPr>
          <p:spPr>
            <a:xfrm>
              <a:off x="9545782" y="5167745"/>
              <a:ext cx="457200" cy="38792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89A07310-9864-83B4-C99F-32B5D1499A7E}"/>
              </a:ext>
            </a:extLst>
          </p:cNvPr>
          <p:cNvGrpSpPr/>
          <p:nvPr/>
        </p:nvGrpSpPr>
        <p:grpSpPr>
          <a:xfrm>
            <a:off x="2661062" y="5908781"/>
            <a:ext cx="7772400" cy="786008"/>
            <a:chOff x="2661062" y="6470425"/>
            <a:chExt cx="7772400" cy="786008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C88BBF9C-A6BF-375C-4670-133386373FF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661062" y="6546625"/>
              <a:ext cx="7772400" cy="709808"/>
            </a:xfrm>
            <a:prstGeom prst="rect">
              <a:avLst/>
            </a:prstGeom>
          </p:spPr>
        </p:pic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19A5B456-D6D0-A6A1-F879-577FFC47024F}"/>
                </a:ext>
              </a:extLst>
            </p:cNvPr>
            <p:cNvSpPr/>
            <p:nvPr/>
          </p:nvSpPr>
          <p:spPr>
            <a:xfrm>
              <a:off x="4918364" y="6470425"/>
              <a:ext cx="263236" cy="19361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28932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8EC9D-ED6B-F5DF-515B-CFBD832AF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Mean &amp; variance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A04FC-5C62-CE4E-324A-C1BC86356B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0" y="2681130"/>
            <a:ext cx="1948543" cy="538752"/>
          </a:xfrm>
        </p:spPr>
        <p:txBody>
          <a:bodyPr/>
          <a:lstStyle/>
          <a:p>
            <a:r>
              <a:rPr lang="en-US" dirty="0"/>
              <a:t>Define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A393F69-60C2-1482-C9B5-F6E2697DD366}"/>
              </a:ext>
            </a:extLst>
          </p:cNvPr>
          <p:cNvSpPr txBox="1">
            <a:spLocks/>
          </p:cNvSpPr>
          <p:nvPr/>
        </p:nvSpPr>
        <p:spPr>
          <a:xfrm>
            <a:off x="990600" y="1523932"/>
            <a:ext cx="10515600" cy="5387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Define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EBA7115-2082-E1D8-820F-A23AD9CAC146}"/>
              </a:ext>
            </a:extLst>
          </p:cNvPr>
          <p:cNvGrpSpPr/>
          <p:nvPr/>
        </p:nvGrpSpPr>
        <p:grpSpPr>
          <a:xfrm>
            <a:off x="1754050" y="3866686"/>
            <a:ext cx="4794432" cy="2841296"/>
            <a:chOff x="1754050" y="3866686"/>
            <a:chExt cx="4794432" cy="2841296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5BD1F2B-1CC9-2A9F-F6A8-C7A692BE5915}"/>
                </a:ext>
              </a:extLst>
            </p:cNvPr>
            <p:cNvSpPr txBox="1"/>
            <p:nvPr/>
          </p:nvSpPr>
          <p:spPr>
            <a:xfrm>
              <a:off x="6248400" y="5708468"/>
              <a:ext cx="30008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t</a:t>
              </a:r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5A9BFD2-A66F-B29E-2715-A2CD5A98964C}"/>
                </a:ext>
              </a:extLst>
            </p:cNvPr>
            <p:cNvGrpSpPr/>
            <p:nvPr/>
          </p:nvGrpSpPr>
          <p:grpSpPr>
            <a:xfrm>
              <a:off x="1754050" y="3866686"/>
              <a:ext cx="4366623" cy="2841296"/>
              <a:chOff x="1754050" y="3866686"/>
              <a:chExt cx="4366623" cy="2841296"/>
            </a:xfrm>
          </p:grpSpPr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8BFD04A4-5712-9019-64F9-7221008F006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754050" y="3866686"/>
                <a:ext cx="4366623" cy="2841296"/>
              </a:xfrm>
              <a:prstGeom prst="rect">
                <a:avLst/>
              </a:prstGeom>
            </p:spPr>
          </p:pic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291BB0D1-0899-C3CA-0A6B-076338F5EEF2}"/>
                  </a:ext>
                </a:extLst>
              </p:cNvPr>
              <p:cNvSpPr/>
              <p:nvPr/>
            </p:nvSpPr>
            <p:spPr>
              <a:xfrm>
                <a:off x="3030583" y="4082212"/>
                <a:ext cx="391886" cy="29384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61ECC21-D335-9464-74AE-D69D4DC1E4C9}"/>
                </a:ext>
              </a:extLst>
            </p:cNvPr>
            <p:cNvSpPr txBox="1"/>
            <p:nvPr/>
          </p:nvSpPr>
          <p:spPr>
            <a:xfrm>
              <a:off x="3226526" y="3903164"/>
              <a:ext cx="34336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x</a:t>
              </a:r>
            </a:p>
          </p:txBody>
        </p: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1B546B8D-CB35-7ABF-2A41-1D2005BA32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4984568"/>
            <a:ext cx="1790700" cy="7239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C9E5D18-95BA-B2DE-95B8-93AC935F0C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2500" y="4110570"/>
            <a:ext cx="2222500" cy="6858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B929265-48F5-A9E4-0285-293AE957FE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8441" y="1994386"/>
            <a:ext cx="2501900" cy="18542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1814B5B-7693-7B4C-4E4B-30CDE60AF3C0}"/>
                  </a:ext>
                </a:extLst>
              </p:cNvPr>
              <p:cNvSpPr txBox="1"/>
              <p:nvPr/>
            </p:nvSpPr>
            <p:spPr>
              <a:xfrm>
                <a:off x="3122112" y="1471166"/>
                <a:ext cx="289297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800" dirty="0"/>
                  <a:t> data at index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1814B5B-7693-7B4C-4E4B-30CDE60AF3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2112" y="1471166"/>
                <a:ext cx="2892971" cy="523220"/>
              </a:xfrm>
              <a:prstGeom prst="rect">
                <a:avLst/>
              </a:prstGeom>
              <a:blipFill>
                <a:blip r:embed="rId6"/>
                <a:stretch>
                  <a:fillRect t="-11905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FAC7ECA-B5C5-B464-9A44-00032B1BCA3C}"/>
                  </a:ext>
                </a:extLst>
              </p:cNvPr>
              <p:cNvSpPr txBox="1"/>
              <p:nvPr/>
            </p:nvSpPr>
            <p:spPr>
              <a:xfrm>
                <a:off x="3222620" y="2637128"/>
                <a:ext cx="226953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sz="2800" dirty="0"/>
                  <a:t> = mean of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FAC7ECA-B5C5-B464-9A44-00032B1BCA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2620" y="2637128"/>
                <a:ext cx="2269532" cy="523220"/>
              </a:xfrm>
              <a:prstGeom prst="rect">
                <a:avLst/>
              </a:prstGeom>
              <a:blipFill>
                <a:blip r:embed="rId7"/>
                <a:stretch>
                  <a:fillRect t="-11905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98869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B02DD-6666-756E-452C-9DC338F4F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85BB09C-6332-7F92-D22D-DBC4CA2B1175}"/>
              </a:ext>
            </a:extLst>
          </p:cNvPr>
          <p:cNvGrpSpPr/>
          <p:nvPr/>
        </p:nvGrpSpPr>
        <p:grpSpPr>
          <a:xfrm>
            <a:off x="644103" y="3668597"/>
            <a:ext cx="10903793" cy="1906587"/>
            <a:chOff x="644103" y="3668597"/>
            <a:chExt cx="10903793" cy="1906587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E11AD4E6-D1B4-7520-F074-24DACD1C55D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4103" y="3668597"/>
              <a:ext cx="10903793" cy="1906587"/>
            </a:xfrm>
            <a:prstGeom prst="rect">
              <a:avLst/>
            </a:prstGeom>
          </p:spPr>
        </p:pic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2A670C84-8CD0-E746-D28A-84FAB094D821}"/>
                </a:ext>
              </a:extLst>
            </p:cNvPr>
            <p:cNvCxnSpPr/>
            <p:nvPr/>
          </p:nvCxnSpPr>
          <p:spPr>
            <a:xfrm>
              <a:off x="2459422" y="4960880"/>
              <a:ext cx="2680138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0479C7E-F8AA-F797-2118-1376CE702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Mean &amp; variance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4C62C6-90F0-33E4-4977-F13D9FF98F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0" y="2681130"/>
            <a:ext cx="10515600" cy="538752"/>
          </a:xfrm>
        </p:spPr>
        <p:txBody>
          <a:bodyPr/>
          <a:lstStyle/>
          <a:p>
            <a:r>
              <a:rPr lang="en-US" dirty="0"/>
              <a:t>Define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C1458AC-B38D-BA4E-12CE-272CC495CD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1845" y="5462080"/>
            <a:ext cx="723900" cy="5461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BFF40FF-7B2A-20DE-F145-8C41A653EB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5745" y="5468227"/>
            <a:ext cx="1384300" cy="4572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FD998FD-9185-6926-C1CE-D9FC229574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5070" y="5652377"/>
            <a:ext cx="723900" cy="5461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334AFD6-CB5A-FE6C-EF1C-E070FF9B54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8970" y="5649824"/>
            <a:ext cx="876300" cy="635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31FB71A-9B37-A362-3A62-BBACE1F06AB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9720" y="2043210"/>
            <a:ext cx="4114800" cy="1739900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FC862A9-C688-0F50-D084-5150060FC4D1}"/>
              </a:ext>
            </a:extLst>
          </p:cNvPr>
          <p:cNvSpPr txBox="1">
            <a:spLocks/>
          </p:cNvSpPr>
          <p:nvPr/>
        </p:nvSpPr>
        <p:spPr>
          <a:xfrm>
            <a:off x="990600" y="1523932"/>
            <a:ext cx="10515600" cy="5387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Define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E0BFD9A-62A9-122B-2FAE-2E8180E80780}"/>
                  </a:ext>
                </a:extLst>
              </p:cNvPr>
              <p:cNvSpPr txBox="1"/>
              <p:nvPr/>
            </p:nvSpPr>
            <p:spPr>
              <a:xfrm>
                <a:off x="3122112" y="1471166"/>
                <a:ext cx="289297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800" dirty="0"/>
                  <a:t> data at index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E0BFD9A-62A9-122B-2FAE-2E8180E807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2112" y="1471166"/>
                <a:ext cx="2892971" cy="523220"/>
              </a:xfrm>
              <a:prstGeom prst="rect">
                <a:avLst/>
              </a:prstGeom>
              <a:blipFill>
                <a:blip r:embed="rId7"/>
                <a:stretch>
                  <a:fillRect t="-11905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51858F1-2FCC-FFAE-86C0-08A53948174B}"/>
                  </a:ext>
                </a:extLst>
              </p:cNvPr>
              <p:cNvSpPr txBox="1"/>
              <p:nvPr/>
            </p:nvSpPr>
            <p:spPr>
              <a:xfrm>
                <a:off x="3122112" y="2651550"/>
                <a:ext cx="290368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800" dirty="0"/>
                  <a:t> = variance of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51858F1-2FCC-FFAE-86C0-08A5394817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2112" y="2651550"/>
                <a:ext cx="2903680" cy="523220"/>
              </a:xfrm>
              <a:prstGeom prst="rect">
                <a:avLst/>
              </a:prstGeom>
              <a:blipFill>
                <a:blip r:embed="rId8"/>
                <a:stretch>
                  <a:fillRect t="-11628" b="-302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55094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20EFE6EC-7423-F8A6-E239-21507BC584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5005" y="1178247"/>
            <a:ext cx="7801990" cy="189737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52A3EE-64D2-B3AD-3570-B773DE860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Autocovariance (equation)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7564CC-8041-D012-E476-9EBC0135F3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6497" y="1348581"/>
            <a:ext cx="10515600" cy="538752"/>
          </a:xfrm>
        </p:spPr>
        <p:txBody>
          <a:bodyPr/>
          <a:lstStyle/>
          <a:p>
            <a:r>
              <a:rPr lang="en-US" dirty="0"/>
              <a:t>Define: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962F888-C27A-D405-6259-D7D7FD55DFC5}"/>
              </a:ext>
            </a:extLst>
          </p:cNvPr>
          <p:cNvGrpSpPr/>
          <p:nvPr/>
        </p:nvGrpSpPr>
        <p:grpSpPr>
          <a:xfrm>
            <a:off x="5006093" y="3075618"/>
            <a:ext cx="1602683" cy="2251575"/>
            <a:chOff x="8280403" y="3099033"/>
            <a:chExt cx="1602683" cy="2251575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D72696C-C728-217D-754D-AF809A24CCD8}"/>
                </a:ext>
              </a:extLst>
            </p:cNvPr>
            <p:cNvSpPr txBox="1"/>
            <p:nvPr/>
          </p:nvSpPr>
          <p:spPr>
            <a:xfrm>
              <a:off x="8280403" y="4396501"/>
              <a:ext cx="1602683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sum over</a:t>
              </a:r>
            </a:p>
            <a:p>
              <a:r>
                <a:rPr lang="en-US" sz="2800" dirty="0"/>
                <a:t>data </a:t>
              </a:r>
              <a:r>
                <a:rPr lang="en-US" sz="2800" i="1" dirty="0"/>
                <a:t>x</a:t>
              </a: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FA411A5E-4FD8-4E29-3EBD-99A875917E52}"/>
                </a:ext>
              </a:extLst>
            </p:cNvPr>
            <p:cNvCxnSpPr/>
            <p:nvPr/>
          </p:nvCxnSpPr>
          <p:spPr>
            <a:xfrm flipV="1">
              <a:off x="8552252" y="3099033"/>
              <a:ext cx="0" cy="1297468"/>
            </a:xfrm>
            <a:prstGeom prst="straightConnector1">
              <a:avLst/>
            </a:prstGeom>
            <a:ln w="508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4695553-C25E-A6D7-856D-8C5B6DEC0CB8}"/>
              </a:ext>
            </a:extLst>
          </p:cNvPr>
          <p:cNvGrpSpPr/>
          <p:nvPr/>
        </p:nvGrpSpPr>
        <p:grpSpPr>
          <a:xfrm>
            <a:off x="6766688" y="2879080"/>
            <a:ext cx="2299989" cy="3128456"/>
            <a:chOff x="8280403" y="3083927"/>
            <a:chExt cx="2299989" cy="312845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AC80F0F1-4FC9-0926-449E-0B3ECEB0BAF1}"/>
                    </a:ext>
                  </a:extLst>
                </p:cNvPr>
                <p:cNvSpPr txBox="1"/>
                <p:nvPr/>
              </p:nvSpPr>
              <p:spPr>
                <a:xfrm>
                  <a:off x="8280403" y="4396501"/>
                  <a:ext cx="2299989" cy="181588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800" dirty="0"/>
                    <a:t>the data</a:t>
                  </a:r>
                </a:p>
                <a:p>
                  <a:r>
                    <a:rPr lang="en-US" sz="2800" dirty="0"/>
                    <a:t>with mean</a:t>
                  </a:r>
                </a:p>
                <a:p>
                  <a:r>
                    <a:rPr lang="en-US" sz="2800" dirty="0"/>
                    <a:t>subtracted</a:t>
                  </a:r>
                </a:p>
                <a:p>
                  <a:r>
                    <a:rPr lang="en-US" sz="2800" dirty="0"/>
                    <a:t>at index </a:t>
                  </a:r>
                  <a14:m>
                    <m:oMath xmlns:m="http://schemas.openxmlformats.org/officeDocument/2006/math">
                      <m:r>
                        <a:rPr lang="en-US" sz="2800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800" i="1" dirty="0" err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i="1" dirty="0" err="1">
                          <a:latin typeface="Cambria Math" panose="02040503050406030204" pitchFamily="18" charset="0"/>
                        </a:rPr>
                        <m:t>𝐿</m:t>
                      </m:r>
                    </m:oMath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AC80F0F1-4FC9-0926-449E-0B3ECEB0BA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80403" y="4396501"/>
                  <a:ext cx="2299989" cy="1815882"/>
                </a:xfrm>
                <a:prstGeom prst="rect">
                  <a:avLst/>
                </a:prstGeom>
                <a:blipFill>
                  <a:blip r:embed="rId3"/>
                  <a:stretch>
                    <a:fillRect l="-5495" t="-4196" r="-549" b="-90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452E8A71-8ABB-A2C8-9D6C-AC9C332FA364}"/>
                </a:ext>
              </a:extLst>
            </p:cNvPr>
            <p:cNvCxnSpPr/>
            <p:nvPr/>
          </p:nvCxnSpPr>
          <p:spPr>
            <a:xfrm flipV="1">
              <a:off x="8421623" y="3083927"/>
              <a:ext cx="0" cy="1297468"/>
            </a:xfrm>
            <a:prstGeom prst="straightConnector1">
              <a:avLst/>
            </a:prstGeom>
            <a:ln w="508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B6F5ED6-033F-210F-908C-646D545D8A46}"/>
              </a:ext>
            </a:extLst>
          </p:cNvPr>
          <p:cNvGrpSpPr/>
          <p:nvPr/>
        </p:nvGrpSpPr>
        <p:grpSpPr>
          <a:xfrm>
            <a:off x="9066677" y="2880378"/>
            <a:ext cx="2137124" cy="2700937"/>
            <a:chOff x="8450220" y="3099033"/>
            <a:chExt cx="2137124" cy="270093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BA1BF9CA-1C15-D8E9-2832-1767791BC6B6}"/>
                    </a:ext>
                  </a:extLst>
                </p:cNvPr>
                <p:cNvSpPr txBox="1"/>
                <p:nvPr/>
              </p:nvSpPr>
              <p:spPr>
                <a:xfrm>
                  <a:off x="8450220" y="4414975"/>
                  <a:ext cx="2137124" cy="138499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800" dirty="0"/>
                    <a:t>... multiplied</a:t>
                  </a:r>
                </a:p>
                <a:p>
                  <a:r>
                    <a:rPr lang="en-US" sz="2800" dirty="0"/>
                    <a:t>by itself</a:t>
                  </a:r>
                </a:p>
                <a:p>
                  <a:r>
                    <a:rPr lang="en-US" sz="2800" dirty="0"/>
                    <a:t>at index </a:t>
                  </a:r>
                  <a14:m>
                    <m:oMath xmlns:m="http://schemas.openxmlformats.org/officeDocument/2006/math">
                      <m:r>
                        <a:rPr lang="en-US" sz="2800" i="1" dirty="0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BA1BF9CA-1C15-D8E9-2832-1767791BC6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50220" y="4414975"/>
                  <a:ext cx="2137124" cy="1384995"/>
                </a:xfrm>
                <a:prstGeom prst="rect">
                  <a:avLst/>
                </a:prstGeom>
                <a:blipFill>
                  <a:blip r:embed="rId4"/>
                  <a:stretch>
                    <a:fillRect l="-5882" t="-4545" r="-4706" b="-1181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DDEF12F2-82B9-5F8B-8431-5B958BAE3150}"/>
                </a:ext>
              </a:extLst>
            </p:cNvPr>
            <p:cNvCxnSpPr/>
            <p:nvPr/>
          </p:nvCxnSpPr>
          <p:spPr>
            <a:xfrm flipV="1">
              <a:off x="8552252" y="3099033"/>
              <a:ext cx="0" cy="1297468"/>
            </a:xfrm>
            <a:prstGeom prst="straightConnector1">
              <a:avLst/>
            </a:prstGeom>
            <a:ln w="508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FFE33DB2-A7F3-F615-50B0-34A3B39F421A}"/>
              </a:ext>
            </a:extLst>
          </p:cNvPr>
          <p:cNvGrpSpPr/>
          <p:nvPr/>
        </p:nvGrpSpPr>
        <p:grpSpPr>
          <a:xfrm>
            <a:off x="302028" y="2602167"/>
            <a:ext cx="3230328" cy="1978129"/>
            <a:chOff x="302028" y="2602167"/>
            <a:chExt cx="3230328" cy="1978129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2C437DA6-A928-A82A-2926-07B6F85992E1}"/>
                </a:ext>
              </a:extLst>
            </p:cNvPr>
            <p:cNvSpPr txBox="1"/>
            <p:nvPr/>
          </p:nvSpPr>
          <p:spPr>
            <a:xfrm>
              <a:off x="302028" y="3626189"/>
              <a:ext cx="3230328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/>
                <a:t>The autocovariance of </a:t>
              </a:r>
              <a:r>
                <a:rPr lang="en-US" sz="2800" i="1" dirty="0"/>
                <a:t>x</a:t>
              </a:r>
              <a:r>
                <a:rPr lang="en-US" sz="2800" dirty="0"/>
                <a:t> at lag L</a:t>
              </a: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307EC252-A0AA-6FB5-0DC7-41CB622ED1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06148" y="2602167"/>
              <a:ext cx="0" cy="925647"/>
            </a:xfrm>
            <a:prstGeom prst="straightConnector1">
              <a:avLst/>
            </a:prstGeom>
            <a:ln w="508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83024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D48D4E77-9739-65BC-4EBB-B8A7949B23CF}"/>
              </a:ext>
            </a:extLst>
          </p:cNvPr>
          <p:cNvGrpSpPr/>
          <p:nvPr/>
        </p:nvGrpSpPr>
        <p:grpSpPr>
          <a:xfrm>
            <a:off x="6390531" y="1866937"/>
            <a:ext cx="5390537" cy="558800"/>
            <a:chOff x="6390531" y="1892161"/>
            <a:chExt cx="5390537" cy="5588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EBE48F3B-1A2F-FF5E-E053-860BB315E525}"/>
                    </a:ext>
                  </a:extLst>
                </p:cNvPr>
                <p:cNvSpPr txBox="1"/>
                <p:nvPr/>
              </p:nvSpPr>
              <p:spPr>
                <a:xfrm>
                  <a:off x="6390531" y="1896511"/>
                  <a:ext cx="634917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EBE48F3B-1A2F-FF5E-E053-860BB315E5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0531" y="1896511"/>
                  <a:ext cx="634917" cy="52322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EECDC3FC-D539-6EF7-3A38-DD30343BF3F0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6942368" y="1892161"/>
              <a:ext cx="4838700" cy="558800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30FBF33-A53C-B262-EF57-89AEDF8D2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Autocovariance (intuition)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430E4B-12B7-6AC4-768E-629CF944E7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6497" y="1338625"/>
            <a:ext cx="10515600" cy="538752"/>
          </a:xfrm>
        </p:spPr>
        <p:txBody>
          <a:bodyPr/>
          <a:lstStyle/>
          <a:p>
            <a:r>
              <a:rPr lang="en-US" dirty="0"/>
              <a:t>Fix </a:t>
            </a:r>
            <a:r>
              <a:rPr lang="en-US" b="1" u="sng" dirty="0"/>
              <a:t>L=0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0824FDE-B18F-6A90-B401-1A9676C6D235}"/>
                  </a:ext>
                </a:extLst>
              </p:cNvPr>
              <p:cNvSpPr txBox="1"/>
              <p:nvPr/>
            </p:nvSpPr>
            <p:spPr>
              <a:xfrm>
                <a:off x="861935" y="2829299"/>
                <a:ext cx="469660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assume mean = 0 (i.e.,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800" dirty="0"/>
                  <a:t>)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0824FDE-B18F-6A90-B401-1A9676C6D2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935" y="2829299"/>
                <a:ext cx="4696607" cy="523220"/>
              </a:xfrm>
              <a:prstGeom prst="rect">
                <a:avLst/>
              </a:prstGeom>
              <a:blipFill>
                <a:blip r:embed="rId4"/>
                <a:stretch>
                  <a:fillRect l="-2695" t="-11905" r="-1887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4EF67C1-37E0-90FF-0DBE-92ED1ECBDD4D}"/>
              </a:ext>
            </a:extLst>
          </p:cNvPr>
          <p:cNvCxnSpPr/>
          <p:nvPr/>
        </p:nvCxnSpPr>
        <p:spPr>
          <a:xfrm>
            <a:off x="7167793" y="2426670"/>
            <a:ext cx="0" cy="365879"/>
          </a:xfrm>
          <a:prstGeom prst="straightConnector1">
            <a:avLst/>
          </a:prstGeom>
          <a:ln w="25400"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A21CE086-36ED-868F-4B07-2B943896EB06}"/>
              </a:ext>
            </a:extLst>
          </p:cNvPr>
          <p:cNvSpPr txBox="1"/>
          <p:nvPr/>
        </p:nvSpPr>
        <p:spPr>
          <a:xfrm>
            <a:off x="5516676" y="2327929"/>
            <a:ext cx="14414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multiply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DB6F2F5-8532-33BE-8EA7-5DB2F1F96E24}"/>
                  </a:ext>
                </a:extLst>
              </p:cNvPr>
              <p:cNvSpPr txBox="1"/>
              <p:nvPr/>
            </p:nvSpPr>
            <p:spPr>
              <a:xfrm>
                <a:off x="276497" y="3993829"/>
                <a:ext cx="8859798" cy="9541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800" dirty="0"/>
                  <a:t>at each index, multiply the two signals </a:t>
                </a:r>
                <a:r>
                  <a:rPr lang="en-US" sz="2800" dirty="0">
                    <a:sym typeface="Wingdings" pitchFamily="2" charset="2"/>
                  </a:rPr>
                  <a:t> get a number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800" dirty="0">
                    <a:sym typeface="Wingdings" pitchFamily="2" charset="2"/>
                  </a:rPr>
                  <a:t>sum these numbers to get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𝑟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𝑥𝑥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[0]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DB6F2F5-8532-33BE-8EA7-5DB2F1F96E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497" y="3993829"/>
                <a:ext cx="8859798" cy="954107"/>
              </a:xfrm>
              <a:prstGeom prst="rect">
                <a:avLst/>
              </a:prstGeom>
              <a:blipFill>
                <a:blip r:embed="rId6"/>
                <a:stretch>
                  <a:fillRect l="-1144" t="-7895" r="-429" b="-18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FC2C9B3-0847-D242-A68D-5A6D24BBCDE1}"/>
              </a:ext>
            </a:extLst>
          </p:cNvPr>
          <p:cNvCxnSpPr/>
          <p:nvPr/>
        </p:nvCxnSpPr>
        <p:spPr>
          <a:xfrm>
            <a:off x="7376464" y="2426670"/>
            <a:ext cx="0" cy="365879"/>
          </a:xfrm>
          <a:prstGeom prst="straightConnector1">
            <a:avLst/>
          </a:prstGeom>
          <a:ln w="25400"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0EBEA31-433A-8F6C-8C34-F3D6EC428EF0}"/>
              </a:ext>
            </a:extLst>
          </p:cNvPr>
          <p:cNvCxnSpPr/>
          <p:nvPr/>
        </p:nvCxnSpPr>
        <p:spPr>
          <a:xfrm>
            <a:off x="7601547" y="2431411"/>
            <a:ext cx="0" cy="365879"/>
          </a:xfrm>
          <a:prstGeom prst="straightConnector1">
            <a:avLst/>
          </a:prstGeom>
          <a:ln w="25400"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64EBDE6C-E4E7-549A-7860-B515157C3941}"/>
              </a:ext>
            </a:extLst>
          </p:cNvPr>
          <p:cNvSpPr txBox="1"/>
          <p:nvPr/>
        </p:nvSpPr>
        <p:spPr>
          <a:xfrm>
            <a:off x="7707101" y="2301709"/>
            <a:ext cx="4924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...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1986AB3-D53A-23E2-2CC2-55FA9787D38B}"/>
              </a:ext>
            </a:extLst>
          </p:cNvPr>
          <p:cNvSpPr txBox="1"/>
          <p:nvPr/>
        </p:nvSpPr>
        <p:spPr>
          <a:xfrm>
            <a:off x="276497" y="5567396"/>
            <a:ext cx="56487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Q. </a:t>
            </a:r>
            <a:r>
              <a:rPr lang="en-US" sz="2800" dirty="0"/>
              <a:t>Will this number be big or small?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EB24D1A-BC21-3F97-9633-22ECF68DC5C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58096" y="215145"/>
            <a:ext cx="4609794" cy="1121059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0938D4B8-232C-F97D-9FE3-AFE63BFBD95B}"/>
              </a:ext>
            </a:extLst>
          </p:cNvPr>
          <p:cNvGrpSpPr/>
          <p:nvPr/>
        </p:nvGrpSpPr>
        <p:grpSpPr>
          <a:xfrm>
            <a:off x="875177" y="1769129"/>
            <a:ext cx="4172796" cy="1117600"/>
            <a:chOff x="875177" y="1769129"/>
            <a:chExt cx="4172796" cy="111760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802DB6F5-74AA-0CAB-CEEF-AE1AC3111D0F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593573" y="1769129"/>
              <a:ext cx="3454400" cy="111760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28D9318D-F7C6-985D-B408-BC27202E7B09}"/>
                    </a:ext>
                  </a:extLst>
                </p:cNvPr>
                <p:cNvSpPr txBox="1"/>
                <p:nvPr/>
              </p:nvSpPr>
              <p:spPr>
                <a:xfrm>
                  <a:off x="875177" y="2070982"/>
                  <a:ext cx="460062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28D9318D-F7C6-985D-B408-BC27202E7B0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5177" y="2070982"/>
                  <a:ext cx="460062" cy="52322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0047496-F6F1-8C80-AC79-DB2B3FF6BDFE}"/>
              </a:ext>
            </a:extLst>
          </p:cNvPr>
          <p:cNvGrpSpPr/>
          <p:nvPr/>
        </p:nvGrpSpPr>
        <p:grpSpPr>
          <a:xfrm>
            <a:off x="6017252" y="2799431"/>
            <a:ext cx="5755160" cy="592993"/>
            <a:chOff x="6017252" y="2799431"/>
            <a:chExt cx="5755160" cy="59299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DE26CB74-F5AE-E92E-AE39-B3B866A01D1B}"/>
                    </a:ext>
                  </a:extLst>
                </p:cNvPr>
                <p:cNvSpPr txBox="1"/>
                <p:nvPr/>
              </p:nvSpPr>
              <p:spPr>
                <a:xfrm>
                  <a:off x="6017252" y="2799431"/>
                  <a:ext cx="977960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+0</m:t>
                            </m:r>
                          </m:sub>
                        </m:sSub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DE26CB74-F5AE-E92E-AE39-B3B866A01D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17252" y="2799431"/>
                  <a:ext cx="977960" cy="523220"/>
                </a:xfrm>
                <a:prstGeom prst="rect">
                  <a:avLst/>
                </a:prstGeom>
                <a:blipFill>
                  <a:blip r:embed="rId14"/>
                  <a:stretch>
                    <a:fillRect b="-238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9AFF572-2300-7121-46D3-4F8A0FE8DF3D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6933712" y="2833624"/>
              <a:ext cx="4838700" cy="558800"/>
            </a:xfrm>
            <a:prstGeom prst="rect">
              <a:avLst/>
            </a:prstGeom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4CEC51BB-F693-1FCC-D9E3-EEBA28B6886E}"/>
              </a:ext>
            </a:extLst>
          </p:cNvPr>
          <p:cNvSpPr txBox="1"/>
          <p:nvPr/>
        </p:nvSpPr>
        <p:spPr>
          <a:xfrm>
            <a:off x="8141039" y="4763270"/>
            <a:ext cx="2823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/>
              <a:t>Note</a:t>
            </a:r>
            <a:r>
              <a:rPr lang="en-US" dirty="0"/>
              <a:t>: compare to variance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6F7374B-0031-2B36-3E43-67108E0F33D5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417237" y="5130345"/>
            <a:ext cx="2271006" cy="960271"/>
          </a:xfrm>
          <a:prstGeom prst="rect">
            <a:avLst/>
          </a:prstGeom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27FD5DBE-3C57-0F02-DE93-BE9320B7E50E}"/>
              </a:ext>
            </a:extLst>
          </p:cNvPr>
          <p:cNvGrpSpPr/>
          <p:nvPr/>
        </p:nvGrpSpPr>
        <p:grpSpPr>
          <a:xfrm>
            <a:off x="8360185" y="6177715"/>
            <a:ext cx="1691235" cy="413079"/>
            <a:chOff x="8360185" y="6177715"/>
            <a:chExt cx="1691235" cy="41307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82D2A059-1303-E05D-D848-40947DD84AD6}"/>
                    </a:ext>
                  </a:extLst>
                </p:cNvPr>
                <p:cNvSpPr txBox="1"/>
                <p:nvPr/>
              </p:nvSpPr>
              <p:spPr>
                <a:xfrm>
                  <a:off x="8360185" y="6177715"/>
                  <a:ext cx="155222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0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𝑥𝑥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sz="20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0</m:t>
                            </m:r>
                          </m:e>
                        </m:d>
                        <m:r>
                          <a:rPr lang="en-US" sz="20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Wingdings" pitchFamily="2" charset="2"/>
                          </a:rPr>
                          <m:t>= </m:t>
                        </m:r>
                        <m:sSup>
                          <m:sSupPr>
                            <m:ctrlPr>
                              <a:rPr lang="en-US" sz="20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itchFamily="2" charset="2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itchFamily="2" charset="2"/>
                              </a:rPr>
                              <m:t>𝜎</m:t>
                            </m:r>
                          </m:e>
                          <m:sup>
                            <m:r>
                              <a:rPr lang="en-US" sz="20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itchFamily="2" charset="2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82D2A059-1303-E05D-D848-40947DD84A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60185" y="6177715"/>
                  <a:ext cx="1552220" cy="400110"/>
                </a:xfrm>
                <a:prstGeom prst="rect">
                  <a:avLst/>
                </a:prstGeom>
                <a:blipFill>
                  <a:blip r:embed="rId16"/>
                  <a:stretch>
                    <a:fillRect b="-1875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7400C4DC-1F15-BB35-169F-FCA4A5EFC6E9}"/>
                </a:ext>
              </a:extLst>
            </p:cNvPr>
            <p:cNvSpPr/>
            <p:nvPr/>
          </p:nvSpPr>
          <p:spPr>
            <a:xfrm>
              <a:off x="8429062" y="6190684"/>
              <a:ext cx="1622358" cy="40011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890452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  <p:bldP spid="13" grpId="0"/>
      <p:bldP spid="16" grpId="0" uiExpand="1" build="p"/>
      <p:bldP spid="19" grpId="0"/>
      <p:bldP spid="20" grpId="0"/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3C937E-4CD2-E2B2-11EA-AE1A69FB0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3890F962-B55E-C61A-5D50-51C935513B8F}"/>
              </a:ext>
            </a:extLst>
          </p:cNvPr>
          <p:cNvGrpSpPr/>
          <p:nvPr/>
        </p:nvGrpSpPr>
        <p:grpSpPr>
          <a:xfrm>
            <a:off x="6266045" y="1897430"/>
            <a:ext cx="5661148" cy="564820"/>
            <a:chOff x="6266045" y="1897430"/>
            <a:chExt cx="5661148" cy="5648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65794CB1-E1F3-4738-4AAC-60CBA30A632B}"/>
                    </a:ext>
                  </a:extLst>
                </p:cNvPr>
                <p:cNvSpPr txBox="1"/>
                <p:nvPr/>
              </p:nvSpPr>
              <p:spPr>
                <a:xfrm>
                  <a:off x="6266045" y="1897430"/>
                  <a:ext cx="634917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65794CB1-E1F3-4738-4AAC-60CBA30A63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66045" y="1897430"/>
                  <a:ext cx="634917" cy="52322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3BC88BE6-4D1E-D59A-C3A3-BC12ADDF943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088493" y="1903450"/>
              <a:ext cx="4838700" cy="558800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314DDFF-7F34-D417-0D88-2B5D7457F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Autocovariance (intuition)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979AA2-AEA0-18DC-97DE-9DE2EE9684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6497" y="1338625"/>
            <a:ext cx="10515600" cy="538752"/>
          </a:xfrm>
        </p:spPr>
        <p:txBody>
          <a:bodyPr/>
          <a:lstStyle/>
          <a:p>
            <a:r>
              <a:rPr lang="en-US" dirty="0"/>
              <a:t>Fix </a:t>
            </a:r>
            <a:r>
              <a:rPr lang="en-US" b="1" u="sng" dirty="0"/>
              <a:t>L=1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C8F09A8-0E73-26B2-DE9A-5E049E281A89}"/>
                  </a:ext>
                </a:extLst>
              </p:cNvPr>
              <p:cNvSpPr txBox="1"/>
              <p:nvPr/>
            </p:nvSpPr>
            <p:spPr>
              <a:xfrm>
                <a:off x="861935" y="2829299"/>
                <a:ext cx="469660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assume mean = 0 (i.e.,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800" dirty="0"/>
                  <a:t>)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C8F09A8-0E73-26B2-DE9A-5E049E281A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935" y="2829299"/>
                <a:ext cx="4696607" cy="523220"/>
              </a:xfrm>
              <a:prstGeom prst="rect">
                <a:avLst/>
              </a:prstGeom>
              <a:blipFill>
                <a:blip r:embed="rId5"/>
                <a:stretch>
                  <a:fillRect l="-2695" t="-11905" r="-1887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A320DDD2-A405-51A7-EFB8-B8CDD5C0C423}"/>
              </a:ext>
            </a:extLst>
          </p:cNvPr>
          <p:cNvSpPr txBox="1"/>
          <p:nvPr/>
        </p:nvSpPr>
        <p:spPr>
          <a:xfrm>
            <a:off x="5527800" y="2308264"/>
            <a:ext cx="14414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multiply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E552D44-5825-D03A-3021-8724E974C593}"/>
                  </a:ext>
                </a:extLst>
              </p:cNvPr>
              <p:cNvSpPr txBox="1"/>
              <p:nvPr/>
            </p:nvSpPr>
            <p:spPr>
              <a:xfrm>
                <a:off x="276497" y="3993829"/>
                <a:ext cx="8859798" cy="9541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800" dirty="0"/>
                  <a:t>at each index, multiply the two signals </a:t>
                </a:r>
                <a:r>
                  <a:rPr lang="en-US" sz="2800" dirty="0">
                    <a:sym typeface="Wingdings" pitchFamily="2" charset="2"/>
                  </a:rPr>
                  <a:t> get a number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800" dirty="0">
                    <a:sym typeface="Wingdings" pitchFamily="2" charset="2"/>
                  </a:rPr>
                  <a:t>sum these numbers to get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𝑟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𝑥𝑥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[1]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E552D44-5825-D03A-3021-8724E974C5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497" y="3993829"/>
                <a:ext cx="8859798" cy="954107"/>
              </a:xfrm>
              <a:prstGeom prst="rect">
                <a:avLst/>
              </a:prstGeom>
              <a:blipFill>
                <a:blip r:embed="rId6"/>
                <a:stretch>
                  <a:fillRect l="-1144" t="-7895" r="-429" b="-18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DF41533-687C-91A3-2C42-65F0D8976FAF}"/>
              </a:ext>
            </a:extLst>
          </p:cNvPr>
          <p:cNvCxnSpPr/>
          <p:nvPr/>
        </p:nvCxnSpPr>
        <p:spPr>
          <a:xfrm>
            <a:off x="7324756" y="2431411"/>
            <a:ext cx="0" cy="365879"/>
          </a:xfrm>
          <a:prstGeom prst="straightConnector1">
            <a:avLst/>
          </a:prstGeom>
          <a:ln w="25400"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3338265-0F5A-E4A7-C472-2EB17E6455D3}"/>
              </a:ext>
            </a:extLst>
          </p:cNvPr>
          <p:cNvCxnSpPr/>
          <p:nvPr/>
        </p:nvCxnSpPr>
        <p:spPr>
          <a:xfrm>
            <a:off x="7549839" y="2427805"/>
            <a:ext cx="0" cy="365879"/>
          </a:xfrm>
          <a:prstGeom prst="straightConnector1">
            <a:avLst/>
          </a:prstGeom>
          <a:ln w="25400"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138FBA38-4B95-04B2-47BB-27B3BAF45C88}"/>
              </a:ext>
            </a:extLst>
          </p:cNvPr>
          <p:cNvSpPr txBox="1"/>
          <p:nvPr/>
        </p:nvSpPr>
        <p:spPr>
          <a:xfrm>
            <a:off x="276497" y="5207361"/>
            <a:ext cx="56487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Q. </a:t>
            </a:r>
            <a:r>
              <a:rPr lang="en-US" sz="2800" dirty="0"/>
              <a:t>Will this number be big or small?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648520E-F174-52F2-4C64-8A783D24F9F3}"/>
                  </a:ext>
                </a:extLst>
              </p:cNvPr>
              <p:cNvSpPr txBox="1"/>
              <p:nvPr/>
            </p:nvSpPr>
            <p:spPr>
              <a:xfrm>
                <a:off x="9413889" y="3993829"/>
                <a:ext cx="103746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648520E-F174-52F2-4C64-8A783D24F9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13889" y="3993829"/>
                <a:ext cx="1037463" cy="523220"/>
              </a:xfrm>
              <a:prstGeom prst="rect">
                <a:avLst/>
              </a:prstGeom>
              <a:blipFill>
                <a:blip r:embed="rId7"/>
                <a:stretch>
                  <a:fillRect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7AFBCAC-C60E-AB32-0B91-35BE034A5746}"/>
                  </a:ext>
                </a:extLst>
              </p:cNvPr>
              <p:cNvSpPr txBox="1"/>
              <p:nvPr/>
            </p:nvSpPr>
            <p:spPr>
              <a:xfrm>
                <a:off x="9413889" y="4517049"/>
                <a:ext cx="103746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7AFBCAC-C60E-AB32-0B91-35BE034A57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13889" y="4517049"/>
                <a:ext cx="1037463" cy="523220"/>
              </a:xfrm>
              <a:prstGeom prst="rect">
                <a:avLst/>
              </a:prstGeom>
              <a:blipFill>
                <a:blip r:embed="rId8"/>
                <a:stretch>
                  <a:fillRect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5" name="Group 24">
            <a:extLst>
              <a:ext uri="{FF2B5EF4-FFF2-40B4-BE49-F238E27FC236}">
                <a16:creationId xmlns:a16="http://schemas.microsoft.com/office/drawing/2014/main" id="{A7A618F9-F33B-811C-48C5-442B06AC4A54}"/>
              </a:ext>
            </a:extLst>
          </p:cNvPr>
          <p:cNvGrpSpPr/>
          <p:nvPr/>
        </p:nvGrpSpPr>
        <p:grpSpPr>
          <a:xfrm>
            <a:off x="7926557" y="2301709"/>
            <a:ext cx="2286844" cy="3716126"/>
            <a:chOff x="7926557" y="2301709"/>
            <a:chExt cx="2286844" cy="3716126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A9187F32-4E38-CCDC-3A7B-02AF6462FCE5}"/>
                </a:ext>
              </a:extLst>
            </p:cNvPr>
            <p:cNvSpPr txBox="1"/>
            <p:nvPr/>
          </p:nvSpPr>
          <p:spPr>
            <a:xfrm>
              <a:off x="7926557" y="2301709"/>
              <a:ext cx="49244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rgbClr val="FF0000"/>
                  </a:solidFill>
                </a:rPr>
                <a:t>...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A3F1C73-0084-3B70-E015-D565EB0981E6}"/>
                </a:ext>
              </a:extLst>
            </p:cNvPr>
            <p:cNvSpPr txBox="1"/>
            <p:nvPr/>
          </p:nvSpPr>
          <p:spPr>
            <a:xfrm>
              <a:off x="9720958" y="5494615"/>
              <a:ext cx="49244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...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02CCE9E-7301-9C78-EA5F-132544FF84B2}"/>
                  </a:ext>
                </a:extLst>
              </p:cNvPr>
              <p:cNvSpPr txBox="1"/>
              <p:nvPr/>
            </p:nvSpPr>
            <p:spPr>
              <a:xfrm>
                <a:off x="276497" y="6091791"/>
                <a:ext cx="720697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Repeat for L = 2,3, ..., L = -1, -2, ... to get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𝑟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𝑥𝑥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[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𝐿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]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02CCE9E-7301-9C78-EA5F-132544FF84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497" y="6091791"/>
                <a:ext cx="7206973" cy="523220"/>
              </a:xfrm>
              <a:prstGeom prst="rect">
                <a:avLst/>
              </a:prstGeom>
              <a:blipFill>
                <a:blip r:embed="rId10"/>
                <a:stretch>
                  <a:fillRect l="-1757" t="-11905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5B3B57A6-2BDD-294B-C223-7C21C9BF662C}"/>
              </a:ext>
            </a:extLst>
          </p:cNvPr>
          <p:cNvGrpSpPr/>
          <p:nvPr/>
        </p:nvGrpSpPr>
        <p:grpSpPr>
          <a:xfrm>
            <a:off x="875177" y="1769129"/>
            <a:ext cx="4172796" cy="1117600"/>
            <a:chOff x="875177" y="1769129"/>
            <a:chExt cx="4172796" cy="1117600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D8F5FBD4-8EB6-57B0-FF2C-A214DD30B62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593573" y="1769129"/>
              <a:ext cx="3454400" cy="111760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C373D456-8450-644C-447C-EDCE2C83F2A3}"/>
                    </a:ext>
                  </a:extLst>
                </p:cNvPr>
                <p:cNvSpPr txBox="1"/>
                <p:nvPr/>
              </p:nvSpPr>
              <p:spPr>
                <a:xfrm>
                  <a:off x="875177" y="2070982"/>
                  <a:ext cx="460062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C373D456-8450-644C-447C-EDCE2C83F2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5177" y="2070982"/>
                  <a:ext cx="460062" cy="52322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57C23F00-E0B6-5EDB-0831-5FB43BD4A45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958096" y="215145"/>
            <a:ext cx="4609794" cy="112105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F540930-219D-9C45-6756-9096DE92FDF6}"/>
                  </a:ext>
                </a:extLst>
              </p:cNvPr>
              <p:cNvSpPr txBox="1"/>
              <p:nvPr/>
            </p:nvSpPr>
            <p:spPr>
              <a:xfrm>
                <a:off x="5991260" y="2799431"/>
                <a:ext cx="97796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F540930-219D-9C45-6756-9096DE92FD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1260" y="2799431"/>
                <a:ext cx="977960" cy="523220"/>
              </a:xfrm>
              <a:prstGeom prst="rect">
                <a:avLst/>
              </a:prstGeom>
              <a:blipFill>
                <a:blip r:embed="rId14"/>
                <a:stretch>
                  <a:fillRect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7" name="Picture 26">
            <a:extLst>
              <a:ext uri="{FF2B5EF4-FFF2-40B4-BE49-F238E27FC236}">
                <a16:creationId xmlns:a16="http://schemas.microsoft.com/office/drawing/2014/main" id="{624D222E-E7B0-7DA3-B2AD-A162FAE92F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5618" y="2812602"/>
            <a:ext cx="4838700" cy="55880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DC570BEC-6720-A2C0-C704-8566FCC0F314}"/>
              </a:ext>
            </a:extLst>
          </p:cNvPr>
          <p:cNvGrpSpPr/>
          <p:nvPr/>
        </p:nvGrpSpPr>
        <p:grpSpPr>
          <a:xfrm>
            <a:off x="7746382" y="2424901"/>
            <a:ext cx="2713240" cy="3138588"/>
            <a:chOff x="7746382" y="2424901"/>
            <a:chExt cx="2713240" cy="313858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E24B44EC-055E-6612-942B-DCC22AD944DF}"/>
                    </a:ext>
                  </a:extLst>
                </p:cNvPr>
                <p:cNvSpPr txBox="1"/>
                <p:nvPr/>
              </p:nvSpPr>
              <p:spPr>
                <a:xfrm>
                  <a:off x="9413888" y="5040269"/>
                  <a:ext cx="1045734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E24B44EC-055E-6612-942B-DCC22AD944D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13888" y="5040269"/>
                  <a:ext cx="1045734" cy="523220"/>
                </a:xfrm>
                <a:prstGeom prst="rect">
                  <a:avLst/>
                </a:prstGeom>
                <a:blipFill>
                  <a:blip r:embed="rId15"/>
                  <a:stretch>
                    <a:fillRect b="-1860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63D6B166-C1FF-1958-F70A-BD030AB4A2B5}"/>
                </a:ext>
              </a:extLst>
            </p:cNvPr>
            <p:cNvCxnSpPr/>
            <p:nvPr/>
          </p:nvCxnSpPr>
          <p:spPr>
            <a:xfrm>
              <a:off x="7746382" y="2424901"/>
              <a:ext cx="0" cy="365879"/>
            </a:xfrm>
            <a:prstGeom prst="straightConnector1">
              <a:avLst/>
            </a:prstGeom>
            <a:ln w="25400">
              <a:solidFill>
                <a:srgbClr val="FF0000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75704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6" grpId="0" uiExpand="1" build="p"/>
      <p:bldP spid="20" grpId="0"/>
      <p:bldP spid="6" grpId="0"/>
      <p:bldP spid="7" grpId="0"/>
      <p:bldP spid="24" grpId="0"/>
      <p:bldP spid="2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BD61C-7ABE-1981-7550-6C04E21FF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Autocovariance (example)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08110-0EA3-75D8-99C8-B4F65D19B5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u="sng" dirty="0"/>
              <a:t>Ex.</a:t>
            </a:r>
            <a:r>
              <a:rPr lang="en-US" b="1" dirty="0"/>
              <a:t> </a:t>
            </a:r>
            <a:r>
              <a:rPr lang="en-US" dirty="0"/>
              <a:t>Consider these nearly sinusoidal data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025E5F2-F1FE-AAEC-C72E-1DF75BC0C4FC}"/>
              </a:ext>
            </a:extLst>
          </p:cNvPr>
          <p:cNvGrpSpPr/>
          <p:nvPr/>
        </p:nvGrpSpPr>
        <p:grpSpPr>
          <a:xfrm>
            <a:off x="158697" y="2164949"/>
            <a:ext cx="10651130" cy="2060645"/>
            <a:chOff x="180065" y="1854064"/>
            <a:chExt cx="10651130" cy="2060645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973F346A-F4BF-74AB-EBAC-8414AC8A6D4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0065" y="1854064"/>
              <a:ext cx="10651130" cy="2060645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8C26107E-28D0-7B2B-252D-5494A232442E}"/>
                    </a:ext>
                  </a:extLst>
                </p:cNvPr>
                <p:cNvSpPr txBox="1"/>
                <p:nvPr/>
              </p:nvSpPr>
              <p:spPr>
                <a:xfrm>
                  <a:off x="9940246" y="2415767"/>
                  <a:ext cx="634917" cy="52322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8C26107E-28D0-7B2B-252D-5494A23244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40246" y="2415767"/>
                  <a:ext cx="634917" cy="52322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2C8C1B8-FAEC-09BC-3886-55A8544E9003}"/>
                  </a:ext>
                </a:extLst>
              </p:cNvPr>
              <p:cNvSpPr txBox="1"/>
              <p:nvPr/>
            </p:nvSpPr>
            <p:spPr>
              <a:xfrm>
                <a:off x="1208867" y="4649462"/>
                <a:ext cx="725307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Here,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800" dirty="0"/>
                  <a:t> approximately sinusoid with period </a:t>
                </a:r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2C8C1B8-FAEC-09BC-3886-55A8544E90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8867" y="4649462"/>
                <a:ext cx="7253076" cy="523220"/>
              </a:xfrm>
              <a:prstGeom prst="rect">
                <a:avLst/>
              </a:prstGeom>
              <a:blipFill>
                <a:blip r:embed="rId4"/>
                <a:stretch>
                  <a:fillRect l="-1923" t="-14286" b="-309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C0E310D-E100-7927-3C23-7A663AA0971E}"/>
                  </a:ext>
                </a:extLst>
              </p:cNvPr>
              <p:cNvSpPr txBox="1"/>
              <p:nvPr/>
            </p:nvSpPr>
            <p:spPr>
              <a:xfrm>
                <a:off x="1208867" y="5518937"/>
                <a:ext cx="469660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assume mean = 0 (i.e.,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800" dirty="0"/>
                  <a:t>)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C0E310D-E100-7927-3C23-7A663AA097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8867" y="5518937"/>
                <a:ext cx="4696607" cy="523220"/>
              </a:xfrm>
              <a:prstGeom prst="rect">
                <a:avLst/>
              </a:prstGeom>
              <a:blipFill>
                <a:blip r:embed="rId5"/>
                <a:stretch>
                  <a:fillRect l="-2965" t="-11905" r="-1617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6">
            <a:extLst>
              <a:ext uri="{FF2B5EF4-FFF2-40B4-BE49-F238E27FC236}">
                <a16:creationId xmlns:a16="http://schemas.microsoft.com/office/drawing/2014/main" id="{CAC46DD7-E9E1-D644-C774-4F58152A59D9}"/>
              </a:ext>
            </a:extLst>
          </p:cNvPr>
          <p:cNvGrpSpPr/>
          <p:nvPr/>
        </p:nvGrpSpPr>
        <p:grpSpPr>
          <a:xfrm>
            <a:off x="4614860" y="3936102"/>
            <a:ext cx="869402" cy="523220"/>
            <a:chOff x="4636228" y="3819742"/>
            <a:chExt cx="869402" cy="5232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84CC312A-E43B-9DF7-94F2-2010392934EC}"/>
                    </a:ext>
                  </a:extLst>
                </p:cNvPr>
                <p:cNvSpPr txBox="1"/>
                <p:nvPr/>
              </p:nvSpPr>
              <p:spPr>
                <a:xfrm>
                  <a:off x="4838660" y="3819742"/>
                  <a:ext cx="475785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84CC312A-E43B-9DF7-94F2-2010392934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38660" y="3819742"/>
                  <a:ext cx="475785" cy="52322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4F471BD-0E93-7F00-17F7-B8E58CC45EC4}"/>
                </a:ext>
              </a:extLst>
            </p:cNvPr>
            <p:cNvCxnSpPr>
              <a:cxnSpLocks/>
            </p:cNvCxnSpPr>
            <p:nvPr/>
          </p:nvCxnSpPr>
          <p:spPr>
            <a:xfrm>
              <a:off x="4636228" y="3887244"/>
              <a:ext cx="869402" cy="0"/>
            </a:xfrm>
            <a:prstGeom prst="line">
              <a:avLst/>
            </a:prstGeom>
            <a:ln w="508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73940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74438-FE1F-0AB5-D045-3C93D9F7B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93E527E4-A19F-DE20-DC8C-CFF6AFEC56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411362" y="1696729"/>
            <a:ext cx="13502661" cy="26123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E06C084-12CC-DD69-B2DE-63B1C4FEA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Autocovariance (example)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EF8CF31-3FE6-4583-41D3-0D24B5E2BBFA}"/>
                  </a:ext>
                </a:extLst>
              </p:cNvPr>
              <p:cNvSpPr txBox="1"/>
              <p:nvPr/>
            </p:nvSpPr>
            <p:spPr>
              <a:xfrm>
                <a:off x="11020852" y="2232518"/>
                <a:ext cx="634917" cy="52322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sz="28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EF8CF31-3FE6-4583-41D3-0D24B5E2BB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20852" y="2232518"/>
                <a:ext cx="634917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86CE1D7-F769-EA7B-6250-A733909A095B}"/>
                  </a:ext>
                </a:extLst>
              </p:cNvPr>
              <p:cNvSpPr txBox="1"/>
              <p:nvPr/>
            </p:nvSpPr>
            <p:spPr>
              <a:xfrm>
                <a:off x="11020852" y="3039149"/>
                <a:ext cx="977960" cy="52322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+0</m:t>
                          </m:r>
                        </m:sub>
                      </m:sSub>
                    </m:oMath>
                  </m:oMathPara>
                </a14:m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86CE1D7-F769-EA7B-6250-A733909A09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20852" y="3039149"/>
                <a:ext cx="977960" cy="523220"/>
              </a:xfrm>
              <a:prstGeom prst="rect">
                <a:avLst/>
              </a:prstGeom>
              <a:blipFill>
                <a:blip r:embed="rId5"/>
                <a:stretch>
                  <a:fillRect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85BE77E-F605-C65C-E276-5B72BF708BC9}"/>
              </a:ext>
            </a:extLst>
          </p:cNvPr>
          <p:cNvCxnSpPr/>
          <p:nvPr/>
        </p:nvCxnSpPr>
        <p:spPr>
          <a:xfrm>
            <a:off x="1939775" y="4485866"/>
            <a:ext cx="0" cy="365879"/>
          </a:xfrm>
          <a:prstGeom prst="straightConnector1">
            <a:avLst/>
          </a:prstGeom>
          <a:ln w="25400"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CC8D74C-1D6D-730E-F56D-9367612E8830}"/>
              </a:ext>
            </a:extLst>
          </p:cNvPr>
          <p:cNvSpPr txBox="1"/>
          <p:nvPr/>
        </p:nvSpPr>
        <p:spPr>
          <a:xfrm>
            <a:off x="370636" y="4423701"/>
            <a:ext cx="14414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multiply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EE1404F-8F93-055E-FBA0-84DF1D069390}"/>
              </a:ext>
            </a:extLst>
          </p:cNvPr>
          <p:cNvCxnSpPr/>
          <p:nvPr/>
        </p:nvCxnSpPr>
        <p:spPr>
          <a:xfrm>
            <a:off x="2148446" y="4485866"/>
            <a:ext cx="0" cy="365879"/>
          </a:xfrm>
          <a:prstGeom prst="straightConnector1">
            <a:avLst/>
          </a:prstGeom>
          <a:ln w="25400"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C59CC01-FA83-B387-CA36-F7CF98A6F920}"/>
              </a:ext>
            </a:extLst>
          </p:cNvPr>
          <p:cNvCxnSpPr/>
          <p:nvPr/>
        </p:nvCxnSpPr>
        <p:spPr>
          <a:xfrm>
            <a:off x="2373529" y="4490607"/>
            <a:ext cx="0" cy="365879"/>
          </a:xfrm>
          <a:prstGeom prst="straightConnector1">
            <a:avLst/>
          </a:prstGeom>
          <a:ln w="25400"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4E449DFF-C68A-6BBE-DDFA-75A640A5C4A5}"/>
              </a:ext>
            </a:extLst>
          </p:cNvPr>
          <p:cNvSpPr txBox="1"/>
          <p:nvPr/>
        </p:nvSpPr>
        <p:spPr>
          <a:xfrm>
            <a:off x="2561061" y="4360905"/>
            <a:ext cx="4924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...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2AAB9768-043A-9323-F1B6-21448C209A09}"/>
                  </a:ext>
                </a:extLst>
              </p:cNvPr>
              <p:cNvSpPr txBox="1"/>
              <p:nvPr/>
            </p:nvSpPr>
            <p:spPr>
              <a:xfrm>
                <a:off x="6971051" y="4360905"/>
                <a:ext cx="124867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800" dirty="0"/>
                  <a:t> *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2AAB9768-043A-9323-F1B6-21448C209A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1051" y="4360905"/>
                <a:ext cx="1248675" cy="523220"/>
              </a:xfrm>
              <a:prstGeom prst="rect">
                <a:avLst/>
              </a:prstGeom>
              <a:blipFill>
                <a:blip r:embed="rId6"/>
                <a:stretch>
                  <a:fillRect t="-11905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00DAF454-81A4-4A53-09F3-4B5EF5D0A9D4}"/>
                  </a:ext>
                </a:extLst>
              </p:cNvPr>
              <p:cNvSpPr txBox="1"/>
              <p:nvPr/>
            </p:nvSpPr>
            <p:spPr>
              <a:xfrm>
                <a:off x="276497" y="1340171"/>
                <a:ext cx="436958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b="1" dirty="0">
                    <a:sym typeface="Wingdings" pitchFamily="2" charset="2"/>
                  </a:rPr>
                  <a:t>Q. </a:t>
                </a:r>
                <a:r>
                  <a:rPr lang="en-US" sz="2800" b="0" dirty="0">
                    <a:sym typeface="Wingdings" pitchFamily="2" charset="2"/>
                  </a:rPr>
                  <a:t>What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𝑟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𝑥𝑥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[0]</m:t>
                    </m:r>
                  </m:oMath>
                </a14:m>
                <a:r>
                  <a:rPr lang="en-US" sz="2800" dirty="0"/>
                  <a:t> ?</a:t>
                </a: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00DAF454-81A4-4A53-09F3-4B5EF5D0A9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497" y="1340171"/>
                <a:ext cx="4369587" cy="523220"/>
              </a:xfrm>
              <a:prstGeom prst="rect">
                <a:avLst/>
              </a:prstGeom>
              <a:blipFill>
                <a:blip r:embed="rId9"/>
                <a:stretch>
                  <a:fillRect l="-2899" t="-11905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32F9B808-EE65-D96E-379E-F89C78B4C3AB}"/>
                  </a:ext>
                </a:extLst>
              </p:cNvPr>
              <p:cNvSpPr txBox="1"/>
              <p:nvPr/>
            </p:nvSpPr>
            <p:spPr>
              <a:xfrm>
                <a:off x="6971051" y="5335525"/>
                <a:ext cx="6485708" cy="15696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𝑟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𝑥𝑥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sz="2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0</m:t>
                        </m:r>
                      </m:e>
                    </m:d>
                  </m:oMath>
                </a14:m>
                <a:r>
                  <a:rPr lang="en-US" sz="2800" dirty="0"/>
                  <a:t>~ big positive number</a:t>
                </a:r>
              </a:p>
              <a:p>
                <a:endParaRPr lang="en-US" sz="1200" dirty="0"/>
              </a:p>
              <a:p>
                <a:r>
                  <a:rPr lang="en-US" sz="2800" dirty="0"/>
                  <a:t>good match</a:t>
                </a:r>
              </a:p>
              <a:p>
                <a:endParaRPr lang="en-US" sz="28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32F9B808-EE65-D96E-379E-F89C78B4C3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1051" y="5335525"/>
                <a:ext cx="6485708" cy="1569660"/>
              </a:xfrm>
              <a:prstGeom prst="rect">
                <a:avLst/>
              </a:prstGeom>
              <a:blipFill>
                <a:blip r:embed="rId10"/>
                <a:stretch>
                  <a:fillRect l="-1957" t="-40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BC47E82A-ACF5-E0E3-607E-BDCFEFD227CF}"/>
              </a:ext>
            </a:extLst>
          </p:cNvPr>
          <p:cNvGrpSpPr/>
          <p:nvPr/>
        </p:nvGrpSpPr>
        <p:grpSpPr>
          <a:xfrm>
            <a:off x="1195723" y="3906939"/>
            <a:ext cx="5387547" cy="577812"/>
            <a:chOff x="1195723" y="3906939"/>
            <a:chExt cx="5387547" cy="57781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D8C7CEE8-3C2C-FB60-9509-58A9944B1530}"/>
                    </a:ext>
                  </a:extLst>
                </p:cNvPr>
                <p:cNvSpPr txBox="1"/>
                <p:nvPr/>
              </p:nvSpPr>
              <p:spPr>
                <a:xfrm>
                  <a:off x="1195723" y="3906939"/>
                  <a:ext cx="634917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D8C7CEE8-3C2C-FB60-9509-58A9944B153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95723" y="3906939"/>
                  <a:ext cx="634917" cy="52322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637262A1-FE9D-35F8-6B90-B7037A56D0F2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744570" y="3925951"/>
              <a:ext cx="4838700" cy="558800"/>
            </a:xfrm>
            <a:prstGeom prst="rect">
              <a:avLst/>
            </a:prstGeom>
          </p:spPr>
        </p:pic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0A97A2B5-808E-D2C7-80F0-EC099F08063B}"/>
              </a:ext>
            </a:extLst>
          </p:cNvPr>
          <p:cNvGrpSpPr/>
          <p:nvPr/>
        </p:nvGrpSpPr>
        <p:grpSpPr>
          <a:xfrm>
            <a:off x="834871" y="4851018"/>
            <a:ext cx="5748399" cy="633961"/>
            <a:chOff x="834871" y="4851018"/>
            <a:chExt cx="5748399" cy="63396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F477CBAE-45E9-FCB3-EA04-A278548326ED}"/>
                    </a:ext>
                  </a:extLst>
                </p:cNvPr>
                <p:cNvSpPr txBox="1"/>
                <p:nvPr/>
              </p:nvSpPr>
              <p:spPr>
                <a:xfrm>
                  <a:off x="834871" y="4851018"/>
                  <a:ext cx="977960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+0</m:t>
                            </m:r>
                          </m:sub>
                        </m:sSub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F477CBAE-45E9-FCB3-EA04-A278548326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4871" y="4851018"/>
                  <a:ext cx="977960" cy="523220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ED573DB7-C8CF-6A02-FC22-92D202C6E47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744570" y="4926179"/>
              <a:ext cx="4838700" cy="558800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E46EB1A-7F34-F72D-2C2B-EE399A621870}"/>
                  </a:ext>
                </a:extLst>
              </p:cNvPr>
              <p:cNvSpPr txBox="1"/>
              <p:nvPr/>
            </p:nvSpPr>
            <p:spPr>
              <a:xfrm>
                <a:off x="8182402" y="4356005"/>
                <a:ext cx="97796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0</a:t>
                </a:r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E46EB1A-7F34-F72D-2C2B-EE399A6218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2402" y="4356005"/>
                <a:ext cx="977960" cy="523220"/>
              </a:xfrm>
              <a:prstGeom prst="rect">
                <a:avLst/>
              </a:prstGeom>
              <a:blipFill>
                <a:blip r:embed="rId14"/>
                <a:stretch>
                  <a:fillRect l="-3846" t="-14634" b="-341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8683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9" grpId="0"/>
      <p:bldP spid="22" grpId="0"/>
      <p:bldP spid="25" grpId="0"/>
      <p:bldP spid="34" grpId="0" build="p"/>
      <p:bldP spid="1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671721-E9FA-590B-C393-191D10CFB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6D759DB-FDC0-6E46-0946-31604EC88C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180355" y="1857642"/>
            <a:ext cx="12714264" cy="2459794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3C36B607-6DE2-DF87-65B2-B26037B6B74F}"/>
              </a:ext>
            </a:extLst>
          </p:cNvPr>
          <p:cNvGrpSpPr/>
          <p:nvPr/>
        </p:nvGrpSpPr>
        <p:grpSpPr>
          <a:xfrm>
            <a:off x="617681" y="4558931"/>
            <a:ext cx="6073916" cy="558800"/>
            <a:chOff x="703311" y="3955707"/>
            <a:chExt cx="6073916" cy="5588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23BA3BE1-49F5-020D-43FD-ED96ACFA79A1}"/>
                    </a:ext>
                  </a:extLst>
                </p:cNvPr>
                <p:cNvSpPr txBox="1"/>
                <p:nvPr/>
              </p:nvSpPr>
              <p:spPr>
                <a:xfrm>
                  <a:off x="703311" y="3955707"/>
                  <a:ext cx="634917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23BA3BE1-49F5-020D-43FD-ED96ACFA79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3311" y="3955707"/>
                  <a:ext cx="634917" cy="52322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A2C346E6-3D87-216C-00AA-7D5E4571ADE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938527" y="3955707"/>
              <a:ext cx="4838700" cy="558800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FFCE447-FC0B-C42C-E3B5-C313FF795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Autocovariance (example)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28BDC21-9EE9-D6B0-9EA4-92767984D81A}"/>
                  </a:ext>
                </a:extLst>
              </p:cNvPr>
              <p:cNvSpPr txBox="1"/>
              <p:nvPr/>
            </p:nvSpPr>
            <p:spPr>
              <a:xfrm>
                <a:off x="10613167" y="2184862"/>
                <a:ext cx="634917" cy="52322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sz="28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28BDC21-9EE9-D6B0-9EA4-92767984D8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13167" y="2184862"/>
                <a:ext cx="634917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F48EE9B-BBDC-C882-0B56-9E728250AB4D}"/>
                  </a:ext>
                </a:extLst>
              </p:cNvPr>
              <p:cNvSpPr txBox="1"/>
              <p:nvPr/>
            </p:nvSpPr>
            <p:spPr>
              <a:xfrm>
                <a:off x="10613167" y="2819836"/>
                <a:ext cx="975395" cy="52322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F48EE9B-BBDC-C882-0B56-9E728250AB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13167" y="2819836"/>
                <a:ext cx="975395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BABAFA86-FE71-CFE5-9E3C-E72E745629EF}"/>
              </a:ext>
            </a:extLst>
          </p:cNvPr>
          <p:cNvGrpSpPr/>
          <p:nvPr/>
        </p:nvGrpSpPr>
        <p:grpSpPr>
          <a:xfrm>
            <a:off x="280754" y="4951811"/>
            <a:ext cx="2684132" cy="593894"/>
            <a:chOff x="280754" y="4951811"/>
            <a:chExt cx="2684132" cy="593894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537467D-DC3B-73D7-1D9F-0A757D70236B}"/>
                </a:ext>
              </a:extLst>
            </p:cNvPr>
            <p:cNvSpPr txBox="1"/>
            <p:nvPr/>
          </p:nvSpPr>
          <p:spPr>
            <a:xfrm>
              <a:off x="280754" y="5022485"/>
              <a:ext cx="144142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rgbClr val="FF0000"/>
                  </a:solidFill>
                </a:rPr>
                <a:t>multiply</a:t>
              </a: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20920C8C-C5BF-C8D2-7B4A-66CD48926547}"/>
                </a:ext>
              </a:extLst>
            </p:cNvPr>
            <p:cNvCxnSpPr>
              <a:cxnSpLocks/>
            </p:cNvCxnSpPr>
            <p:nvPr/>
          </p:nvCxnSpPr>
          <p:spPr>
            <a:xfrm>
              <a:off x="2059828" y="5101156"/>
              <a:ext cx="0" cy="365879"/>
            </a:xfrm>
            <a:prstGeom prst="straightConnector1">
              <a:avLst/>
            </a:prstGeom>
            <a:ln w="25400">
              <a:solidFill>
                <a:srgbClr val="FF0000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D474A9F6-B49E-E625-1CBC-FD0BDEA750D2}"/>
                </a:ext>
              </a:extLst>
            </p:cNvPr>
            <p:cNvCxnSpPr>
              <a:cxnSpLocks/>
            </p:cNvCxnSpPr>
            <p:nvPr/>
          </p:nvCxnSpPr>
          <p:spPr>
            <a:xfrm>
              <a:off x="2284911" y="5105897"/>
              <a:ext cx="0" cy="365879"/>
            </a:xfrm>
            <a:prstGeom prst="straightConnector1">
              <a:avLst/>
            </a:prstGeom>
            <a:ln w="25400">
              <a:solidFill>
                <a:srgbClr val="FF0000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D50943D-D4F5-6F76-3967-14CBE31BF516}"/>
                </a:ext>
              </a:extLst>
            </p:cNvPr>
            <p:cNvSpPr txBox="1"/>
            <p:nvPr/>
          </p:nvSpPr>
          <p:spPr>
            <a:xfrm>
              <a:off x="2472443" y="4951811"/>
              <a:ext cx="49244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rgbClr val="FF0000"/>
                  </a:solidFill>
                </a:rPr>
                <a:t>...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221EC87-7BB2-6BFE-4710-20CC6BB92A6A}"/>
                  </a:ext>
                </a:extLst>
              </p:cNvPr>
              <p:cNvSpPr txBox="1"/>
              <p:nvPr/>
            </p:nvSpPr>
            <p:spPr>
              <a:xfrm>
                <a:off x="6971051" y="4360905"/>
                <a:ext cx="212135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800" dirty="0"/>
                  <a:t> *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sz="2800" dirty="0"/>
                  <a:t> &gt; 0</a:t>
                </a: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221EC87-7BB2-6BFE-4710-20CC6BB92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1051" y="4360905"/>
                <a:ext cx="2121350" cy="523220"/>
              </a:xfrm>
              <a:prstGeom prst="rect">
                <a:avLst/>
              </a:prstGeom>
              <a:blipFill>
                <a:blip r:embed="rId8"/>
                <a:stretch>
                  <a:fillRect t="-11905" r="-4762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8E4D5E8D-5705-2946-F40D-27AF286CD22A}"/>
                  </a:ext>
                </a:extLst>
              </p:cNvPr>
              <p:cNvSpPr txBox="1"/>
              <p:nvPr/>
            </p:nvSpPr>
            <p:spPr>
              <a:xfrm>
                <a:off x="276497" y="1340171"/>
                <a:ext cx="581950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b="1" dirty="0">
                    <a:sym typeface="Wingdings" pitchFamily="2" charset="2"/>
                  </a:rPr>
                  <a:t>Q. </a:t>
                </a:r>
                <a:r>
                  <a:rPr lang="en-US" sz="2800" b="0" dirty="0">
                    <a:sym typeface="Wingdings" pitchFamily="2" charset="2"/>
                  </a:rPr>
                  <a:t>What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𝑟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𝑥𝑥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sz="2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𝐿</m:t>
                        </m:r>
                      </m:e>
                    </m:d>
                  </m:oMath>
                </a14:m>
                <a:r>
                  <a:rPr lang="en-US" sz="2800" dirty="0"/>
                  <a:t> for L&gt;0 but small ?</a:t>
                </a: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8E4D5E8D-5705-2946-F40D-27AF286CD2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497" y="1340171"/>
                <a:ext cx="5819503" cy="523220"/>
              </a:xfrm>
              <a:prstGeom prst="rect">
                <a:avLst/>
              </a:prstGeom>
              <a:blipFill>
                <a:blip r:embed="rId9"/>
                <a:stretch>
                  <a:fillRect l="-2174" t="-11905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F50BF57-3EFA-0D99-D6F1-9C57C9F4D419}"/>
                  </a:ext>
                </a:extLst>
              </p:cNvPr>
              <p:cNvSpPr txBox="1"/>
              <p:nvPr/>
            </p:nvSpPr>
            <p:spPr>
              <a:xfrm>
                <a:off x="6948013" y="5155113"/>
                <a:ext cx="6485708" cy="15696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𝑟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𝑥𝑥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sz="2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𝐿</m:t>
                        </m:r>
                      </m:e>
                    </m:d>
                  </m:oMath>
                </a14:m>
                <a:r>
                  <a:rPr lang="en-US" sz="2800" dirty="0"/>
                  <a:t>~ less big positive number</a:t>
                </a:r>
              </a:p>
              <a:p>
                <a:endParaRPr lang="en-US" sz="1200" dirty="0"/>
              </a:p>
              <a:p>
                <a:r>
                  <a:rPr lang="en-US" sz="2800" dirty="0"/>
                  <a:t>not as good a match</a:t>
                </a:r>
              </a:p>
              <a:p>
                <a:endParaRPr lang="en-US" sz="28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F50BF57-3EFA-0D99-D6F1-9C57C9F4D4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8013" y="5155113"/>
                <a:ext cx="6485708" cy="1569660"/>
              </a:xfrm>
              <a:prstGeom prst="rect">
                <a:avLst/>
              </a:prstGeom>
              <a:blipFill>
                <a:blip r:embed="rId10"/>
                <a:stretch>
                  <a:fillRect l="-1957" t="-48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A7C4793B-F514-8815-CD9A-CC98FEFC5C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1670" y="5495966"/>
            <a:ext cx="4838700" cy="5588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1ED45E7-1C23-AF13-CB35-431ED2F58CC1}"/>
                  </a:ext>
                </a:extLst>
              </p:cNvPr>
              <p:cNvSpPr txBox="1"/>
              <p:nvPr/>
            </p:nvSpPr>
            <p:spPr>
              <a:xfrm>
                <a:off x="9051490" y="4338761"/>
                <a:ext cx="287828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solidFill>
                      <a:prstClr val="black"/>
                    </a:solidFill>
                  </a:rPr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prstClr val="black"/>
                    </a:solidFill>
                  </a:rPr>
                  <a:t> *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prstClr val="black"/>
                    </a:solidFill>
                  </a:rPr>
                  <a:t> &lt; 0 </a:t>
                </a:r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1ED45E7-1C23-AF13-CB35-431ED2F58C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1490" y="4338761"/>
                <a:ext cx="2878281" cy="523220"/>
              </a:xfrm>
              <a:prstGeom prst="rect">
                <a:avLst/>
              </a:prstGeom>
              <a:blipFill>
                <a:blip r:embed="rId11"/>
                <a:stretch>
                  <a:fillRect l="-4386" t="-11628" r="-2632" b="-302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579AAA3-07D6-FB9C-1309-F69DAF5E977B}"/>
                  </a:ext>
                </a:extLst>
              </p:cNvPr>
              <p:cNvSpPr txBox="1"/>
              <p:nvPr/>
            </p:nvSpPr>
            <p:spPr>
              <a:xfrm>
                <a:off x="272930" y="5416723"/>
                <a:ext cx="97539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579AAA3-07D6-FB9C-1309-F69DAF5E97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930" y="5416723"/>
                <a:ext cx="975395" cy="523220"/>
              </a:xfrm>
              <a:prstGeom prst="rect">
                <a:avLst/>
              </a:prstGeom>
              <a:blipFill>
                <a:blip r:embed="rId12"/>
                <a:stretch>
                  <a:fillRect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79080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25" grpId="0"/>
      <p:bldP spid="34" grpId="0" build="p"/>
      <p:bldP spid="11" grpId="0"/>
      <p:bldP spid="1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4283B3-09BE-5801-D020-A3EEA9EF2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E996E06-AB03-2C63-DE7C-1CE3170922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35782" y="1920078"/>
            <a:ext cx="12913463" cy="249833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CEC2B2B-BED2-2CF3-F55B-B08598434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Autocovariance (example)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D3E7245-B958-BC6A-F592-E8AACCDCFA7E}"/>
                  </a:ext>
                </a:extLst>
              </p:cNvPr>
              <p:cNvSpPr txBox="1"/>
              <p:nvPr/>
            </p:nvSpPr>
            <p:spPr>
              <a:xfrm>
                <a:off x="10474638" y="2153472"/>
                <a:ext cx="634917" cy="52322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sz="28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D3E7245-B958-BC6A-F592-E8AACCDCFA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74638" y="2153472"/>
                <a:ext cx="634917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59C2614-F73D-0E79-D865-C904C901808F}"/>
                  </a:ext>
                </a:extLst>
              </p:cNvPr>
              <p:cNvSpPr txBox="1"/>
              <p:nvPr/>
            </p:nvSpPr>
            <p:spPr>
              <a:xfrm>
                <a:off x="10487108" y="3076438"/>
                <a:ext cx="1244893" cy="56188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/2</m:t>
                          </m:r>
                        </m:sub>
                      </m:sSub>
                    </m:oMath>
                  </m:oMathPara>
                </a14:m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59C2614-F73D-0E79-D865-C904C90180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87108" y="3076438"/>
                <a:ext cx="1244893" cy="561885"/>
              </a:xfrm>
              <a:prstGeom prst="rect">
                <a:avLst/>
              </a:prstGeom>
              <a:blipFill>
                <a:blip r:embed="rId5"/>
                <a:stretch>
                  <a:fillRect b="-1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0E97BAE-C053-3A62-776A-DA0EF87F6A91}"/>
                  </a:ext>
                </a:extLst>
              </p:cNvPr>
              <p:cNvSpPr txBox="1"/>
              <p:nvPr/>
            </p:nvSpPr>
            <p:spPr>
              <a:xfrm>
                <a:off x="7444900" y="4508432"/>
                <a:ext cx="1858650" cy="5618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800" dirty="0"/>
                  <a:t> *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/2</m:t>
                        </m:r>
                      </m:sub>
                    </m:sSub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0E97BAE-C053-3A62-776A-DA0EF87F6A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4900" y="4508432"/>
                <a:ext cx="1858650" cy="561885"/>
              </a:xfrm>
              <a:prstGeom prst="rect">
                <a:avLst/>
              </a:prstGeom>
              <a:blipFill>
                <a:blip r:embed="rId6"/>
                <a:stretch>
                  <a:fillRect t="-11111" b="-24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E2D5C73D-64EA-7EA3-FB5F-36369388D3E3}"/>
                  </a:ext>
                </a:extLst>
              </p:cNvPr>
              <p:cNvSpPr txBox="1"/>
              <p:nvPr/>
            </p:nvSpPr>
            <p:spPr>
              <a:xfrm>
                <a:off x="276497" y="1340171"/>
                <a:ext cx="581950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b="1" dirty="0">
                    <a:sym typeface="Wingdings" pitchFamily="2" charset="2"/>
                  </a:rPr>
                  <a:t>Q. </a:t>
                </a:r>
                <a:r>
                  <a:rPr lang="en-US" sz="2800" b="0" dirty="0">
                    <a:sym typeface="Wingdings" pitchFamily="2" charset="2"/>
                  </a:rPr>
                  <a:t>What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𝑟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𝑥𝑥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sz="2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𝐿</m:t>
                        </m:r>
                      </m:e>
                    </m:d>
                  </m:oMath>
                </a14:m>
                <a:r>
                  <a:rPr lang="en-US" sz="2800" dirty="0"/>
                  <a:t> for</a:t>
                </a:r>
                <a:r>
                  <a:rPr lang="en-US" sz="2800" dirty="0">
                    <a:sym typeface="Wingdings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  <a:sym typeface="Wingdings" pitchFamily="2" charset="2"/>
                      </a:rPr>
                      <m:t>L</m:t>
                    </m:r>
                    <m:r>
                      <a:rPr lang="en-US" sz="2800" b="0" i="0" smtClean="0">
                        <a:latin typeface="Cambria Math" panose="02040503050406030204" pitchFamily="18" charset="0"/>
                        <a:sym typeface="Wingdings" pitchFamily="2" charset="2"/>
                      </a:rPr>
                      <m:t>=</m:t>
                    </m:r>
                    <m:r>
                      <m:rPr>
                        <m:sty m:val="p"/>
                      </m:rPr>
                      <a:rPr lang="el-GR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τ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/2</m:t>
                    </m:r>
                  </m:oMath>
                </a14:m>
                <a:r>
                  <a:rPr lang="en-US" sz="2800" dirty="0"/>
                  <a:t> ?</a:t>
                </a: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E2D5C73D-64EA-7EA3-FB5F-36369388D3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497" y="1340171"/>
                <a:ext cx="5819503" cy="523220"/>
              </a:xfrm>
              <a:prstGeom prst="rect">
                <a:avLst/>
              </a:prstGeom>
              <a:blipFill>
                <a:blip r:embed="rId8"/>
                <a:stretch>
                  <a:fillRect l="-2174" t="-11905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5528DC94-81B6-7949-7F34-90487043E132}"/>
                  </a:ext>
                </a:extLst>
              </p:cNvPr>
              <p:cNvSpPr txBox="1"/>
              <p:nvPr/>
            </p:nvSpPr>
            <p:spPr>
              <a:xfrm>
                <a:off x="7445556" y="5475031"/>
                <a:ext cx="6485708" cy="15696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𝑟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𝑥𝑥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/2</m:t>
                        </m:r>
                      </m:e>
                    </m:d>
                  </m:oMath>
                </a14:m>
                <a:r>
                  <a:rPr lang="en-US" sz="2800" dirty="0"/>
                  <a:t>~ big negative number</a:t>
                </a:r>
              </a:p>
              <a:p>
                <a:endParaRPr lang="en-US" sz="1200" dirty="0"/>
              </a:p>
              <a:p>
                <a:r>
                  <a:rPr lang="en-US" sz="2800" dirty="0"/>
                  <a:t>good anti-match</a:t>
                </a:r>
              </a:p>
              <a:p>
                <a:endParaRPr lang="en-US" sz="28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5528DC94-81B6-7949-7F34-90487043E1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5556" y="5475031"/>
                <a:ext cx="6485708" cy="1569660"/>
              </a:xfrm>
              <a:prstGeom prst="rect">
                <a:avLst/>
              </a:prstGeom>
              <a:blipFill>
                <a:blip r:embed="rId9"/>
                <a:stretch>
                  <a:fillRect l="-1957" t="-48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CC633091-700C-18CB-E39A-A885AF30F6ED}"/>
              </a:ext>
            </a:extLst>
          </p:cNvPr>
          <p:cNvGrpSpPr/>
          <p:nvPr/>
        </p:nvGrpSpPr>
        <p:grpSpPr>
          <a:xfrm>
            <a:off x="718181" y="4547097"/>
            <a:ext cx="6726719" cy="569022"/>
            <a:chOff x="1244491" y="3955707"/>
            <a:chExt cx="6726719" cy="56902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CC620F79-68C0-82AB-3CA1-866C1CAC5DF2}"/>
                    </a:ext>
                  </a:extLst>
                </p:cNvPr>
                <p:cNvSpPr txBox="1"/>
                <p:nvPr/>
              </p:nvSpPr>
              <p:spPr>
                <a:xfrm>
                  <a:off x="1244491" y="3955707"/>
                  <a:ext cx="634917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CC620F79-68C0-82AB-3CA1-866C1CAC5D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44491" y="3955707"/>
                  <a:ext cx="634917" cy="52322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EB8B4C3-CAA2-903E-3A80-ED377CBA2841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3132510" y="3965929"/>
              <a:ext cx="4838700" cy="558800"/>
            </a:xfrm>
            <a:prstGeom prst="rect">
              <a:avLst/>
            </a:prstGeom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D482DF8F-1BED-056B-866D-DD5FFEB6B0B3}"/>
              </a:ext>
            </a:extLst>
          </p:cNvPr>
          <p:cNvGrpSpPr/>
          <p:nvPr/>
        </p:nvGrpSpPr>
        <p:grpSpPr>
          <a:xfrm>
            <a:off x="280754" y="4951811"/>
            <a:ext cx="3432285" cy="593894"/>
            <a:chOff x="280754" y="4951811"/>
            <a:chExt cx="3432285" cy="593894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E1ABD4E-A5C2-603E-4B53-8D8ADB222207}"/>
                </a:ext>
              </a:extLst>
            </p:cNvPr>
            <p:cNvSpPr txBox="1"/>
            <p:nvPr/>
          </p:nvSpPr>
          <p:spPr>
            <a:xfrm>
              <a:off x="280754" y="5022485"/>
              <a:ext cx="144142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rgbClr val="FF0000"/>
                  </a:solidFill>
                </a:rPr>
                <a:t>multiply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B0AFD93A-BD7E-8A2E-9264-F45BBEDC3021}"/>
                </a:ext>
              </a:extLst>
            </p:cNvPr>
            <p:cNvCxnSpPr>
              <a:cxnSpLocks/>
            </p:cNvCxnSpPr>
            <p:nvPr/>
          </p:nvCxnSpPr>
          <p:spPr>
            <a:xfrm>
              <a:off x="2807981" y="5101156"/>
              <a:ext cx="0" cy="365879"/>
            </a:xfrm>
            <a:prstGeom prst="straightConnector1">
              <a:avLst/>
            </a:prstGeom>
            <a:ln w="25400">
              <a:solidFill>
                <a:srgbClr val="FF0000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95403FDE-B04F-BE06-E334-FEA0968C5AE4}"/>
                </a:ext>
              </a:extLst>
            </p:cNvPr>
            <p:cNvCxnSpPr>
              <a:cxnSpLocks/>
            </p:cNvCxnSpPr>
            <p:nvPr/>
          </p:nvCxnSpPr>
          <p:spPr>
            <a:xfrm>
              <a:off x="3033064" y="5105897"/>
              <a:ext cx="0" cy="365879"/>
            </a:xfrm>
            <a:prstGeom prst="straightConnector1">
              <a:avLst/>
            </a:prstGeom>
            <a:ln w="25400">
              <a:solidFill>
                <a:srgbClr val="FF0000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6B32FF3-903D-274C-5BBE-FEA5434C3081}"/>
                </a:ext>
              </a:extLst>
            </p:cNvPr>
            <p:cNvSpPr txBox="1"/>
            <p:nvPr/>
          </p:nvSpPr>
          <p:spPr>
            <a:xfrm>
              <a:off x="3220596" y="4951811"/>
              <a:ext cx="49244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rgbClr val="FF0000"/>
                  </a:solidFill>
                </a:rPr>
                <a:t>...</a:t>
              </a:r>
            </a:p>
          </p:txBody>
        </p:sp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4A14CDE2-B99A-AA24-B75F-EE27554E3E2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12217" y="5530035"/>
            <a:ext cx="4838700" cy="5588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48DB0ED-0FD5-0B1F-3E4E-0ACDC159CDD2}"/>
                  </a:ext>
                </a:extLst>
              </p:cNvPr>
              <p:cNvSpPr txBox="1"/>
              <p:nvPr/>
            </p:nvSpPr>
            <p:spPr>
              <a:xfrm>
                <a:off x="272930" y="5416723"/>
                <a:ext cx="1244893" cy="5618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/2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48DB0ED-0FD5-0B1F-3E4E-0ACDC159CD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930" y="5416723"/>
                <a:ext cx="1244893" cy="561885"/>
              </a:xfrm>
              <a:prstGeom prst="rect">
                <a:avLst/>
              </a:prstGeom>
              <a:blipFill>
                <a:blip r:embed="rId12"/>
                <a:stretch>
                  <a:fillRect b="-1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8F2355C-BBD2-867B-62EC-FEF912ACD6B4}"/>
                  </a:ext>
                </a:extLst>
              </p:cNvPr>
              <p:cNvSpPr txBox="1"/>
              <p:nvPr/>
            </p:nvSpPr>
            <p:spPr>
              <a:xfrm>
                <a:off x="9407892" y="4499265"/>
                <a:ext cx="98308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0</a:t>
                </a:r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8F2355C-BBD2-867B-62EC-FEF912ACD6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07892" y="4499265"/>
                <a:ext cx="983086" cy="523220"/>
              </a:xfrm>
              <a:prstGeom prst="rect">
                <a:avLst/>
              </a:prstGeom>
              <a:blipFill>
                <a:blip r:embed="rId13"/>
                <a:stretch>
                  <a:fillRect l="-3797" t="-14286" b="-309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2907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25" grpId="0"/>
      <p:bldP spid="34" grpId="0" build="p"/>
      <p:bldP spid="24" grpId="0"/>
      <p:bldP spid="2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B71738-B014-CB19-B873-A9F227F6F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615B7-7D14-D70D-FFBB-00E218AF4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Autocovariance (example)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D6664700-0EDE-E9E0-201A-95ACD62705A2}"/>
                  </a:ext>
                </a:extLst>
              </p:cNvPr>
              <p:cNvSpPr txBox="1"/>
              <p:nvPr/>
            </p:nvSpPr>
            <p:spPr>
              <a:xfrm>
                <a:off x="276497" y="1340171"/>
                <a:ext cx="581950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b="1" dirty="0">
                    <a:sym typeface="Wingdings" pitchFamily="2" charset="2"/>
                  </a:rPr>
                  <a:t>Q. </a:t>
                </a:r>
                <a:r>
                  <a:rPr lang="en-US" sz="2800" b="0" dirty="0">
                    <a:sym typeface="Wingdings" pitchFamily="2" charset="2"/>
                  </a:rPr>
                  <a:t>What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𝑟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𝑥𝑥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sz="2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𝐿</m:t>
                        </m:r>
                      </m:e>
                    </m:d>
                  </m:oMath>
                </a14:m>
                <a:r>
                  <a:rPr lang="en-US" sz="2800" dirty="0"/>
                  <a:t> for</a:t>
                </a:r>
                <a:r>
                  <a:rPr lang="en-US" sz="2800" dirty="0">
                    <a:sym typeface="Wingdings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  <a:sym typeface="Wingdings" pitchFamily="2" charset="2"/>
                      </a:rPr>
                      <m:t>L</m:t>
                    </m:r>
                    <m:r>
                      <a:rPr lang="en-US" sz="2800" b="0" i="0" smtClean="0">
                        <a:latin typeface="Cambria Math" panose="02040503050406030204" pitchFamily="18" charset="0"/>
                        <a:sym typeface="Wingdings" pitchFamily="2" charset="2"/>
                      </a:rPr>
                      <m:t>=</m:t>
                    </m:r>
                    <m:r>
                      <m:rPr>
                        <m:sty m:val="p"/>
                      </m:rPr>
                      <a:rPr lang="el-GR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τ</m:t>
                    </m:r>
                  </m:oMath>
                </a14:m>
                <a:r>
                  <a:rPr lang="en-US" sz="2800" dirty="0"/>
                  <a:t> ?</a:t>
                </a: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D6664700-0EDE-E9E0-201A-95ACD62705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497" y="1340171"/>
                <a:ext cx="5819503" cy="523220"/>
              </a:xfrm>
              <a:prstGeom prst="rect">
                <a:avLst/>
              </a:prstGeom>
              <a:blipFill>
                <a:blip r:embed="rId3"/>
                <a:stretch>
                  <a:fillRect l="-2174" t="-11905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21FE16C7-D273-D731-FFC3-DE2096AB457E}"/>
                  </a:ext>
                </a:extLst>
              </p:cNvPr>
              <p:cNvSpPr txBox="1"/>
              <p:nvPr/>
            </p:nvSpPr>
            <p:spPr>
              <a:xfrm>
                <a:off x="7357973" y="5376913"/>
                <a:ext cx="6485708" cy="15696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𝑟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𝑥𝑥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</m:d>
                  </m:oMath>
                </a14:m>
                <a:r>
                  <a:rPr lang="en-US" sz="2800" dirty="0"/>
                  <a:t>~ big positive number</a:t>
                </a:r>
              </a:p>
              <a:p>
                <a:endParaRPr lang="en-US" sz="1200" dirty="0"/>
              </a:p>
              <a:p>
                <a:r>
                  <a:rPr lang="en-US" sz="2800" dirty="0"/>
                  <a:t>good match (again)</a:t>
                </a:r>
              </a:p>
              <a:p>
                <a:endParaRPr lang="en-US" sz="28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21FE16C7-D273-D731-FFC3-DE2096AB45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7973" y="5376913"/>
                <a:ext cx="6485708" cy="1569660"/>
              </a:xfrm>
              <a:prstGeom prst="rect">
                <a:avLst/>
              </a:prstGeom>
              <a:blipFill>
                <a:blip r:embed="rId4"/>
                <a:stretch>
                  <a:fillRect l="-1953" t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3B37A958-7B8E-45F5-0D3C-F8E1AC200E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987139" y="1917001"/>
            <a:ext cx="12070150" cy="233517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9B94DF3-E3A8-2921-1C28-CEE7BA92AFBA}"/>
                  </a:ext>
                </a:extLst>
              </p:cNvPr>
              <p:cNvSpPr txBox="1"/>
              <p:nvPr/>
            </p:nvSpPr>
            <p:spPr>
              <a:xfrm>
                <a:off x="10118644" y="2184862"/>
                <a:ext cx="634917" cy="52322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sz="28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9B94DF3-E3A8-2921-1C28-CEE7BA92AF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18644" y="2184862"/>
                <a:ext cx="634917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36BE74A-CC25-B09D-40CD-F4115108A896}"/>
                  </a:ext>
                </a:extLst>
              </p:cNvPr>
              <p:cNvSpPr txBox="1"/>
              <p:nvPr/>
            </p:nvSpPr>
            <p:spPr>
              <a:xfrm>
                <a:off x="10118644" y="2819836"/>
                <a:ext cx="964367" cy="52322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sub>
                      </m:sSub>
                    </m:oMath>
                  </m:oMathPara>
                </a14:m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36BE74A-CC25-B09D-40CD-F4115108A8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18644" y="2819836"/>
                <a:ext cx="964367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C950BF6-B2DE-9E89-8897-5F395DDF2B38}"/>
                  </a:ext>
                </a:extLst>
              </p:cNvPr>
              <p:cNvSpPr txBox="1"/>
              <p:nvPr/>
            </p:nvSpPr>
            <p:spPr>
              <a:xfrm>
                <a:off x="7444900" y="4463152"/>
                <a:ext cx="157812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800" dirty="0"/>
                  <a:t> *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sub>
                    </m:sSub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C950BF6-B2DE-9E89-8897-5F395DDF2B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4900" y="4463152"/>
                <a:ext cx="1578124" cy="523220"/>
              </a:xfrm>
              <a:prstGeom prst="rect">
                <a:avLst/>
              </a:prstGeom>
              <a:blipFill>
                <a:blip r:embed="rId8"/>
                <a:stretch>
                  <a:fillRect t="-11905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BB253F57-B9FD-164E-0D24-698226BF9E23}"/>
              </a:ext>
            </a:extLst>
          </p:cNvPr>
          <p:cNvGrpSpPr/>
          <p:nvPr/>
        </p:nvGrpSpPr>
        <p:grpSpPr>
          <a:xfrm>
            <a:off x="718181" y="4529307"/>
            <a:ext cx="6749105" cy="558800"/>
            <a:chOff x="1244491" y="3937917"/>
            <a:chExt cx="6749105" cy="5588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723CCD05-BA41-627D-9AD0-83A668BCF2E8}"/>
                    </a:ext>
                  </a:extLst>
                </p:cNvPr>
                <p:cNvSpPr txBox="1"/>
                <p:nvPr/>
              </p:nvSpPr>
              <p:spPr>
                <a:xfrm>
                  <a:off x="1244491" y="3955707"/>
                  <a:ext cx="634917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723CCD05-BA41-627D-9AD0-83A668BCF2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44491" y="3955707"/>
                  <a:ext cx="634917" cy="52322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409D830A-4A15-CC67-338C-84DCC05B35F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3154896" y="3937917"/>
              <a:ext cx="4838700" cy="558800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7FF157C-C953-01BC-EDE8-A5E0CE640848}"/>
              </a:ext>
            </a:extLst>
          </p:cNvPr>
          <p:cNvGrpSpPr/>
          <p:nvPr/>
        </p:nvGrpSpPr>
        <p:grpSpPr>
          <a:xfrm>
            <a:off x="280754" y="4951811"/>
            <a:ext cx="3432285" cy="593894"/>
            <a:chOff x="280754" y="4951811"/>
            <a:chExt cx="3432285" cy="593894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7654BC0-12DC-BD4C-2B37-1156240CAFBC}"/>
                </a:ext>
              </a:extLst>
            </p:cNvPr>
            <p:cNvSpPr txBox="1"/>
            <p:nvPr/>
          </p:nvSpPr>
          <p:spPr>
            <a:xfrm>
              <a:off x="280754" y="5022485"/>
              <a:ext cx="144142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rgbClr val="FF0000"/>
                  </a:solidFill>
                </a:rPr>
                <a:t>multiply</a:t>
              </a: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40248CC5-5B2A-B904-90E8-A0075156DA2B}"/>
                </a:ext>
              </a:extLst>
            </p:cNvPr>
            <p:cNvCxnSpPr>
              <a:cxnSpLocks/>
            </p:cNvCxnSpPr>
            <p:nvPr/>
          </p:nvCxnSpPr>
          <p:spPr>
            <a:xfrm>
              <a:off x="2807981" y="5101156"/>
              <a:ext cx="0" cy="365879"/>
            </a:xfrm>
            <a:prstGeom prst="straightConnector1">
              <a:avLst/>
            </a:prstGeom>
            <a:ln w="25400">
              <a:solidFill>
                <a:srgbClr val="FF0000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193B6EB3-1CBA-48B4-FF15-E4B0D7B97109}"/>
                </a:ext>
              </a:extLst>
            </p:cNvPr>
            <p:cNvCxnSpPr>
              <a:cxnSpLocks/>
            </p:cNvCxnSpPr>
            <p:nvPr/>
          </p:nvCxnSpPr>
          <p:spPr>
            <a:xfrm>
              <a:off x="3033064" y="5105897"/>
              <a:ext cx="0" cy="365879"/>
            </a:xfrm>
            <a:prstGeom prst="straightConnector1">
              <a:avLst/>
            </a:prstGeom>
            <a:ln w="25400">
              <a:solidFill>
                <a:srgbClr val="FF0000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2F3905A-56F5-60E7-0773-E57EBE896E4C}"/>
                </a:ext>
              </a:extLst>
            </p:cNvPr>
            <p:cNvSpPr txBox="1"/>
            <p:nvPr/>
          </p:nvSpPr>
          <p:spPr>
            <a:xfrm>
              <a:off x="3220596" y="4951811"/>
              <a:ext cx="49244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rgbClr val="FF0000"/>
                  </a:solidFill>
                </a:rPr>
                <a:t>...</a:t>
              </a:r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B6A1C368-4E47-5A43-7F18-BE1C19DBDB0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41294" y="5471776"/>
            <a:ext cx="4838700" cy="5588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44FB815-3B88-36B6-9E32-BA4F439FC306}"/>
                  </a:ext>
                </a:extLst>
              </p:cNvPr>
              <p:cNvSpPr txBox="1"/>
              <p:nvPr/>
            </p:nvSpPr>
            <p:spPr>
              <a:xfrm>
                <a:off x="272930" y="5416723"/>
                <a:ext cx="96436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44FB815-3B88-36B6-9E32-BA4F439FC3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930" y="5416723"/>
                <a:ext cx="964367" cy="523220"/>
              </a:xfrm>
              <a:prstGeom prst="rect">
                <a:avLst/>
              </a:prstGeom>
              <a:blipFill>
                <a:blip r:embed="rId11"/>
                <a:stretch>
                  <a:fillRect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D714DC3-29E0-C1A1-F9BE-7961D6A5C450}"/>
                  </a:ext>
                </a:extLst>
              </p:cNvPr>
              <p:cNvSpPr txBox="1"/>
              <p:nvPr/>
            </p:nvSpPr>
            <p:spPr>
              <a:xfrm>
                <a:off x="8984545" y="4458595"/>
                <a:ext cx="209846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0 mostly</a:t>
                </a:r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D714DC3-29E0-C1A1-F9BE-7961D6A5C4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84545" y="4458595"/>
                <a:ext cx="2098466" cy="523220"/>
              </a:xfrm>
              <a:prstGeom prst="rect">
                <a:avLst/>
              </a:prstGeom>
              <a:blipFill>
                <a:blip r:embed="rId12"/>
                <a:stretch>
                  <a:fillRect l="-1807" t="-9302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44355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build="p"/>
      <p:bldP spid="5" grpId="0" animBg="1"/>
      <p:bldP spid="7" grpId="0" animBg="1"/>
      <p:bldP spid="11" grpId="0"/>
      <p:bldP spid="24" grpId="0"/>
      <p:bldP spid="2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0F6586-7928-6384-F439-6C708D5D6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8D594-00B3-814E-0C85-F5B801870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Autocovariance (example)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625E5F32-47ED-F0C8-9712-D978F21593CD}"/>
                  </a:ext>
                </a:extLst>
              </p:cNvPr>
              <p:cNvSpPr txBox="1"/>
              <p:nvPr/>
            </p:nvSpPr>
            <p:spPr>
              <a:xfrm>
                <a:off x="276497" y="1340171"/>
                <a:ext cx="581950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b="1" dirty="0">
                    <a:sym typeface="Wingdings" pitchFamily="2" charset="2"/>
                  </a:rPr>
                  <a:t>Q. </a:t>
                </a:r>
                <a:r>
                  <a:rPr lang="en-US" sz="2800" b="0" dirty="0">
                    <a:sym typeface="Wingdings" pitchFamily="2" charset="2"/>
                  </a:rPr>
                  <a:t>Plot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𝑟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𝑥𝑥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sz="2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𝐿</m:t>
                        </m:r>
                      </m:e>
                    </m:d>
                  </m:oMath>
                </a14:m>
                <a:r>
                  <a:rPr lang="en-US" sz="2800" dirty="0"/>
                  <a:t> versus</a:t>
                </a:r>
                <a:r>
                  <a:rPr lang="en-US" sz="2800" dirty="0">
                    <a:sym typeface="Wingdings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  <a:sym typeface="Wingdings" pitchFamily="2" charset="2"/>
                      </a:rPr>
                      <m:t>L</m:t>
                    </m:r>
                    <m:r>
                      <a:rPr lang="en-US" sz="2800" b="0" i="0" smtClean="0">
                        <a:latin typeface="Cambria Math" panose="02040503050406030204" pitchFamily="18" charset="0"/>
                        <a:sym typeface="Wingdings" pitchFamily="2" charset="2"/>
                      </a:rPr>
                      <m:t>?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625E5F32-47ED-F0C8-9712-D978F21593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497" y="1340171"/>
                <a:ext cx="5819503" cy="523220"/>
              </a:xfrm>
              <a:prstGeom prst="rect">
                <a:avLst/>
              </a:prstGeom>
              <a:blipFill>
                <a:blip r:embed="rId3"/>
                <a:stretch>
                  <a:fillRect l="-2174" t="-11905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1" name="Group 40">
            <a:extLst>
              <a:ext uri="{FF2B5EF4-FFF2-40B4-BE49-F238E27FC236}">
                <a16:creationId xmlns:a16="http://schemas.microsoft.com/office/drawing/2014/main" id="{130B3726-AA00-6FBB-7D4F-72D012C32013}"/>
              </a:ext>
            </a:extLst>
          </p:cNvPr>
          <p:cNvGrpSpPr/>
          <p:nvPr/>
        </p:nvGrpSpPr>
        <p:grpSpPr>
          <a:xfrm>
            <a:off x="2683917" y="1695603"/>
            <a:ext cx="7641179" cy="4076486"/>
            <a:chOff x="2653937" y="2481068"/>
            <a:chExt cx="7641179" cy="4076486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33D261B1-CC3F-B766-859A-9998C8AFFC03}"/>
                </a:ext>
              </a:extLst>
            </p:cNvPr>
            <p:cNvGrpSpPr/>
            <p:nvPr/>
          </p:nvGrpSpPr>
          <p:grpSpPr>
            <a:xfrm>
              <a:off x="2653937" y="2926080"/>
              <a:ext cx="6884125" cy="3631474"/>
              <a:chOff x="2586446" y="2076994"/>
              <a:chExt cx="6884125" cy="3631474"/>
            </a:xfrm>
          </p:grpSpPr>
          <p:cxnSp>
            <p:nvCxnSpPr>
              <p:cNvPr id="5" name="Straight Connector 4">
                <a:extLst>
                  <a:ext uri="{FF2B5EF4-FFF2-40B4-BE49-F238E27FC236}">
                    <a16:creationId xmlns:a16="http://schemas.microsoft.com/office/drawing/2014/main" id="{49EDE1F6-92AF-64A0-B79A-C9DA91FB0A3D}"/>
                  </a:ext>
                </a:extLst>
              </p:cNvPr>
              <p:cNvCxnSpPr/>
              <p:nvPr/>
            </p:nvCxnSpPr>
            <p:spPr>
              <a:xfrm>
                <a:off x="2586446" y="4271554"/>
                <a:ext cx="6884125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EE125FB2-1653-1619-97A9-519A51733050}"/>
                  </a:ext>
                </a:extLst>
              </p:cNvPr>
              <p:cNvCxnSpPr/>
              <p:nvPr/>
            </p:nvCxnSpPr>
            <p:spPr>
              <a:xfrm>
                <a:off x="6056811" y="2076994"/>
                <a:ext cx="0" cy="3631474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29AC043-A656-02D5-70F5-2AFD645A2D49}"/>
                </a:ext>
              </a:extLst>
            </p:cNvPr>
            <p:cNvSpPr txBox="1"/>
            <p:nvPr/>
          </p:nvSpPr>
          <p:spPr>
            <a:xfrm>
              <a:off x="9594668" y="4935974"/>
              <a:ext cx="7004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Lag L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0BF6A7F6-448F-651B-AA01-001F4E9DF6B4}"/>
                    </a:ext>
                  </a:extLst>
                </p:cNvPr>
                <p:cNvSpPr txBox="1"/>
                <p:nvPr/>
              </p:nvSpPr>
              <p:spPr>
                <a:xfrm>
                  <a:off x="5726975" y="2481068"/>
                  <a:ext cx="738048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sym typeface="Wingdings" pitchFamily="2" charset="2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  <a:sym typeface="Wingdings" pitchFamily="2" charset="2"/>
                            </a:rPr>
                            <m:t>𝑟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  <a:sym typeface="Wingdings" pitchFamily="2" charset="2"/>
                            </a:rPr>
                            <m:t>𝑥𝑥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sym typeface="Wingdings" pitchFamily="2" charset="2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  <a:sym typeface="Wingdings" pitchFamily="2" charset="2"/>
                            </a:rPr>
                            <m:t>𝐿</m:t>
                          </m:r>
                        </m:e>
                      </m:d>
                    </m:oMath>
                  </a14:m>
                  <a:r>
                    <a:rPr lang="en-US" sz="1800" dirty="0"/>
                    <a:t> 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0BF6A7F6-448F-651B-AA01-001F4E9DF6B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26975" y="2481068"/>
                  <a:ext cx="738048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A7B09933-02A7-8588-CF56-6401754D6D4A}"/>
              </a:ext>
            </a:extLst>
          </p:cNvPr>
          <p:cNvGrpSpPr/>
          <p:nvPr/>
        </p:nvGrpSpPr>
        <p:grpSpPr>
          <a:xfrm>
            <a:off x="6060664" y="2337219"/>
            <a:ext cx="734182" cy="369332"/>
            <a:chOff x="6030684" y="3122684"/>
            <a:chExt cx="734182" cy="369332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E9D011FE-652C-BDC3-ACD0-92E32345E29D}"/>
                </a:ext>
              </a:extLst>
            </p:cNvPr>
            <p:cNvSpPr/>
            <p:nvPr/>
          </p:nvSpPr>
          <p:spPr>
            <a:xfrm>
              <a:off x="6030684" y="3200400"/>
              <a:ext cx="174172" cy="17417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FF0000"/>
                  </a:solidFill>
                </a:ln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A19C4D4-4B2D-EC70-E930-89CEA580CBE7}"/>
                </a:ext>
              </a:extLst>
            </p:cNvPr>
            <p:cNvSpPr txBox="1"/>
            <p:nvPr/>
          </p:nvSpPr>
          <p:spPr>
            <a:xfrm>
              <a:off x="6217921" y="3122684"/>
              <a:ext cx="54694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L=0</a:t>
              </a: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742F9222-F477-C45B-46E0-E56993A5FE58}"/>
              </a:ext>
            </a:extLst>
          </p:cNvPr>
          <p:cNvGrpSpPr/>
          <p:nvPr/>
        </p:nvGrpSpPr>
        <p:grpSpPr>
          <a:xfrm>
            <a:off x="6525422" y="2934978"/>
            <a:ext cx="721117" cy="369332"/>
            <a:chOff x="6495442" y="3720443"/>
            <a:chExt cx="721117" cy="369332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4EBF8404-4EE4-5C0C-E6C1-5E03789C6DD0}"/>
                </a:ext>
              </a:extLst>
            </p:cNvPr>
            <p:cNvSpPr/>
            <p:nvPr/>
          </p:nvSpPr>
          <p:spPr>
            <a:xfrm>
              <a:off x="6495442" y="3811348"/>
              <a:ext cx="174172" cy="17417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FF0000"/>
                  </a:solidFill>
                </a:ln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668B52A-E62C-2031-2B59-97BED715E17D}"/>
                </a:ext>
              </a:extLst>
            </p:cNvPr>
            <p:cNvSpPr txBox="1"/>
            <p:nvPr/>
          </p:nvSpPr>
          <p:spPr>
            <a:xfrm>
              <a:off x="6669614" y="3720443"/>
              <a:ext cx="54694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L&gt;0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336F70D1-A7DD-3A89-23A7-09584B737864}"/>
              </a:ext>
            </a:extLst>
          </p:cNvPr>
          <p:cNvGrpSpPr/>
          <p:nvPr/>
        </p:nvGrpSpPr>
        <p:grpSpPr>
          <a:xfrm>
            <a:off x="7786186" y="5470296"/>
            <a:ext cx="996961" cy="369332"/>
            <a:chOff x="7756206" y="6255761"/>
            <a:chExt cx="996961" cy="369332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0D4DA154-D287-2412-2527-42CA40A698EE}"/>
                </a:ext>
              </a:extLst>
            </p:cNvPr>
            <p:cNvSpPr/>
            <p:nvPr/>
          </p:nvSpPr>
          <p:spPr>
            <a:xfrm>
              <a:off x="7756206" y="6346666"/>
              <a:ext cx="174172" cy="17417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FF0000"/>
                  </a:solidFill>
                </a:ln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F0E471AA-1E81-930F-B035-CAB769D4F576}"/>
                    </a:ext>
                  </a:extLst>
                </p:cNvPr>
                <p:cNvSpPr txBox="1"/>
                <p:nvPr/>
              </p:nvSpPr>
              <p:spPr>
                <a:xfrm>
                  <a:off x="7930378" y="6255761"/>
                  <a:ext cx="82278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L=</a:t>
                  </a:r>
                  <a:r>
                    <a:rPr lang="en-US" sz="1800" b="0" dirty="0">
                      <a:sym typeface="Wingdings" pitchFamily="2" charset="2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itchFamily="2" charset="2"/>
                        </a:rPr>
                        <m:t>𝜏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itchFamily="2" charset="2"/>
                        </a:rPr>
                        <m:t>/2</m:t>
                      </m:r>
                    </m:oMath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F0E471AA-1E81-930F-B035-CAB769D4F57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30378" y="6255761"/>
                  <a:ext cx="822789" cy="369332"/>
                </a:xfrm>
                <a:prstGeom prst="rect">
                  <a:avLst/>
                </a:prstGeom>
                <a:blipFill>
                  <a:blip r:embed="rId5"/>
                  <a:stretch>
                    <a:fillRect l="-6061" t="-6667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21920787-4BAD-06EB-72C3-D6A80CAD96A9}"/>
              </a:ext>
            </a:extLst>
          </p:cNvPr>
          <p:cNvGrpSpPr/>
          <p:nvPr/>
        </p:nvGrpSpPr>
        <p:grpSpPr>
          <a:xfrm>
            <a:off x="9531029" y="2267940"/>
            <a:ext cx="754908" cy="369332"/>
            <a:chOff x="9501049" y="2977205"/>
            <a:chExt cx="754908" cy="369332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A936E768-4299-EA68-1652-449D48CF056F}"/>
                </a:ext>
              </a:extLst>
            </p:cNvPr>
            <p:cNvSpPr/>
            <p:nvPr/>
          </p:nvSpPr>
          <p:spPr>
            <a:xfrm>
              <a:off x="9501049" y="3068110"/>
              <a:ext cx="174172" cy="17417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FF0000"/>
                  </a:solidFill>
                </a:ln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354B8EFA-7703-16FF-CCC6-CEC4946FA09D}"/>
                    </a:ext>
                  </a:extLst>
                </p:cNvPr>
                <p:cNvSpPr txBox="1"/>
                <p:nvPr/>
              </p:nvSpPr>
              <p:spPr>
                <a:xfrm>
                  <a:off x="9675221" y="2977205"/>
                  <a:ext cx="58073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L=</a:t>
                  </a:r>
                  <a:r>
                    <a:rPr lang="en-US" sz="1800" b="0" dirty="0">
                      <a:sym typeface="Wingdings" pitchFamily="2" charset="2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itchFamily="2" charset="2"/>
                        </a:rPr>
                        <m:t>𝜏</m:t>
                      </m:r>
                    </m:oMath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354B8EFA-7703-16FF-CCC6-CEC4946FA0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75221" y="2977205"/>
                  <a:ext cx="580736" cy="369332"/>
                </a:xfrm>
                <a:prstGeom prst="rect">
                  <a:avLst/>
                </a:prstGeom>
                <a:blipFill>
                  <a:blip r:embed="rId6"/>
                  <a:stretch>
                    <a:fillRect l="-8696" t="-6667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EADCE426-F86B-0165-B020-260877AD2080}"/>
              </a:ext>
            </a:extLst>
          </p:cNvPr>
          <p:cNvGrpSpPr/>
          <p:nvPr/>
        </p:nvGrpSpPr>
        <p:grpSpPr>
          <a:xfrm>
            <a:off x="5060392" y="2956284"/>
            <a:ext cx="713290" cy="369332"/>
            <a:chOff x="5030412" y="3741749"/>
            <a:chExt cx="713290" cy="369332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E7FFEE12-ED83-4F72-FEB0-B7A0F8A40011}"/>
                </a:ext>
              </a:extLst>
            </p:cNvPr>
            <p:cNvSpPr/>
            <p:nvPr/>
          </p:nvSpPr>
          <p:spPr>
            <a:xfrm>
              <a:off x="5569530" y="3811348"/>
              <a:ext cx="174172" cy="174172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FF0000"/>
                  </a:solidFill>
                </a:ln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4D8D8F4F-C496-EFD9-E5C4-D736DD4B4886}"/>
                </a:ext>
              </a:extLst>
            </p:cNvPr>
            <p:cNvSpPr txBox="1"/>
            <p:nvPr/>
          </p:nvSpPr>
          <p:spPr>
            <a:xfrm>
              <a:off x="5030412" y="3741749"/>
              <a:ext cx="54694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L&lt;0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94F77698-7D5F-C447-AD3C-AA6D03A4E7A4}"/>
              </a:ext>
            </a:extLst>
          </p:cNvPr>
          <p:cNvGrpSpPr/>
          <p:nvPr/>
        </p:nvGrpSpPr>
        <p:grpSpPr>
          <a:xfrm>
            <a:off x="3727447" y="5445582"/>
            <a:ext cx="1159256" cy="369332"/>
            <a:chOff x="3697467" y="6231047"/>
            <a:chExt cx="1159256" cy="369332"/>
          </a:xfrm>
        </p:grpSpPr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C3D481DB-1BF6-01FE-94A5-E1E78BB6FB13}"/>
                </a:ext>
              </a:extLst>
            </p:cNvPr>
            <p:cNvSpPr/>
            <p:nvPr/>
          </p:nvSpPr>
          <p:spPr>
            <a:xfrm>
              <a:off x="4682551" y="6325360"/>
              <a:ext cx="174172" cy="174172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FF0000"/>
                  </a:solidFill>
                </a:ln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C4BAB01C-5F80-C624-71C8-6727E725F32A}"/>
                    </a:ext>
                  </a:extLst>
                </p:cNvPr>
                <p:cNvSpPr txBox="1"/>
                <p:nvPr/>
              </p:nvSpPr>
              <p:spPr>
                <a:xfrm>
                  <a:off x="3697467" y="6231047"/>
                  <a:ext cx="115808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L =</a:t>
                  </a:r>
                  <a:r>
                    <a:rPr lang="en-US" sz="1800" b="0" dirty="0">
                      <a:sym typeface="Wingdings" pitchFamily="2" charset="2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sz="1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itchFamily="2" charset="2"/>
                        </a:rPr>
                        <m:t>−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itchFamily="2" charset="2"/>
                        </a:rPr>
                        <m:t>𝜏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itchFamily="2" charset="2"/>
                        </a:rPr>
                        <m:t>/2</m:t>
                      </m:r>
                    </m:oMath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C4BAB01C-5F80-C624-71C8-6727E725F3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97467" y="6231047"/>
                  <a:ext cx="1158080" cy="369332"/>
                </a:xfrm>
                <a:prstGeom prst="rect">
                  <a:avLst/>
                </a:prstGeom>
                <a:blipFill>
                  <a:blip r:embed="rId7"/>
                  <a:stretch>
                    <a:fillRect l="-4348" t="-6667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CA31EEE4-4E25-2B62-E017-E8B9AB1EF6AC}"/>
              </a:ext>
            </a:extLst>
          </p:cNvPr>
          <p:cNvGrpSpPr/>
          <p:nvPr/>
        </p:nvGrpSpPr>
        <p:grpSpPr>
          <a:xfrm>
            <a:off x="2416127" y="2191740"/>
            <a:ext cx="979329" cy="369332"/>
            <a:chOff x="2386147" y="2977205"/>
            <a:chExt cx="979329" cy="369332"/>
          </a:xfrm>
        </p:grpSpPr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A352212A-BE9A-0890-3518-0F313D539903}"/>
                </a:ext>
              </a:extLst>
            </p:cNvPr>
            <p:cNvSpPr/>
            <p:nvPr/>
          </p:nvSpPr>
          <p:spPr>
            <a:xfrm>
              <a:off x="2386147" y="3068110"/>
              <a:ext cx="174172" cy="174172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FF0000"/>
                  </a:solidFill>
                </a:ln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952ADE9D-91B5-01C7-9463-FDF76AD0501B}"/>
                    </a:ext>
                  </a:extLst>
                </p:cNvPr>
                <p:cNvSpPr txBox="1"/>
                <p:nvPr/>
              </p:nvSpPr>
              <p:spPr>
                <a:xfrm>
                  <a:off x="2560319" y="2977205"/>
                  <a:ext cx="80515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L=</a:t>
                  </a:r>
                  <a:r>
                    <a:rPr lang="en-US" sz="1800" b="0" dirty="0">
                      <a:sym typeface="Wingdings" pitchFamily="2" charset="2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itchFamily="2" charset="2"/>
                        </a:rPr>
                        <m:t>− 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itchFamily="2" charset="2"/>
                        </a:rPr>
                        <m:t>𝜏</m:t>
                      </m:r>
                    </m:oMath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952ADE9D-91B5-01C7-9463-FDF76AD050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60319" y="2977205"/>
                  <a:ext cx="805157" cy="369332"/>
                </a:xfrm>
                <a:prstGeom prst="rect">
                  <a:avLst/>
                </a:prstGeom>
                <a:blipFill>
                  <a:blip r:embed="rId8"/>
                  <a:stretch>
                    <a:fillRect l="-6250" t="-6667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C9EFA335-8C7F-23D4-03F2-864AFD301489}"/>
              </a:ext>
            </a:extLst>
          </p:cNvPr>
          <p:cNvGrpSpPr/>
          <p:nvPr/>
        </p:nvGrpSpPr>
        <p:grpSpPr>
          <a:xfrm>
            <a:off x="2515185" y="2303951"/>
            <a:ext cx="7075675" cy="3410116"/>
            <a:chOff x="2485205" y="3089416"/>
            <a:chExt cx="7075675" cy="3410116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AB8112B3-7B29-9F67-CAFF-F9E28B1BA5B6}"/>
                    </a:ext>
                  </a:extLst>
                </p14:cNvPr>
                <p14:cNvContentPartPr/>
                <p14:nvPr/>
              </p14:nvContentPartPr>
              <p14:xfrm>
                <a:off x="2485205" y="3089416"/>
                <a:ext cx="5346720" cy="3410116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AB8112B3-7B29-9F67-CAFF-F9E28B1BA5B6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467205" y="3071415"/>
                  <a:ext cx="5382360" cy="344575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E14B442C-4DBA-6EF6-8F3D-098DE7A071C0}"/>
                    </a:ext>
                  </a:extLst>
                </p14:cNvPr>
                <p14:cNvContentPartPr/>
                <p14:nvPr/>
              </p14:nvContentPartPr>
              <p14:xfrm>
                <a:off x="7858800" y="3192431"/>
                <a:ext cx="1702080" cy="32349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E14B442C-4DBA-6EF6-8F3D-098DE7A071C0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840800" y="3174791"/>
                  <a:ext cx="1737720" cy="3270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DCB7D6D-14CC-C9B4-368F-78FD9D2707B5}"/>
                  </a:ext>
                </a:extLst>
              </p:cNvPr>
              <p:cNvSpPr txBox="1"/>
              <p:nvPr/>
            </p:nvSpPr>
            <p:spPr>
              <a:xfrm>
                <a:off x="2992877" y="6150111"/>
                <a:ext cx="255073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solidFill>
                      <a:prstClr val="black"/>
                    </a:solidFill>
                    <a:sym typeface="Wingdings" pitchFamily="2" charset="2"/>
                  </a:rPr>
                  <a:t>periodic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Wingdings" pitchFamily="2" charset="2"/>
                          </a:rPr>
                          <m:t>𝑟</m:t>
                        </m:r>
                      </m:e>
                      <m:sub>
                        <m:r>
                          <a:rPr lang="en-US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Wingdings" pitchFamily="2" charset="2"/>
                          </a:rPr>
                          <m:t>𝑥𝑥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dPr>
                      <m:e>
                        <m:r>
                          <a:rPr lang="en-US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Wingdings" pitchFamily="2" charset="2"/>
                          </a:rPr>
                          <m:t>𝐿</m:t>
                        </m:r>
                      </m:e>
                    </m:d>
                  </m:oMath>
                </a14:m>
                <a:r>
                  <a:rPr lang="en-US" sz="2800" dirty="0">
                    <a:solidFill>
                      <a:prstClr val="black"/>
                    </a:solidFill>
                    <a:sym typeface="Wingdings" pitchFamily="2" charset="2"/>
                  </a:rPr>
                  <a:t> </a:t>
                </a:r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DCB7D6D-14CC-C9B4-368F-78FD9D2707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2877" y="6150111"/>
                <a:ext cx="2550730" cy="523220"/>
              </a:xfrm>
              <a:prstGeom prst="rect">
                <a:avLst/>
              </a:prstGeom>
              <a:blipFill>
                <a:blip r:embed="rId13"/>
                <a:stretch>
                  <a:fillRect l="-4950" t="-11905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1EE34B51-E3F9-B68A-55B7-7AE8131F7E6B}"/>
              </a:ext>
            </a:extLst>
          </p:cNvPr>
          <p:cNvGrpSpPr/>
          <p:nvPr/>
        </p:nvGrpSpPr>
        <p:grpSpPr>
          <a:xfrm>
            <a:off x="118619" y="5437373"/>
            <a:ext cx="2987058" cy="1251853"/>
            <a:chOff x="118619" y="5437373"/>
            <a:chExt cx="2987058" cy="1251853"/>
          </a:xfrm>
        </p:grpSpPr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53EC2D59-958D-D9D0-EDB9-42FEE22F07A4}"/>
                </a:ext>
              </a:extLst>
            </p:cNvPr>
            <p:cNvSpPr txBox="1"/>
            <p:nvPr/>
          </p:nvSpPr>
          <p:spPr>
            <a:xfrm>
              <a:off x="495488" y="6166006"/>
              <a:ext cx="239931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Periodic x     </a:t>
              </a:r>
              <a:r>
                <a:rPr lang="en-US" sz="2800" dirty="0">
                  <a:sym typeface="Wingdings" pitchFamily="2" charset="2"/>
                </a:rPr>
                <a:t></a:t>
              </a:r>
              <a:endParaRPr lang="en-US" sz="2800" dirty="0"/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8FEF0720-ED2F-B527-71DD-78F8DE0F823B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rcRect l="11979" r="8709"/>
            <a:stretch/>
          </p:blipFill>
          <p:spPr>
            <a:xfrm flipV="1">
              <a:off x="118619" y="5437373"/>
              <a:ext cx="2987058" cy="72863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11606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040C77-2BBE-DC9E-444C-D4E083F5D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B3645-FD3A-0030-AF07-FF65648F2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Autocovariance (example 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1ADA5E-3310-F3F7-ADB9-032331665D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Consider these noisy data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B78F8A7-698F-45E8-13EC-F72CDABCD78E}"/>
              </a:ext>
            </a:extLst>
          </p:cNvPr>
          <p:cNvGrpSpPr/>
          <p:nvPr/>
        </p:nvGrpSpPr>
        <p:grpSpPr>
          <a:xfrm>
            <a:off x="-374667" y="1845332"/>
            <a:ext cx="11166764" cy="2160403"/>
            <a:chOff x="-374667" y="1845332"/>
            <a:chExt cx="11166764" cy="2160403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06624A0A-8F36-6789-BDA8-2DA86851BF9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374667" y="1845332"/>
              <a:ext cx="11166764" cy="2160403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65AC3C7D-8492-0FB1-619D-8BE051F0CB49}"/>
                    </a:ext>
                  </a:extLst>
                </p:cNvPr>
                <p:cNvSpPr txBox="1"/>
                <p:nvPr/>
              </p:nvSpPr>
              <p:spPr>
                <a:xfrm>
                  <a:off x="9967471" y="2467588"/>
                  <a:ext cx="634917" cy="52322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65AC3C7D-8492-0FB1-619D-8BE051F0CB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67471" y="2467588"/>
                  <a:ext cx="634917" cy="52322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4DA7EBA-1765-E768-F723-E2B714783203}"/>
                  </a:ext>
                </a:extLst>
              </p:cNvPr>
              <p:cNvSpPr txBox="1"/>
              <p:nvPr/>
            </p:nvSpPr>
            <p:spPr>
              <a:xfrm>
                <a:off x="837690" y="3806342"/>
                <a:ext cx="5493363" cy="13849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Here,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800" dirty="0"/>
                  <a:t> (Gaussian) random noise</a:t>
                </a:r>
              </a:p>
              <a:p>
                <a:r>
                  <a:rPr lang="en-US" sz="2800" dirty="0"/>
                  <a:t> </a:t>
                </a:r>
              </a:p>
              <a:p>
                <a:endParaRPr lang="en-US" sz="2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4DA7EBA-1765-E768-F723-E2B7147832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690" y="3806342"/>
                <a:ext cx="5493363" cy="1384995"/>
              </a:xfrm>
              <a:prstGeom prst="rect">
                <a:avLst/>
              </a:prstGeom>
              <a:blipFill>
                <a:blip r:embed="rId4"/>
                <a:stretch>
                  <a:fillRect l="-2074" t="-4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D38B6CC-2DC5-1F1E-A2EF-67B29642A2DE}"/>
                  </a:ext>
                </a:extLst>
              </p:cNvPr>
              <p:cNvSpPr txBox="1"/>
              <p:nvPr/>
            </p:nvSpPr>
            <p:spPr>
              <a:xfrm>
                <a:off x="837690" y="4425482"/>
                <a:ext cx="469660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assume mean = 0 (i.e.,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800" dirty="0"/>
                  <a:t>)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D38B6CC-2DC5-1F1E-A2EF-67B29642A2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690" y="4425482"/>
                <a:ext cx="4696607" cy="523220"/>
              </a:xfrm>
              <a:prstGeom prst="rect">
                <a:avLst/>
              </a:prstGeom>
              <a:blipFill>
                <a:blip r:embed="rId5"/>
                <a:stretch>
                  <a:fillRect l="-2426" t="-11905" r="-1887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F8301D3-57D8-5FD4-49DF-6F3D0523509D}"/>
                  </a:ext>
                </a:extLst>
              </p:cNvPr>
              <p:cNvSpPr txBox="1"/>
              <p:nvPr/>
            </p:nvSpPr>
            <p:spPr>
              <a:xfrm>
                <a:off x="546319" y="5317431"/>
                <a:ext cx="436958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b="1" dirty="0">
                    <a:sym typeface="Wingdings" pitchFamily="2" charset="2"/>
                  </a:rPr>
                  <a:t>Q. </a:t>
                </a:r>
                <a:r>
                  <a:rPr lang="en-US" sz="2800" b="0" dirty="0">
                    <a:sym typeface="Wingdings" pitchFamily="2" charset="2"/>
                  </a:rPr>
                  <a:t>What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𝑟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𝑥𝑥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[0]</m:t>
                    </m:r>
                  </m:oMath>
                </a14:m>
                <a:r>
                  <a:rPr lang="en-US" sz="2800" dirty="0"/>
                  <a:t> ?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F8301D3-57D8-5FD4-49DF-6F3D052350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319" y="5317431"/>
                <a:ext cx="4369587" cy="523220"/>
              </a:xfrm>
              <a:prstGeom prst="rect">
                <a:avLst/>
              </a:prstGeom>
              <a:blipFill>
                <a:blip r:embed="rId6"/>
                <a:stretch>
                  <a:fillRect l="-2907" t="-11905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C2A33BA-8B5F-A3EC-F6FC-0DB18AB13BFF}"/>
                  </a:ext>
                </a:extLst>
              </p:cNvPr>
              <p:cNvSpPr txBox="1"/>
              <p:nvPr/>
            </p:nvSpPr>
            <p:spPr>
              <a:xfrm>
                <a:off x="546319" y="5966745"/>
                <a:ext cx="581950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b="1" dirty="0">
                    <a:sym typeface="Wingdings" pitchFamily="2" charset="2"/>
                  </a:rPr>
                  <a:t>Q. </a:t>
                </a:r>
                <a:r>
                  <a:rPr lang="en-US" sz="2800" b="0" dirty="0">
                    <a:sym typeface="Wingdings" pitchFamily="2" charset="2"/>
                  </a:rPr>
                  <a:t>What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𝑟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𝑥𝑥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sz="2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𝐿</m:t>
                        </m:r>
                      </m:e>
                    </m:d>
                  </m:oMath>
                </a14:m>
                <a:r>
                  <a:rPr lang="en-US" sz="2800" dirty="0"/>
                  <a:t> versus</a:t>
                </a:r>
                <a:r>
                  <a:rPr lang="en-US" sz="2800" dirty="0">
                    <a:sym typeface="Wingdings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  <a:sym typeface="Wingdings" pitchFamily="2" charset="2"/>
                      </a:rPr>
                      <m:t>L</m:t>
                    </m:r>
                    <m:r>
                      <a:rPr lang="en-US" sz="2800" b="0" i="0" smtClean="0">
                        <a:latin typeface="Cambria Math" panose="02040503050406030204" pitchFamily="18" charset="0"/>
                        <a:sym typeface="Wingdings" pitchFamily="2" charset="2"/>
                      </a:rPr>
                      <m:t>?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C2A33BA-8B5F-A3EC-F6FC-0DB18AB13B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319" y="5966745"/>
                <a:ext cx="5819503" cy="523220"/>
              </a:xfrm>
              <a:prstGeom prst="rect">
                <a:avLst/>
              </a:prstGeom>
              <a:blipFill>
                <a:blip r:embed="rId7"/>
                <a:stretch>
                  <a:fillRect l="-2179" t="-11628" b="-302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13">
            <a:extLst>
              <a:ext uri="{FF2B5EF4-FFF2-40B4-BE49-F238E27FC236}">
                <a16:creationId xmlns:a16="http://schemas.microsoft.com/office/drawing/2014/main" id="{7BADB6CF-964F-0135-C73F-3665D1F3745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65822" y="4749800"/>
            <a:ext cx="5029200" cy="210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5239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/>
      <p:bldP spid="5" grpId="0"/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C6F31-B349-4B30-27E9-35E03414E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Autocovariance vs spectrum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C5C9A-5F47-BC3E-789C-19D8439313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6497" y="1348581"/>
            <a:ext cx="10515600" cy="538752"/>
          </a:xfrm>
        </p:spPr>
        <p:txBody>
          <a:bodyPr/>
          <a:lstStyle/>
          <a:p>
            <a:r>
              <a:rPr lang="en-US" b="1" u="sng" dirty="0"/>
              <a:t>Ex.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368A69D-8683-8E79-8643-F13ECC1BE9C8}"/>
              </a:ext>
            </a:extLst>
          </p:cNvPr>
          <p:cNvGrpSpPr/>
          <p:nvPr/>
        </p:nvGrpSpPr>
        <p:grpSpPr>
          <a:xfrm>
            <a:off x="276497" y="1617957"/>
            <a:ext cx="6656920" cy="4291241"/>
            <a:chOff x="422800" y="1911764"/>
            <a:chExt cx="5302282" cy="3509049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046A956E-4775-0035-3897-89533DD74DD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2800" y="2016624"/>
              <a:ext cx="5302282" cy="3404189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B6A8281-1416-AA59-F066-5A0ED681CB7B}"/>
                </a:ext>
              </a:extLst>
            </p:cNvPr>
            <p:cNvSpPr txBox="1"/>
            <p:nvPr/>
          </p:nvSpPr>
          <p:spPr>
            <a:xfrm>
              <a:off x="2825496" y="1911764"/>
              <a:ext cx="66236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Data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747EA9F-B944-5083-42DD-CA2C9E69CA8A}"/>
                  </a:ext>
                </a:extLst>
              </p:cNvPr>
              <p:cNvSpPr txBox="1"/>
              <p:nvPr/>
            </p:nvSpPr>
            <p:spPr>
              <a:xfrm>
                <a:off x="276497" y="6045198"/>
                <a:ext cx="424154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b="1" dirty="0"/>
                  <a:t>Q. </a:t>
                </a:r>
                <a:r>
                  <a:rPr lang="en-US" sz="2800" dirty="0"/>
                  <a:t>Are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𝑟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𝑥𝑥</m:t>
                        </m:r>
                      </m:sub>
                    </m:sSub>
                  </m:oMath>
                </a14:m>
                <a:r>
                  <a:rPr lang="en-US" sz="28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𝑆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𝑥𝑥</m:t>
                        </m:r>
                      </m:sub>
                    </m:sSub>
                  </m:oMath>
                </a14:m>
                <a:r>
                  <a:rPr lang="en-US" sz="2800" dirty="0"/>
                  <a:t> related?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747EA9F-B944-5083-42DD-CA2C9E69CA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497" y="6045198"/>
                <a:ext cx="4241546" cy="523220"/>
              </a:xfrm>
              <a:prstGeom prst="rect">
                <a:avLst/>
              </a:prstGeom>
              <a:blipFill>
                <a:blip r:embed="rId3"/>
                <a:stretch>
                  <a:fillRect l="-2985" t="-14634" r="-2090" b="-341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id="{CB681902-AEDD-3DE3-530C-42731A917B40}"/>
              </a:ext>
            </a:extLst>
          </p:cNvPr>
          <p:cNvGrpSpPr/>
          <p:nvPr/>
        </p:nvGrpSpPr>
        <p:grpSpPr>
          <a:xfrm>
            <a:off x="7200079" y="3321347"/>
            <a:ext cx="4912070" cy="3536653"/>
            <a:chOff x="7200079" y="3321347"/>
            <a:chExt cx="4912070" cy="3536653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EE8BBB1-442B-F249-564F-54F7AED1047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200079" y="3321347"/>
              <a:ext cx="4370940" cy="3536653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0F5B7E53-C9AC-BBE8-B2DE-24E1EC456DCA}"/>
                    </a:ext>
                  </a:extLst>
                </p:cNvPr>
                <p:cNvSpPr txBox="1"/>
                <p:nvPr/>
              </p:nvSpPr>
              <p:spPr>
                <a:xfrm>
                  <a:off x="11345849" y="4531791"/>
                  <a:ext cx="766300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8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8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𝑥𝑥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0F5B7E53-C9AC-BBE8-B2DE-24E1EC456D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45849" y="4531791"/>
                  <a:ext cx="766300" cy="52322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349A95D-669F-6C12-4D3D-6FA37CBA29CB}"/>
              </a:ext>
            </a:extLst>
          </p:cNvPr>
          <p:cNvGrpSpPr/>
          <p:nvPr/>
        </p:nvGrpSpPr>
        <p:grpSpPr>
          <a:xfrm>
            <a:off x="7141163" y="23018"/>
            <a:ext cx="5025567" cy="3382829"/>
            <a:chOff x="7141163" y="23018"/>
            <a:chExt cx="5025567" cy="3382829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3B4F34E-77B3-EC17-7FDD-7348212501C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141163" y="23018"/>
              <a:ext cx="4370940" cy="3382829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1312E16C-D0AA-6624-8269-23E8DAC71965}"/>
                    </a:ext>
                  </a:extLst>
                </p:cNvPr>
                <p:cNvSpPr txBox="1"/>
                <p:nvPr/>
              </p:nvSpPr>
              <p:spPr>
                <a:xfrm>
                  <a:off x="11512103" y="1148963"/>
                  <a:ext cx="654627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sym typeface="Wingdings" pitchFamily="2" charset="2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sym typeface="Wingdings" pitchFamily="2" charset="2"/>
                            </a:rPr>
                            <m:t>𝑟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sym typeface="Wingdings" pitchFamily="2" charset="2"/>
                            </a:rPr>
                            <m:t>𝑥𝑥</m:t>
                          </m:r>
                        </m:sub>
                      </m:sSub>
                    </m:oMath>
                  </a14:m>
                  <a:r>
                    <a:rPr lang="en-US" sz="2800" dirty="0">
                      <a:solidFill>
                        <a:prstClr val="black"/>
                      </a:solidFill>
                    </a:rPr>
                    <a:t> 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1312E16C-D0AA-6624-8269-23E8DAC719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512103" y="1148963"/>
                  <a:ext cx="654627" cy="52322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119007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109E948A-E366-8115-3463-0A43F15E241E}"/>
              </a:ext>
            </a:extLst>
          </p:cNvPr>
          <p:cNvGrpSpPr/>
          <p:nvPr/>
        </p:nvGrpSpPr>
        <p:grpSpPr>
          <a:xfrm>
            <a:off x="4994534" y="3334096"/>
            <a:ext cx="6120984" cy="1677225"/>
            <a:chOff x="4994534" y="3334096"/>
            <a:chExt cx="6120984" cy="1677225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C89CE2C4-007D-643B-299D-5C718CE1782C}"/>
                </a:ext>
              </a:extLst>
            </p:cNvPr>
            <p:cNvGrpSpPr/>
            <p:nvPr/>
          </p:nvGrpSpPr>
          <p:grpSpPr>
            <a:xfrm>
              <a:off x="4994534" y="3347621"/>
              <a:ext cx="6120984" cy="1663700"/>
              <a:chOff x="4994534" y="3347621"/>
              <a:chExt cx="6120984" cy="1663700"/>
            </a:xfrm>
          </p:grpSpPr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F1D970A-E1E0-B0AE-B7BB-3C1E3359184B}"/>
                  </a:ext>
                </a:extLst>
              </p:cNvPr>
              <p:cNvSpPr txBox="1"/>
              <p:nvPr/>
            </p:nvSpPr>
            <p:spPr>
              <a:xfrm>
                <a:off x="4994534" y="3878571"/>
                <a:ext cx="113351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where</a:t>
                </a:r>
              </a:p>
            </p:txBody>
          </p:sp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3BC4E6E5-B0AC-92D2-0426-2A023CF595E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353018" y="3347621"/>
                <a:ext cx="4762500" cy="1663700"/>
              </a:xfrm>
              <a:prstGeom prst="rect">
                <a:avLst/>
              </a:prstGeom>
            </p:spPr>
          </p:pic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833C425-6EA3-81E5-F76B-B47DC8BDD082}"/>
                </a:ext>
              </a:extLst>
            </p:cNvPr>
            <p:cNvSpPr txBox="1"/>
            <p:nvPr/>
          </p:nvSpPr>
          <p:spPr>
            <a:xfrm>
              <a:off x="8104116" y="3334096"/>
              <a:ext cx="301140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Fourier transform of x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51067FB-9AFA-3D1B-0B73-2AE12FD9A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Autocovariance vs spectrum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D734D6-F29D-7838-48A0-1D77E3AB4A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Remember the spectrum: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99F70E9-7732-24F1-5996-9B247D073D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3246" y="1933235"/>
            <a:ext cx="3086100" cy="12319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463411B-33A2-1A4B-4F18-38D6EC454164}"/>
              </a:ext>
            </a:extLst>
          </p:cNvPr>
          <p:cNvSpPr txBox="1"/>
          <p:nvPr/>
        </p:nvSpPr>
        <p:spPr>
          <a:xfrm>
            <a:off x="838200" y="4179471"/>
            <a:ext cx="24907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substitute in ...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D46BD8D-E928-2B2B-11E8-20A867C93FE7}"/>
              </a:ext>
            </a:extLst>
          </p:cNvPr>
          <p:cNvGrpSpPr/>
          <p:nvPr/>
        </p:nvGrpSpPr>
        <p:grpSpPr>
          <a:xfrm>
            <a:off x="6493790" y="2913681"/>
            <a:ext cx="387457" cy="867905"/>
            <a:chOff x="6493790" y="2913681"/>
            <a:chExt cx="387457" cy="867905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D96F65B2-BF0C-8511-AB4F-299BCC0E2770}"/>
                </a:ext>
              </a:extLst>
            </p:cNvPr>
            <p:cNvCxnSpPr/>
            <p:nvPr/>
          </p:nvCxnSpPr>
          <p:spPr>
            <a:xfrm flipH="1" flipV="1">
              <a:off x="6493790" y="2913681"/>
              <a:ext cx="123986" cy="867905"/>
            </a:xfrm>
            <a:prstGeom prst="straightConnector1">
              <a:avLst/>
            </a:prstGeom>
            <a:ln w="508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1747C25A-BF88-614C-5CFC-AC70442F5B2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41763" y="2913681"/>
              <a:ext cx="139484" cy="867905"/>
            </a:xfrm>
            <a:prstGeom prst="straightConnector1">
              <a:avLst/>
            </a:prstGeom>
            <a:ln w="508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528CAB4B-AB2A-760F-8108-5B872CA6E2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591" y="5233098"/>
            <a:ext cx="10634120" cy="1408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003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745893-3DFA-7A39-C940-854AB1FA9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51D2E-5F8F-F343-3E05-2D317FEAE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Autocovariance vs spectrum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621E849-1D99-6203-4D76-7B1C066D60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940" y="1674716"/>
            <a:ext cx="10634120" cy="1408739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528A3573-EC1C-ECDA-A5A7-9E50CAC374A4}"/>
              </a:ext>
            </a:extLst>
          </p:cNvPr>
          <p:cNvGrpSpPr/>
          <p:nvPr/>
        </p:nvGrpSpPr>
        <p:grpSpPr>
          <a:xfrm>
            <a:off x="3059619" y="1764218"/>
            <a:ext cx="4246536" cy="1966649"/>
            <a:chOff x="3316637" y="1348581"/>
            <a:chExt cx="4246536" cy="1966649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EE9AE82-6BDA-99F9-5C92-4763BD2E652E}"/>
                </a:ext>
              </a:extLst>
            </p:cNvPr>
            <p:cNvSpPr/>
            <p:nvPr/>
          </p:nvSpPr>
          <p:spPr>
            <a:xfrm>
              <a:off x="3316637" y="1348581"/>
              <a:ext cx="4246536" cy="1319237"/>
            </a:xfrm>
            <a:prstGeom prst="rect">
              <a:avLst/>
            </a:prstGeom>
            <a:noFill/>
            <a:ln w="508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D608B78F-F534-2E4E-0A1E-8FE96782DAF6}"/>
                    </a:ext>
                  </a:extLst>
                </p:cNvPr>
                <p:cNvSpPr txBox="1"/>
                <p:nvPr/>
              </p:nvSpPr>
              <p:spPr>
                <a:xfrm>
                  <a:off x="5145529" y="2757320"/>
                  <a:ext cx="588751" cy="5579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2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oMath>
                    </m:oMathPara>
                  </a14:m>
                  <a:endParaRPr lang="en-US" sz="28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D608B78F-F534-2E4E-0A1E-8FE96782DAF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45529" y="2757320"/>
                  <a:ext cx="588751" cy="557910"/>
                </a:xfrm>
                <a:prstGeom prst="rect">
                  <a:avLst/>
                </a:prstGeom>
                <a:blipFill>
                  <a:blip r:embed="rId3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3D99E9E6-7DD8-3777-A9E4-71B025ECE037}"/>
              </a:ext>
            </a:extLst>
          </p:cNvPr>
          <p:cNvGrpSpPr/>
          <p:nvPr/>
        </p:nvGrpSpPr>
        <p:grpSpPr>
          <a:xfrm>
            <a:off x="7306155" y="1764218"/>
            <a:ext cx="4246536" cy="1981012"/>
            <a:chOff x="7563173" y="1348581"/>
            <a:chExt cx="4246536" cy="1981012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C3540CB-2FFF-3E03-A8B0-A1C5CE1A87C9}"/>
                </a:ext>
              </a:extLst>
            </p:cNvPr>
            <p:cNvSpPr/>
            <p:nvPr/>
          </p:nvSpPr>
          <p:spPr>
            <a:xfrm>
              <a:off x="7563173" y="1348581"/>
              <a:ext cx="4246536" cy="1319237"/>
            </a:xfrm>
            <a:prstGeom prst="rect">
              <a:avLst/>
            </a:prstGeom>
            <a:noFill/>
            <a:ln w="50800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00B0F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24044E6D-B34A-1050-7220-50E280647A27}"/>
                    </a:ext>
                  </a:extLst>
                </p:cNvPr>
                <p:cNvSpPr txBox="1"/>
                <p:nvPr/>
              </p:nvSpPr>
              <p:spPr>
                <a:xfrm>
                  <a:off x="9392065" y="2757320"/>
                  <a:ext cx="647934" cy="57227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Sup>
                          <m:sSubSupPr>
                            <m:ctrlPr>
                              <a:rPr lang="en-US" sz="2800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800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2800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en-US" sz="2800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</m:oMath>
                    </m:oMathPara>
                  </a14:m>
                  <a:endParaRPr lang="en-US" sz="2800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24044E6D-B34A-1050-7220-50E280647A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92065" y="2757320"/>
                  <a:ext cx="647934" cy="572273"/>
                </a:xfrm>
                <a:prstGeom prst="rect">
                  <a:avLst/>
                </a:prstGeom>
                <a:blipFill>
                  <a:blip r:embed="rId4"/>
                  <a:stretch>
                    <a:fillRect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766E4D4-19D6-76B8-BC1E-A6F613CF243E}"/>
                  </a:ext>
                </a:extLst>
              </p:cNvPr>
              <p:cNvSpPr txBox="1"/>
              <p:nvPr/>
            </p:nvSpPr>
            <p:spPr>
              <a:xfrm>
                <a:off x="7306155" y="4496362"/>
                <a:ext cx="367934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u="sng" dirty="0"/>
                  <a:t>Note</a:t>
                </a:r>
                <a:r>
                  <a:rPr lang="en-US" sz="2800" dirty="0"/>
                  <a:t>: replace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800" dirty="0">
                    <a:solidFill>
                      <a:srgbClr val="00B0F0"/>
                    </a:solidFill>
                  </a:rPr>
                  <a:t> </a:t>
                </a:r>
                <a:r>
                  <a:rPr lang="en-US" sz="2800" dirty="0"/>
                  <a:t>with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8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766E4D4-19D6-76B8-BC1E-A6F613CF24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6155" y="4496362"/>
                <a:ext cx="3679341" cy="523220"/>
              </a:xfrm>
              <a:prstGeom prst="rect">
                <a:avLst/>
              </a:prstGeom>
              <a:blipFill>
                <a:blip r:embed="rId5"/>
                <a:stretch>
                  <a:fillRect l="-3448" t="-14286" b="-309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515860B-9D1E-45CB-953C-A5570F1AEB95}"/>
                  </a:ext>
                </a:extLst>
              </p:cNvPr>
              <p:cNvSpPr txBox="1"/>
              <p:nvPr/>
            </p:nvSpPr>
            <p:spPr>
              <a:xfrm>
                <a:off x="7306155" y="5236763"/>
                <a:ext cx="406489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u="sng" dirty="0"/>
                  <a:t>Note</a:t>
                </a:r>
                <a:r>
                  <a:rPr lang="en-US" sz="2800" dirty="0"/>
                  <a:t>: replace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srgbClr val="00B0F0"/>
                    </a:solidFill>
                  </a:rPr>
                  <a:t> </a:t>
                </a:r>
                <a:r>
                  <a:rPr lang="en-US" sz="2800" dirty="0"/>
                  <a:t>with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8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8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sz="28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515860B-9D1E-45CB-953C-A5570F1AEB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6155" y="5236763"/>
                <a:ext cx="4064895" cy="523220"/>
              </a:xfrm>
              <a:prstGeom prst="rect">
                <a:avLst/>
              </a:prstGeom>
              <a:blipFill>
                <a:blip r:embed="rId6"/>
                <a:stretch>
                  <a:fillRect l="-3115" t="-11905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50106A6B-74DB-F518-E699-E6227C59C837}"/>
              </a:ext>
            </a:extLst>
          </p:cNvPr>
          <p:cNvGrpSpPr/>
          <p:nvPr/>
        </p:nvGrpSpPr>
        <p:grpSpPr>
          <a:xfrm>
            <a:off x="6024553" y="3118129"/>
            <a:ext cx="3803157" cy="1155411"/>
            <a:chOff x="6281571" y="2702492"/>
            <a:chExt cx="3803157" cy="1155411"/>
          </a:xfrm>
        </p:grpSpPr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94C1838F-F699-30BC-AA41-D3CCC171F1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83150" y="2702492"/>
              <a:ext cx="0" cy="705727"/>
            </a:xfrm>
            <a:prstGeom prst="straightConnector1">
              <a:avLst/>
            </a:prstGeom>
            <a:ln w="50800">
              <a:solidFill>
                <a:srgbClr val="00B0F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A0C45095-2D19-8888-4EB0-19EEE5A69EF7}"/>
                </a:ext>
              </a:extLst>
            </p:cNvPr>
            <p:cNvSpPr txBox="1"/>
            <p:nvPr/>
          </p:nvSpPr>
          <p:spPr>
            <a:xfrm>
              <a:off x="6281571" y="3334683"/>
              <a:ext cx="380315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New dummy time index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36C6A5E-BDED-7B6A-3831-CD9FC3CA7603}"/>
                  </a:ext>
                </a:extLst>
              </p:cNvPr>
              <p:cNvSpPr txBox="1"/>
              <p:nvPr/>
            </p:nvSpPr>
            <p:spPr>
              <a:xfrm>
                <a:off x="7306155" y="5905219"/>
                <a:ext cx="423231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But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8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8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sz="28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sz="2800" dirty="0"/>
                  <a:t> is real, so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8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8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sz="28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sz="28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8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36C6A5E-BDED-7B6A-3831-CD9FC3CA76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6155" y="5905219"/>
                <a:ext cx="4232312" cy="523220"/>
              </a:xfrm>
              <a:prstGeom prst="rect">
                <a:avLst/>
              </a:prstGeom>
              <a:blipFill>
                <a:blip r:embed="rId7"/>
                <a:stretch>
                  <a:fillRect l="-2994" t="-14286" b="-309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2BD699AF-B153-B0DC-15FF-5B1E7E6A74E7}"/>
              </a:ext>
            </a:extLst>
          </p:cNvPr>
          <p:cNvSpPr/>
          <p:nvPr/>
        </p:nvSpPr>
        <p:spPr>
          <a:xfrm>
            <a:off x="9996483" y="5914056"/>
            <a:ext cx="1416577" cy="523221"/>
          </a:xfrm>
          <a:prstGeom prst="rect">
            <a:avLst/>
          </a:prstGeom>
          <a:noFill/>
          <a:ln w="508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3529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6" grpId="0"/>
      <p:bldP spid="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B4377B-3C02-64D3-853D-6551CB57E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8CEB7064-B7F2-2CBD-8160-D6FAB8300804}"/>
              </a:ext>
            </a:extLst>
          </p:cNvPr>
          <p:cNvGrpSpPr/>
          <p:nvPr/>
        </p:nvGrpSpPr>
        <p:grpSpPr>
          <a:xfrm>
            <a:off x="1035958" y="1259079"/>
            <a:ext cx="10634120" cy="1408739"/>
            <a:chOff x="1035958" y="1259079"/>
            <a:chExt cx="10634120" cy="1408739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6D3BE689-2EA3-5883-AAA3-395355309D2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5958" y="1259079"/>
              <a:ext cx="10634120" cy="1408739"/>
            </a:xfrm>
            <a:prstGeom prst="rect">
              <a:avLst/>
            </a:prstGeom>
          </p:spPr>
        </p:pic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C813254E-1709-EC2B-1134-25991BD3006B}"/>
                </a:ext>
              </a:extLst>
            </p:cNvPr>
            <p:cNvSpPr/>
            <p:nvPr/>
          </p:nvSpPr>
          <p:spPr>
            <a:xfrm>
              <a:off x="8772041" y="1596325"/>
              <a:ext cx="174167" cy="36712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3777232-7584-5DB9-CDF9-3B1D78ED1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Autocovariance vs spectrum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32B9183-E384-FCD3-108B-70662FBC2B76}"/>
              </a:ext>
            </a:extLst>
          </p:cNvPr>
          <p:cNvSpPr/>
          <p:nvPr/>
        </p:nvSpPr>
        <p:spPr>
          <a:xfrm>
            <a:off x="3316637" y="1348581"/>
            <a:ext cx="4246536" cy="1319237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70FDE7C-70C6-E298-009F-11B82DF07B77}"/>
                  </a:ext>
                </a:extLst>
              </p:cNvPr>
              <p:cNvSpPr txBox="1"/>
              <p:nvPr/>
            </p:nvSpPr>
            <p:spPr>
              <a:xfrm>
                <a:off x="5145529" y="2757320"/>
                <a:ext cx="588751" cy="5579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70FDE7C-70C6-E298-009F-11B82DF07B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5529" y="2757320"/>
                <a:ext cx="588751" cy="557910"/>
              </a:xfrm>
              <a:prstGeom prst="rect">
                <a:avLst/>
              </a:prstGeom>
              <a:blipFill>
                <a:blip r:embed="rId4"/>
                <a:stretch>
                  <a:fillRect b="-10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>
            <a:extLst>
              <a:ext uri="{FF2B5EF4-FFF2-40B4-BE49-F238E27FC236}">
                <a16:creationId xmlns:a16="http://schemas.microsoft.com/office/drawing/2014/main" id="{82797F08-430E-ABCB-D1FB-ADCDA7BBA196}"/>
              </a:ext>
            </a:extLst>
          </p:cNvPr>
          <p:cNvSpPr/>
          <p:nvPr/>
        </p:nvSpPr>
        <p:spPr>
          <a:xfrm>
            <a:off x="7563173" y="1348581"/>
            <a:ext cx="4246536" cy="1319237"/>
          </a:xfrm>
          <a:prstGeom prst="rect">
            <a:avLst/>
          </a:prstGeom>
          <a:noFill/>
          <a:ln w="508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F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4A930AF-7A67-03EA-7C0B-4A6CE3E3B3F4}"/>
                  </a:ext>
                </a:extLst>
              </p:cNvPr>
              <p:cNvSpPr txBox="1"/>
              <p:nvPr/>
            </p:nvSpPr>
            <p:spPr>
              <a:xfrm>
                <a:off x="9392065" y="2757320"/>
                <a:ext cx="647934" cy="57227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28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28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US" sz="28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4A930AF-7A67-03EA-7C0B-4A6CE3E3B3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2065" y="2757320"/>
                <a:ext cx="647934" cy="572273"/>
              </a:xfrm>
              <a:prstGeom prst="rect">
                <a:avLst/>
              </a:prstGeom>
              <a:blipFill>
                <a:blip r:embed="rId5"/>
                <a:stretch>
                  <a:fillRect b="-106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6F70DF5-676E-551A-EA96-654AAAE5B7C6}"/>
                  </a:ext>
                </a:extLst>
              </p:cNvPr>
              <p:cNvSpPr txBox="1"/>
              <p:nvPr/>
            </p:nvSpPr>
            <p:spPr>
              <a:xfrm>
                <a:off x="1518925" y="3660408"/>
                <a:ext cx="2041713" cy="5579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∗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𝑑𝑓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6F70DF5-676E-551A-EA96-654AAAE5B7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8925" y="3660408"/>
                <a:ext cx="2041713" cy="557910"/>
              </a:xfrm>
              <a:prstGeom prst="rect">
                <a:avLst/>
              </a:prstGeom>
              <a:blipFill>
                <a:blip r:embed="rId6"/>
                <a:stretch>
                  <a:fillRect l="-1235" r="-617" b="-1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B573B1F-5730-A4E1-AF05-59A53774830C}"/>
                  </a:ext>
                </a:extLst>
              </p:cNvPr>
              <p:cNvSpPr txBox="1"/>
              <p:nvPr/>
            </p:nvSpPr>
            <p:spPr>
              <a:xfrm>
                <a:off x="3874668" y="3454397"/>
                <a:ext cx="2541722" cy="8989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𝑑𝑓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B573B1F-5730-A4E1-AF05-59A5377483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4668" y="3454397"/>
                <a:ext cx="2541722" cy="898964"/>
              </a:xfrm>
              <a:prstGeom prst="rect">
                <a:avLst/>
              </a:prstGeom>
              <a:blipFill>
                <a:blip r:embed="rId7"/>
                <a:stretch>
                  <a:fillRect b="-70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8C8EF89-C1B1-F09E-C0C9-33C8B0E98058}"/>
                  </a:ext>
                </a:extLst>
              </p:cNvPr>
              <p:cNvSpPr txBox="1"/>
              <p:nvPr/>
            </p:nvSpPr>
            <p:spPr>
              <a:xfrm>
                <a:off x="6096000" y="3743537"/>
                <a:ext cx="2418896" cy="5579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8C8EF89-C1B1-F09E-C0C9-33C8B0E980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3743537"/>
                <a:ext cx="2418896" cy="557910"/>
              </a:xfrm>
              <a:prstGeom prst="rect">
                <a:avLst/>
              </a:prstGeom>
              <a:blipFill>
                <a:blip r:embed="rId8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E54172F-6B5F-AA45-F0DC-18BBF07323C1}"/>
                  </a:ext>
                </a:extLst>
              </p:cNvPr>
              <p:cNvSpPr txBox="1"/>
              <p:nvPr/>
            </p:nvSpPr>
            <p:spPr>
              <a:xfrm>
                <a:off x="1518924" y="4628838"/>
                <a:ext cx="163397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 ∆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E54172F-6B5F-AA45-F0DC-18BBF07323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8924" y="4628838"/>
                <a:ext cx="1633972" cy="523220"/>
              </a:xfrm>
              <a:prstGeom prst="rect">
                <a:avLst/>
              </a:prstGeom>
              <a:blipFill>
                <a:blip r:embed="rId9"/>
                <a:stretch>
                  <a:fillRect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857243F-32D2-7A9E-2824-E549BDE5F245}"/>
                  </a:ext>
                </a:extLst>
              </p:cNvPr>
              <p:cNvSpPr txBox="1"/>
              <p:nvPr/>
            </p:nvSpPr>
            <p:spPr>
              <a:xfrm>
                <a:off x="4449761" y="4628838"/>
                <a:ext cx="180389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 ∆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857243F-32D2-7A9E-2824-E549BDE5F2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9761" y="4628838"/>
                <a:ext cx="1803892" cy="523220"/>
              </a:xfrm>
              <a:prstGeom prst="rect">
                <a:avLst/>
              </a:prstGeom>
              <a:blipFill>
                <a:blip r:embed="rId10"/>
                <a:stretch>
                  <a:fillRect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1" name="Picture 20">
            <a:extLst>
              <a:ext uri="{FF2B5EF4-FFF2-40B4-BE49-F238E27FC236}">
                <a16:creationId xmlns:a16="http://schemas.microsoft.com/office/drawing/2014/main" id="{0622CBE1-681E-5AE5-5662-F5A4A2B5AC6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73808" y="5427535"/>
            <a:ext cx="7772400" cy="127531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27B835D-5816-3E81-580B-BB5F301BD4C1}"/>
              </a:ext>
            </a:extLst>
          </p:cNvPr>
          <p:cNvSpPr txBox="1"/>
          <p:nvPr/>
        </p:nvSpPr>
        <p:spPr>
          <a:xfrm>
            <a:off x="276497" y="2858826"/>
            <a:ext cx="14558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Replace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D221155-5619-A4E2-131A-4703A9DAA292}"/>
                  </a:ext>
                </a:extLst>
              </p:cNvPr>
              <p:cNvSpPr txBox="1"/>
              <p:nvPr/>
            </p:nvSpPr>
            <p:spPr>
              <a:xfrm>
                <a:off x="7703127" y="3525092"/>
                <a:ext cx="479490" cy="89319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num>
                        <m:den>
                          <m:r>
                            <a:rPr 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D221155-5619-A4E2-131A-4703A9DAA2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3127" y="3525092"/>
                <a:ext cx="479490" cy="893193"/>
              </a:xfrm>
              <a:prstGeom prst="rect">
                <a:avLst/>
              </a:prstGeom>
              <a:blipFill>
                <a:blip r:embed="rId12"/>
                <a:stretch>
                  <a:fillRect b="-84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76F5445-EDC1-9E1F-D0C8-8EBE433BE794}"/>
                  </a:ext>
                </a:extLst>
              </p:cNvPr>
              <p:cNvSpPr txBox="1"/>
              <p:nvPr/>
            </p:nvSpPr>
            <p:spPr>
              <a:xfrm>
                <a:off x="8073864" y="3515254"/>
                <a:ext cx="1110753" cy="89319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num>
                        <m:den>
                          <m:r>
                            <a:rPr lang="en-US" sz="28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sz="28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76F5445-EDC1-9E1F-D0C8-8EBE433BE7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3864" y="3515254"/>
                <a:ext cx="1110753" cy="893193"/>
              </a:xfrm>
              <a:prstGeom prst="rect">
                <a:avLst/>
              </a:prstGeom>
              <a:blipFill>
                <a:blip r:embed="rId13"/>
                <a:stretch>
                  <a:fillRect b="-69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8938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10" grpId="0"/>
      <p:bldP spid="11" grpId="0"/>
      <p:bldP spid="6" grpId="0"/>
      <p:bldP spid="8" grpId="0"/>
      <p:bldP spid="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61F64C-1820-0486-D52B-89268AFEB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402B9-103A-D3F2-8F2D-2BD021BCA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Autocovariance vs spectrum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4C6BD0E-DBA5-FCBC-6EA2-CF428B95EB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2710" y="1348581"/>
            <a:ext cx="7772400" cy="127531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59208AB-C141-054D-803B-D6245392EC2F}"/>
              </a:ext>
            </a:extLst>
          </p:cNvPr>
          <p:cNvSpPr txBox="1"/>
          <p:nvPr/>
        </p:nvSpPr>
        <p:spPr>
          <a:xfrm>
            <a:off x="867905" y="4144105"/>
            <a:ext cx="34869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Define a new variable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19FFA4C-6163-4CED-0B60-6A87E288EA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2642" y="4046510"/>
            <a:ext cx="1873358" cy="68392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5B0B819D-DB35-892F-2F04-63DD0DF7406F}"/>
              </a:ext>
            </a:extLst>
          </p:cNvPr>
          <p:cNvSpPr/>
          <p:nvPr/>
        </p:nvSpPr>
        <p:spPr>
          <a:xfrm>
            <a:off x="8369085" y="1720312"/>
            <a:ext cx="1317355" cy="635430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FCD7675-D326-8658-D4E8-294AAB59B2E0}"/>
                  </a:ext>
                </a:extLst>
              </p:cNvPr>
              <p:cNvSpPr txBox="1"/>
              <p:nvPr/>
            </p:nvSpPr>
            <p:spPr>
              <a:xfrm>
                <a:off x="8872463" y="2434321"/>
                <a:ext cx="38363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𝑙</m:t>
                      </m:r>
                    </m:oMath>
                  </m:oMathPara>
                </a14:m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FCD7675-D326-8658-D4E8-294AAB59B2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72463" y="2434321"/>
                <a:ext cx="383630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0B61B3B-0059-75A2-B85F-A86C07A9836D}"/>
              </a:ext>
            </a:extLst>
          </p:cNvPr>
          <p:cNvCxnSpPr>
            <a:cxnSpLocks/>
          </p:cNvCxnSpPr>
          <p:nvPr/>
        </p:nvCxnSpPr>
        <p:spPr>
          <a:xfrm flipV="1">
            <a:off x="5793124" y="2271033"/>
            <a:ext cx="0" cy="705727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9D39506-3E9E-666F-81F1-2239C2944302}"/>
                  </a:ext>
                </a:extLst>
              </p:cNvPr>
              <p:cNvSpPr txBox="1"/>
              <p:nvPr/>
            </p:nvSpPr>
            <p:spPr>
              <a:xfrm>
                <a:off x="5805213" y="2768909"/>
                <a:ext cx="179856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𝑙</m:t>
                      </m:r>
                    </m:oMath>
                  </m:oMathPara>
                </a14:m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9D39506-3E9E-666F-81F1-2239C29443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5213" y="2768909"/>
                <a:ext cx="1798569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3056811-B42F-FE03-73C1-CE64521C0DCA}"/>
              </a:ext>
            </a:extLst>
          </p:cNvPr>
          <p:cNvCxnSpPr>
            <a:cxnSpLocks/>
          </p:cNvCxnSpPr>
          <p:nvPr/>
        </p:nvCxnSpPr>
        <p:spPr>
          <a:xfrm flipV="1">
            <a:off x="3735053" y="2586402"/>
            <a:ext cx="0" cy="705727"/>
          </a:xfrm>
          <a:prstGeom prst="straightConnector1">
            <a:avLst/>
          </a:prstGeom>
          <a:ln w="508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69BEF64-B410-9A57-CAE2-3B383140DA1B}"/>
                  </a:ext>
                </a:extLst>
              </p:cNvPr>
              <p:cNvSpPr txBox="1"/>
              <p:nvPr/>
            </p:nvSpPr>
            <p:spPr>
              <a:xfrm>
                <a:off x="2303444" y="2891297"/>
                <a:ext cx="143160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28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28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</m:oMath>
                  </m:oMathPara>
                </a14:m>
                <a:endParaRPr lang="en-US" sz="28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69BEF64-B410-9A57-CAE2-3B383140DA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3444" y="2891297"/>
                <a:ext cx="1431609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3" name="Picture 22">
            <a:extLst>
              <a:ext uri="{FF2B5EF4-FFF2-40B4-BE49-F238E27FC236}">
                <a16:creationId xmlns:a16="http://schemas.microsoft.com/office/drawing/2014/main" id="{D0ED1EAE-8131-C9D1-54AE-C9FDC198FB9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09800" y="5028132"/>
            <a:ext cx="7772400" cy="1402538"/>
          </a:xfrm>
          <a:prstGeom prst="rect">
            <a:avLst/>
          </a:prstGeom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8131E4E3-1B68-2334-17B5-DB28DFBA43B3}"/>
              </a:ext>
            </a:extLst>
          </p:cNvPr>
          <p:cNvCxnSpPr>
            <a:cxnSpLocks/>
          </p:cNvCxnSpPr>
          <p:nvPr/>
        </p:nvCxnSpPr>
        <p:spPr>
          <a:xfrm flipV="1">
            <a:off x="4560070" y="2640803"/>
            <a:ext cx="0" cy="705727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128310F-C8A2-E22C-61E2-45BBFA59BA2E}"/>
                  </a:ext>
                </a:extLst>
              </p:cNvPr>
              <p:cNvSpPr txBox="1"/>
              <p:nvPr/>
            </p:nvSpPr>
            <p:spPr>
              <a:xfrm>
                <a:off x="4424097" y="3308841"/>
                <a:ext cx="490576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sum over all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800" dirty="0"/>
                  <a:t> </a:t>
                </a:r>
                <a:r>
                  <a:rPr lang="en-US" sz="2800" dirty="0">
                    <a:sym typeface="Wingdings" pitchFamily="2" charset="2"/>
                  </a:rPr>
                  <a:t> sum over all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128310F-C8A2-E22C-61E2-45BBFA59BA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4097" y="3308841"/>
                <a:ext cx="4905767" cy="523220"/>
              </a:xfrm>
              <a:prstGeom prst="rect">
                <a:avLst/>
              </a:prstGeom>
              <a:blipFill>
                <a:blip r:embed="rId9"/>
                <a:stretch>
                  <a:fillRect l="-2584" t="-14286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04330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 animBg="1"/>
      <p:bldP spid="9" grpId="0"/>
      <p:bldP spid="19" grpId="0"/>
      <p:bldP spid="22" grpId="0"/>
      <p:bldP spid="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AE2C53-B997-9274-E0C2-D8C3147854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F9A79-6CA7-7A17-4380-41CC4C99B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Autocovariance vs spectrum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A3914E1B-680A-5484-2ED0-B621FCCEA2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1485698"/>
            <a:ext cx="7772400" cy="140253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C6D000D-643D-F2CF-F6C6-2881F4D3DD1D}"/>
              </a:ext>
            </a:extLst>
          </p:cNvPr>
          <p:cNvSpPr/>
          <p:nvPr/>
        </p:nvSpPr>
        <p:spPr>
          <a:xfrm>
            <a:off x="4970206" y="1551536"/>
            <a:ext cx="2787446" cy="1336699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1A67D87-CD8D-EAF1-7FE6-D84A2AC26AE5}"/>
                  </a:ext>
                </a:extLst>
              </p:cNvPr>
              <p:cNvSpPr txBox="1"/>
              <p:nvPr/>
            </p:nvSpPr>
            <p:spPr>
              <a:xfrm>
                <a:off x="5666453" y="3025353"/>
                <a:ext cx="85909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Wingdings" pitchFamily="2" charset="2"/>
                          </a:rPr>
                          <m:t>𝑟</m:t>
                        </m:r>
                      </m:e>
                      <m:sub>
                        <m:r>
                          <a:rPr lang="en-US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Wingdings" pitchFamily="2" charset="2"/>
                          </a:rPr>
                          <m:t>𝑥𝑥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dPr>
                      <m:e>
                        <m:r>
                          <a:rPr lang="en-US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Wingdings" pitchFamily="2" charset="2"/>
                          </a:rPr>
                          <m:t>𝑙</m:t>
                        </m:r>
                      </m:e>
                    </m:d>
                  </m:oMath>
                </a14:m>
                <a:r>
                  <a:rPr lang="en-US" sz="2800" dirty="0">
                    <a:solidFill>
                      <a:srgbClr val="FF000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1A67D87-CD8D-EAF1-7FE6-D84A2AC26A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6453" y="3025353"/>
                <a:ext cx="859094" cy="523220"/>
              </a:xfrm>
              <a:prstGeom prst="rect">
                <a:avLst/>
              </a:prstGeom>
              <a:blipFill>
                <a:blip r:embed="rId4"/>
                <a:stretch>
                  <a:fillRect r="-44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13">
            <a:extLst>
              <a:ext uri="{FF2B5EF4-FFF2-40B4-BE49-F238E27FC236}">
                <a16:creationId xmlns:a16="http://schemas.microsoft.com/office/drawing/2014/main" id="{C4D54973-5928-8567-D95D-2080147405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65593" y="3767109"/>
            <a:ext cx="5809226" cy="1334841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E09E71F4-4C13-BFE4-3446-2218308848EA}"/>
              </a:ext>
            </a:extLst>
          </p:cNvPr>
          <p:cNvGrpSpPr/>
          <p:nvPr/>
        </p:nvGrpSpPr>
        <p:grpSpPr>
          <a:xfrm>
            <a:off x="4423866" y="4749086"/>
            <a:ext cx="2595519" cy="1162317"/>
            <a:chOff x="4423866" y="4749086"/>
            <a:chExt cx="2595519" cy="1162317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7A0B8B5-0D58-C841-748A-EF2746C9EDB1}"/>
                </a:ext>
              </a:extLst>
            </p:cNvPr>
            <p:cNvSpPr txBox="1"/>
            <p:nvPr/>
          </p:nvSpPr>
          <p:spPr>
            <a:xfrm>
              <a:off x="4423866" y="5388183"/>
              <a:ext cx="259551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autocovariance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40EEE6C6-071D-CC4C-C904-505E522422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45515" y="4749086"/>
              <a:ext cx="0" cy="705727"/>
            </a:xfrm>
            <a:prstGeom prst="straightConnector1">
              <a:avLst/>
            </a:prstGeom>
            <a:ln w="508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AD038E0A-385F-0E6F-E935-CFF608726B25}"/>
              </a:ext>
            </a:extLst>
          </p:cNvPr>
          <p:cNvGrpSpPr/>
          <p:nvPr/>
        </p:nvGrpSpPr>
        <p:grpSpPr>
          <a:xfrm>
            <a:off x="1530277" y="4740699"/>
            <a:ext cx="1681871" cy="1170704"/>
            <a:chOff x="1530277" y="4740699"/>
            <a:chExt cx="1681871" cy="1170704"/>
          </a:xfrm>
        </p:grpSpPr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2AACFA55-0E1A-7223-1764-EF64E269C1B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41995" y="4740699"/>
              <a:ext cx="0" cy="705727"/>
            </a:xfrm>
            <a:prstGeom prst="straightConnector1">
              <a:avLst/>
            </a:prstGeom>
            <a:ln w="508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1E21FC6-7631-1232-1FEC-2EAF106D9804}"/>
                </a:ext>
              </a:extLst>
            </p:cNvPr>
            <p:cNvSpPr txBox="1"/>
            <p:nvPr/>
          </p:nvSpPr>
          <p:spPr>
            <a:xfrm>
              <a:off x="1530277" y="5388183"/>
              <a:ext cx="168187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spectrum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0594D15C-82EA-A5FC-2C8E-B4587D624B79}"/>
              </a:ext>
            </a:extLst>
          </p:cNvPr>
          <p:cNvSpPr txBox="1"/>
          <p:nvPr/>
        </p:nvSpPr>
        <p:spPr>
          <a:xfrm>
            <a:off x="276497" y="3106772"/>
            <a:ext cx="25911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Q. </a:t>
            </a:r>
            <a:r>
              <a:rPr lang="en-US" sz="2800" dirty="0"/>
              <a:t>What is this?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3073259-944C-DF0D-CDBB-80257D384772}"/>
              </a:ext>
            </a:extLst>
          </p:cNvPr>
          <p:cNvGrpSpPr/>
          <p:nvPr/>
        </p:nvGrpSpPr>
        <p:grpSpPr>
          <a:xfrm>
            <a:off x="8177529" y="198499"/>
            <a:ext cx="3874956" cy="1068663"/>
            <a:chOff x="8177529" y="198499"/>
            <a:chExt cx="3874956" cy="1068663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7C83F3F5-168D-BE5F-1269-A42F6777C8D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294696" y="271884"/>
              <a:ext cx="3757788" cy="913859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FCF8865-233B-81D9-0E87-8D75674819C9}"/>
                </a:ext>
              </a:extLst>
            </p:cNvPr>
            <p:cNvSpPr/>
            <p:nvPr/>
          </p:nvSpPr>
          <p:spPr>
            <a:xfrm>
              <a:off x="8177529" y="198499"/>
              <a:ext cx="3874956" cy="1068663"/>
            </a:xfrm>
            <a:prstGeom prst="rect">
              <a:avLst/>
            </a:prstGeom>
            <a:noFill/>
            <a:ln w="508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7996434A-87C6-1F85-A95F-A4BD687D6188}"/>
              </a:ext>
            </a:extLst>
          </p:cNvPr>
          <p:cNvGrpSpPr/>
          <p:nvPr/>
        </p:nvGrpSpPr>
        <p:grpSpPr>
          <a:xfrm>
            <a:off x="10684476" y="535459"/>
            <a:ext cx="1258107" cy="386841"/>
            <a:chOff x="10684476" y="535459"/>
            <a:chExt cx="1258107" cy="386841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21C9536C-0870-A307-4788-AFC788992E46}"/>
                </a:ext>
              </a:extLst>
            </p:cNvPr>
            <p:cNvSpPr/>
            <p:nvPr/>
          </p:nvSpPr>
          <p:spPr>
            <a:xfrm>
              <a:off x="10684476" y="535459"/>
              <a:ext cx="403654" cy="378941"/>
            </a:xfrm>
            <a:prstGeom prst="rect">
              <a:avLst/>
            </a:prstGeom>
            <a:solidFill>
              <a:srgbClr val="FF000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802A01D8-1471-324C-E94C-921E0C868A56}"/>
                </a:ext>
              </a:extLst>
            </p:cNvPr>
            <p:cNvSpPr/>
            <p:nvPr/>
          </p:nvSpPr>
          <p:spPr>
            <a:xfrm>
              <a:off x="11538929" y="543359"/>
              <a:ext cx="403654" cy="378941"/>
            </a:xfrm>
            <a:prstGeom prst="rect">
              <a:avLst/>
            </a:prstGeom>
            <a:solidFill>
              <a:srgbClr val="FF000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46636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2" grpId="0"/>
      <p:bldP spid="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ECF873-CBFA-10A0-126D-6C6F05007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16CD5-86D7-88BE-C8CB-5A40A8C59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Autocovariance vs spectrum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AE07881-8D91-B8B9-A279-931961AE9B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393" y="1019771"/>
            <a:ext cx="5809226" cy="133484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833A0D8-3EF1-6EA7-AEE0-5D2547F215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5880" y="2397728"/>
            <a:ext cx="5443589" cy="13043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A916187-8EC8-B2C3-1E8B-212C9A35A8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75880" y="3862175"/>
            <a:ext cx="5373505" cy="103296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2A5B92A-C468-D700-20A5-48704C3161B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75880" y="5167130"/>
            <a:ext cx="4978739" cy="111592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05B5880-19E3-5F4B-48AB-C173D7AE2AC9}"/>
              </a:ext>
            </a:extLst>
          </p:cNvPr>
          <p:cNvSpPr txBox="1"/>
          <p:nvPr/>
        </p:nvSpPr>
        <p:spPr>
          <a:xfrm>
            <a:off x="7718590" y="1391994"/>
            <a:ext cx="31894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a few more steps ...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7D0E408-CC89-5BFC-6CFF-8D0E72B4B0C5}"/>
              </a:ext>
            </a:extLst>
          </p:cNvPr>
          <p:cNvGrpSpPr/>
          <p:nvPr/>
        </p:nvGrpSpPr>
        <p:grpSpPr>
          <a:xfrm>
            <a:off x="5603001" y="2756949"/>
            <a:ext cx="736430" cy="613959"/>
            <a:chOff x="5603001" y="2683422"/>
            <a:chExt cx="736430" cy="61395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103DBDC-A959-725B-60F8-0949C63436FD}"/>
                </a:ext>
              </a:extLst>
            </p:cNvPr>
            <p:cNvSpPr/>
            <p:nvPr/>
          </p:nvSpPr>
          <p:spPr>
            <a:xfrm>
              <a:off x="5603001" y="2962498"/>
              <a:ext cx="300709" cy="33488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0C91F06-5C34-B388-D0AE-52B72678C811}"/>
                </a:ext>
              </a:extLst>
            </p:cNvPr>
            <p:cNvSpPr/>
            <p:nvPr/>
          </p:nvSpPr>
          <p:spPr>
            <a:xfrm>
              <a:off x="6096000" y="2683422"/>
              <a:ext cx="243431" cy="33488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58B685A-D9F3-9327-D766-8446DD53B4B4}"/>
              </a:ext>
            </a:extLst>
          </p:cNvPr>
          <p:cNvGrpSpPr/>
          <p:nvPr/>
        </p:nvGrpSpPr>
        <p:grpSpPr>
          <a:xfrm>
            <a:off x="5797070" y="3983149"/>
            <a:ext cx="3552670" cy="713559"/>
            <a:chOff x="5797070" y="3786205"/>
            <a:chExt cx="3552670" cy="71355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3972FC4C-821C-9501-FC44-21D475A72E2B}"/>
                    </a:ext>
                  </a:extLst>
                </p:cNvPr>
                <p:cNvSpPr txBox="1"/>
                <p:nvPr/>
              </p:nvSpPr>
              <p:spPr>
                <a:xfrm>
                  <a:off x="7461504" y="3786205"/>
                  <a:ext cx="1888236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∆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3972FC4C-821C-9501-FC44-21D475A72E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61504" y="3786205"/>
                  <a:ext cx="1888236" cy="52322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6FD61BB-8DA9-5C67-35AA-3BF4CF526433}"/>
                </a:ext>
              </a:extLst>
            </p:cNvPr>
            <p:cNvSpPr/>
            <p:nvPr/>
          </p:nvSpPr>
          <p:spPr>
            <a:xfrm>
              <a:off x="5797070" y="4164881"/>
              <a:ext cx="300709" cy="33488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F71A10B-DE40-F66A-D8F2-65B35159117B}"/>
              </a:ext>
            </a:extLst>
          </p:cNvPr>
          <p:cNvGrpSpPr/>
          <p:nvPr/>
        </p:nvGrpSpPr>
        <p:grpSpPr>
          <a:xfrm>
            <a:off x="5851830" y="5055282"/>
            <a:ext cx="3520285" cy="893193"/>
            <a:chOff x="5851830" y="5055282"/>
            <a:chExt cx="3520285" cy="893193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132B3E3A-868B-5677-7875-79FCAF340E73}"/>
                </a:ext>
              </a:extLst>
            </p:cNvPr>
            <p:cNvGrpSpPr/>
            <p:nvPr/>
          </p:nvGrpSpPr>
          <p:grpSpPr>
            <a:xfrm>
              <a:off x="6953219" y="5055282"/>
              <a:ext cx="2418896" cy="893193"/>
              <a:chOff x="6096000" y="3525092"/>
              <a:chExt cx="2418896" cy="893193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" name="TextBox 16">
                    <a:extLst>
                      <a:ext uri="{FF2B5EF4-FFF2-40B4-BE49-F238E27FC236}">
                        <a16:creationId xmlns:a16="http://schemas.microsoft.com/office/drawing/2014/main" id="{6A03552F-8E34-2C8A-6335-DD5F211486A6}"/>
                      </a:ext>
                    </a:extLst>
                  </p:cNvPr>
                  <p:cNvSpPr txBox="1"/>
                  <p:nvPr/>
                </p:nvSpPr>
                <p:spPr>
                  <a:xfrm>
                    <a:off x="6096000" y="3743537"/>
                    <a:ext cx="2418896" cy="5579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17" name="TextBox 16">
                    <a:extLst>
                      <a:ext uri="{FF2B5EF4-FFF2-40B4-BE49-F238E27FC236}">
                        <a16:creationId xmlns:a16="http://schemas.microsoft.com/office/drawing/2014/main" id="{6A03552F-8E34-2C8A-6335-DD5F211486A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96000" y="3743537"/>
                    <a:ext cx="2418896" cy="557910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b="-1333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TextBox 17">
                    <a:extLst>
                      <a:ext uri="{FF2B5EF4-FFF2-40B4-BE49-F238E27FC236}">
                        <a16:creationId xmlns:a16="http://schemas.microsoft.com/office/drawing/2014/main" id="{348C7330-0D06-C2A7-AF29-4C3C46071FD3}"/>
                      </a:ext>
                    </a:extLst>
                  </p:cNvPr>
                  <p:cNvSpPr txBox="1"/>
                  <p:nvPr/>
                </p:nvSpPr>
                <p:spPr>
                  <a:xfrm>
                    <a:off x="7703127" y="3525092"/>
                    <a:ext cx="479490" cy="893193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f>
                            <m:fPr>
                              <m:ctrlPr>
                                <a:rPr lang="en-US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num>
                            <m:den>
                              <m:r>
                                <a:rPr lang="en-US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den>
                          </m:f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8" name="TextBox 17">
                    <a:extLst>
                      <a:ext uri="{FF2B5EF4-FFF2-40B4-BE49-F238E27FC236}">
                        <a16:creationId xmlns:a16="http://schemas.microsoft.com/office/drawing/2014/main" id="{348C7330-0D06-C2A7-AF29-4C3C46071FD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703127" y="3525092"/>
                    <a:ext cx="479490" cy="893193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b="-694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5757D0E5-C854-701D-8522-374B529AA322}"/>
                </a:ext>
              </a:extLst>
            </p:cNvPr>
            <p:cNvSpPr/>
            <p:nvPr/>
          </p:nvSpPr>
          <p:spPr>
            <a:xfrm>
              <a:off x="5851830" y="5400495"/>
              <a:ext cx="300709" cy="48798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4906D94-0E5F-9D32-253C-D97CCCB7F9AE}"/>
              </a:ext>
            </a:extLst>
          </p:cNvPr>
          <p:cNvGrpSpPr/>
          <p:nvPr/>
        </p:nvGrpSpPr>
        <p:grpSpPr>
          <a:xfrm>
            <a:off x="6152334" y="5307593"/>
            <a:ext cx="5296514" cy="580884"/>
            <a:chOff x="6152334" y="5307593"/>
            <a:chExt cx="5296514" cy="58088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1F658F95-D878-4C51-3875-F37BB9CD92B2}"/>
                    </a:ext>
                  </a:extLst>
                </p:cNvPr>
                <p:cNvSpPr txBox="1"/>
                <p:nvPr/>
              </p:nvSpPr>
              <p:spPr>
                <a:xfrm>
                  <a:off x="9975111" y="5307593"/>
                  <a:ext cx="1473737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  ∆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1F658F95-D878-4C51-3875-F37BB9CD92B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75111" y="5307593"/>
                  <a:ext cx="1473737" cy="523220"/>
                </a:xfrm>
                <a:prstGeom prst="rect">
                  <a:avLst/>
                </a:prstGeom>
                <a:blipFill>
                  <a:blip r:embed="rId10"/>
                  <a:stretch>
                    <a:fillRect b="-243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DAFE46E-195C-B982-0519-F195DC1BCBF9}"/>
                </a:ext>
              </a:extLst>
            </p:cNvPr>
            <p:cNvSpPr/>
            <p:nvPr/>
          </p:nvSpPr>
          <p:spPr>
            <a:xfrm>
              <a:off x="6152334" y="5400495"/>
              <a:ext cx="300709" cy="48798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406395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03328-C504-C30D-A588-0E8054848E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3EF5A-986E-FFC9-2C4B-81D949056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Autocovariance vs spectrum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6CD3138-605A-D1F7-17DA-0E1E9EC695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5589" y="3312666"/>
            <a:ext cx="4043995" cy="141270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93D3B7B-8C1F-D359-C947-44805B51B9F1}"/>
                  </a:ext>
                </a:extLst>
              </p:cNvPr>
              <p:cNvSpPr txBox="1"/>
              <p:nvPr/>
            </p:nvSpPr>
            <p:spPr>
              <a:xfrm>
                <a:off x="556957" y="2747865"/>
                <a:ext cx="624126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Remember the Fourier transform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93D3B7B-8C1F-D359-C947-44805B51B9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957" y="2747865"/>
                <a:ext cx="6241260" cy="523220"/>
              </a:xfrm>
              <a:prstGeom prst="rect">
                <a:avLst/>
              </a:prstGeom>
              <a:blipFill>
                <a:blip r:embed="rId4"/>
                <a:stretch>
                  <a:fillRect l="-2028" t="-11905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293EE6F-C638-336A-2000-928C8167C398}"/>
                  </a:ext>
                </a:extLst>
              </p:cNvPr>
              <p:cNvSpPr txBox="1"/>
              <p:nvPr/>
            </p:nvSpPr>
            <p:spPr>
              <a:xfrm>
                <a:off x="1392347" y="5411932"/>
                <a:ext cx="1320618" cy="5579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𝑥𝑥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293EE6F-C638-336A-2000-928C8167C3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2347" y="5411932"/>
                <a:ext cx="1320618" cy="557910"/>
              </a:xfrm>
              <a:prstGeom prst="rect">
                <a:avLst/>
              </a:prstGeom>
              <a:blipFill>
                <a:blip r:embed="rId5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3" name="Group 22">
            <a:extLst>
              <a:ext uri="{FF2B5EF4-FFF2-40B4-BE49-F238E27FC236}">
                <a16:creationId xmlns:a16="http://schemas.microsoft.com/office/drawing/2014/main" id="{A868381A-A84B-0821-51C6-DF56BCBD3A1D}"/>
              </a:ext>
            </a:extLst>
          </p:cNvPr>
          <p:cNvGrpSpPr/>
          <p:nvPr/>
        </p:nvGrpSpPr>
        <p:grpSpPr>
          <a:xfrm>
            <a:off x="1410440" y="1413638"/>
            <a:ext cx="5565434" cy="1115924"/>
            <a:chOff x="1251944" y="1635654"/>
            <a:chExt cx="5565434" cy="1115924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0392B44D-E31A-2954-01AE-55F46B4AB5B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838639" y="1635654"/>
              <a:ext cx="4978739" cy="1115924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E70EAB24-2DFA-C30E-3AA7-17025170914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251944" y="1753183"/>
              <a:ext cx="812250" cy="844313"/>
            </a:xfrm>
            <a:prstGeom prst="rect">
              <a:avLst/>
            </a:prstGeom>
          </p:spPr>
        </p:pic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8A7076F-8AAA-6ABC-C72B-891D343B4636}"/>
              </a:ext>
            </a:extLst>
          </p:cNvPr>
          <p:cNvGrpSpPr/>
          <p:nvPr/>
        </p:nvGrpSpPr>
        <p:grpSpPr>
          <a:xfrm>
            <a:off x="6472210" y="3740062"/>
            <a:ext cx="3402367" cy="557910"/>
            <a:chOff x="6472210" y="3740062"/>
            <a:chExt cx="3402367" cy="55791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8C92AF3B-6307-B547-1FD2-20A09D28763A}"/>
                    </a:ext>
                  </a:extLst>
                </p:cNvPr>
                <p:cNvSpPr txBox="1"/>
                <p:nvPr/>
              </p:nvSpPr>
              <p:spPr>
                <a:xfrm>
                  <a:off x="7643902" y="3740062"/>
                  <a:ext cx="2230675" cy="5579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𝐹𝑇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}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8C92AF3B-6307-B547-1FD2-20A09D2876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43902" y="3740062"/>
                  <a:ext cx="2230675" cy="557910"/>
                </a:xfrm>
                <a:prstGeom prst="rect">
                  <a:avLst/>
                </a:prstGeom>
                <a:blipFill>
                  <a:blip r:embed="rId8"/>
                  <a:stretch>
                    <a:fillRect r="-1130" b="-1555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2368B3C-140B-9EA6-B77C-14B88AB8EC4F}"/>
                </a:ext>
              </a:extLst>
            </p:cNvPr>
            <p:cNvSpPr txBox="1"/>
            <p:nvPr/>
          </p:nvSpPr>
          <p:spPr>
            <a:xfrm>
              <a:off x="6472210" y="3757407"/>
              <a:ext cx="50366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or</a:t>
              </a: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BE4C38B2-BBCE-6A9C-9E35-95D39957AC8F}"/>
              </a:ext>
            </a:extLst>
          </p:cNvPr>
          <p:cNvSpPr txBox="1"/>
          <p:nvPr/>
        </p:nvSpPr>
        <p:spPr>
          <a:xfrm>
            <a:off x="511816" y="4894772"/>
            <a:ext cx="5870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So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4B530CD-AC29-3E84-61C2-ABB47F32A850}"/>
              </a:ext>
            </a:extLst>
          </p:cNvPr>
          <p:cNvGrpSpPr/>
          <p:nvPr/>
        </p:nvGrpSpPr>
        <p:grpSpPr>
          <a:xfrm>
            <a:off x="1194633" y="5299406"/>
            <a:ext cx="10056792" cy="1403469"/>
            <a:chOff x="1194633" y="5299406"/>
            <a:chExt cx="10056792" cy="1403469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FC12132-1D02-3C32-9F69-60F3B91BEA7E}"/>
                </a:ext>
              </a:extLst>
            </p:cNvPr>
            <p:cNvSpPr txBox="1"/>
            <p:nvPr/>
          </p:nvSpPr>
          <p:spPr>
            <a:xfrm>
              <a:off x="1194633" y="6179655"/>
              <a:ext cx="1005679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The spectrum is the Fourier transform of the autocovariance.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4D14BFEC-36F6-F991-3288-FEB1D0FCB92A}"/>
                </a:ext>
              </a:extLst>
            </p:cNvPr>
            <p:cNvSpPr/>
            <p:nvPr/>
          </p:nvSpPr>
          <p:spPr>
            <a:xfrm>
              <a:off x="1392346" y="5299406"/>
              <a:ext cx="3232423" cy="785170"/>
            </a:xfrm>
            <a:prstGeom prst="rect">
              <a:avLst/>
            </a:prstGeom>
            <a:noFill/>
            <a:ln w="508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840F6FAF-2E60-2A6C-3AF2-44440BD4BA1A}"/>
              </a:ext>
            </a:extLst>
          </p:cNvPr>
          <p:cNvGrpSpPr/>
          <p:nvPr/>
        </p:nvGrpSpPr>
        <p:grpSpPr>
          <a:xfrm>
            <a:off x="2094384" y="3410007"/>
            <a:ext cx="1589218" cy="1604864"/>
            <a:chOff x="2094384" y="3410007"/>
            <a:chExt cx="1589218" cy="1604864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AFD39BD-2E42-4B5F-5804-091F8056364F}"/>
                </a:ext>
              </a:extLst>
            </p:cNvPr>
            <p:cNvSpPr txBox="1"/>
            <p:nvPr/>
          </p:nvSpPr>
          <p:spPr>
            <a:xfrm>
              <a:off x="2094384" y="4645539"/>
              <a:ext cx="15892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sum over time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A50C49F-E9D2-27DC-258B-B83475AC6D94}"/>
                </a:ext>
              </a:extLst>
            </p:cNvPr>
            <p:cNvSpPr/>
            <p:nvPr/>
          </p:nvSpPr>
          <p:spPr>
            <a:xfrm>
              <a:off x="2526128" y="3410007"/>
              <a:ext cx="572004" cy="1260361"/>
            </a:xfrm>
            <a:prstGeom prst="rect">
              <a:avLst/>
            </a:prstGeom>
            <a:noFill/>
            <a:ln w="25400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C399100-0291-C242-7BCD-F2C099E66068}"/>
              </a:ext>
            </a:extLst>
          </p:cNvPr>
          <p:cNvGrpSpPr/>
          <p:nvPr/>
        </p:nvGrpSpPr>
        <p:grpSpPr>
          <a:xfrm>
            <a:off x="2772883" y="1476373"/>
            <a:ext cx="1589218" cy="1425893"/>
            <a:chOff x="2094384" y="3588978"/>
            <a:chExt cx="1589218" cy="1425893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36FC97C-88DC-0159-F008-8A0E1EF1AECC}"/>
                </a:ext>
              </a:extLst>
            </p:cNvPr>
            <p:cNvSpPr txBox="1"/>
            <p:nvPr/>
          </p:nvSpPr>
          <p:spPr>
            <a:xfrm>
              <a:off x="2094384" y="4645539"/>
              <a:ext cx="15892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sum over time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CF6C893-9847-8F0D-94F5-5EA29AB1A3B8}"/>
                </a:ext>
              </a:extLst>
            </p:cNvPr>
            <p:cNvSpPr/>
            <p:nvPr/>
          </p:nvSpPr>
          <p:spPr>
            <a:xfrm>
              <a:off x="2526128" y="3588978"/>
              <a:ext cx="572004" cy="1081390"/>
            </a:xfrm>
            <a:prstGeom prst="rect">
              <a:avLst/>
            </a:prstGeom>
            <a:noFill/>
            <a:ln w="25400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7462176-AA66-11B1-E808-2EA6430482C7}"/>
              </a:ext>
            </a:extLst>
          </p:cNvPr>
          <p:cNvGrpSpPr/>
          <p:nvPr/>
        </p:nvGrpSpPr>
        <p:grpSpPr>
          <a:xfrm>
            <a:off x="3479906" y="3619821"/>
            <a:ext cx="4155881" cy="1181473"/>
            <a:chOff x="3479906" y="3619821"/>
            <a:chExt cx="4155881" cy="118147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5BB9306-74C7-A298-499B-94FA900F5C9B}"/>
                </a:ext>
              </a:extLst>
            </p:cNvPr>
            <p:cNvSpPr/>
            <p:nvPr/>
          </p:nvSpPr>
          <p:spPr>
            <a:xfrm>
              <a:off x="3479906" y="3619821"/>
              <a:ext cx="2302916" cy="785170"/>
            </a:xfrm>
            <a:prstGeom prst="rect">
              <a:avLst/>
            </a:prstGeom>
            <a:noFill/>
            <a:ln w="25400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17753C30-F1A4-9426-5A0B-98932CA65F0E}"/>
                    </a:ext>
                  </a:extLst>
                </p:cNvPr>
                <p:cNvSpPr txBox="1"/>
                <p:nvPr/>
              </p:nvSpPr>
              <p:spPr>
                <a:xfrm>
                  <a:off x="3763380" y="4409648"/>
                  <a:ext cx="3872407" cy="39164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rgbClr val="00B0F0"/>
                      </a:solidFill>
                    </a:rPr>
                    <a:t>complex exponentials at frequency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a14:m>
                  <a:endParaRPr lang="en-US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17753C30-F1A4-9426-5A0B-98932CA65F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63380" y="4409648"/>
                  <a:ext cx="3872407" cy="391646"/>
                </a:xfrm>
                <a:prstGeom prst="rect">
                  <a:avLst/>
                </a:prstGeom>
                <a:blipFill>
                  <a:blip r:embed="rId9"/>
                  <a:stretch>
                    <a:fillRect l="-1307" t="-6250" b="-156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E6284C2-FA3E-EBC0-1555-3D5421BDFACB}"/>
              </a:ext>
            </a:extLst>
          </p:cNvPr>
          <p:cNvGrpSpPr/>
          <p:nvPr/>
        </p:nvGrpSpPr>
        <p:grpSpPr>
          <a:xfrm>
            <a:off x="4672959" y="1476373"/>
            <a:ext cx="3987286" cy="1137632"/>
            <a:chOff x="4672959" y="1476373"/>
            <a:chExt cx="3987286" cy="1137632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13DF94B9-ECC6-69DC-2562-2884B414DEB4}"/>
                </a:ext>
              </a:extLst>
            </p:cNvPr>
            <p:cNvSpPr/>
            <p:nvPr/>
          </p:nvSpPr>
          <p:spPr>
            <a:xfrm>
              <a:off x="4672959" y="1476373"/>
              <a:ext cx="2302916" cy="785170"/>
            </a:xfrm>
            <a:prstGeom prst="rect">
              <a:avLst/>
            </a:prstGeom>
            <a:noFill/>
            <a:ln w="25400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763B696B-9AFA-8189-EA8D-7F6F9E23BDB7}"/>
                    </a:ext>
                  </a:extLst>
                </p:cNvPr>
                <p:cNvSpPr txBox="1"/>
                <p:nvPr/>
              </p:nvSpPr>
              <p:spPr>
                <a:xfrm>
                  <a:off x="4787838" y="2222359"/>
                  <a:ext cx="3872407" cy="39164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rgbClr val="00B0F0"/>
                      </a:solidFill>
                    </a:rPr>
                    <a:t>complex exponentials at frequency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a14:m>
                  <a:endParaRPr lang="en-US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763B696B-9AFA-8189-EA8D-7F6F9E23BD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87838" y="2222359"/>
                  <a:ext cx="3872407" cy="391646"/>
                </a:xfrm>
                <a:prstGeom prst="rect">
                  <a:avLst/>
                </a:prstGeom>
                <a:blipFill>
                  <a:blip r:embed="rId10"/>
                  <a:stretch>
                    <a:fillRect l="-1303" t="-9677" b="-1935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BC2A257-697B-A3D0-CB6E-D0BCAAC2618B}"/>
                  </a:ext>
                </a:extLst>
              </p:cNvPr>
              <p:cNvSpPr txBox="1"/>
              <p:nvPr/>
            </p:nvSpPr>
            <p:spPr>
              <a:xfrm>
                <a:off x="2560925" y="5428894"/>
                <a:ext cx="207043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2 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𝐹𝑇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{ 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𝑥𝑥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BC2A257-697B-A3D0-CB6E-D0BCAAC261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0925" y="5428894"/>
                <a:ext cx="2070439" cy="523220"/>
              </a:xfrm>
              <a:prstGeom prst="rect">
                <a:avLst/>
              </a:prstGeom>
              <a:blipFill>
                <a:blip r:embed="rId11"/>
                <a:stretch>
                  <a:fillRect r="-1829"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10059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27" grpId="0"/>
      <p:bldP spid="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A183DD-CC97-9F1F-89E9-923609AAC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A14E8-9794-C78C-D83D-FBABD3D6A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Autocovariance vs spectrum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69B48E-27DF-AAE1-4B1A-7A000B342D90}"/>
              </a:ext>
            </a:extLst>
          </p:cNvPr>
          <p:cNvSpPr txBox="1"/>
          <p:nvPr/>
        </p:nvSpPr>
        <p:spPr>
          <a:xfrm>
            <a:off x="276497" y="1266400"/>
            <a:ext cx="632865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The spectrum is the Fourier transform</a:t>
            </a:r>
          </a:p>
          <a:p>
            <a:r>
              <a:rPr lang="en-US" sz="2800" b="1" dirty="0"/>
              <a:t>of the autocovariance.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434E3E1-43BF-395D-197D-6FC1C504994D}"/>
              </a:ext>
            </a:extLst>
          </p:cNvPr>
          <p:cNvSpPr txBox="1"/>
          <p:nvPr/>
        </p:nvSpPr>
        <p:spPr>
          <a:xfrm>
            <a:off x="294000" y="4526934"/>
            <a:ext cx="516160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Different perspective on the</a:t>
            </a:r>
          </a:p>
          <a:p>
            <a:r>
              <a:rPr lang="en-US" sz="2800" dirty="0"/>
              <a:t>dependent structure in the data.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0FD396-4B7C-772A-8F2A-4540E6CE0049}"/>
              </a:ext>
            </a:extLst>
          </p:cNvPr>
          <p:cNvSpPr txBox="1"/>
          <p:nvPr/>
        </p:nvSpPr>
        <p:spPr>
          <a:xfrm>
            <a:off x="294000" y="5845361"/>
            <a:ext cx="62576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In practice, consider both (sometimes)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DE3814B-9412-77EE-2D8A-CC06C918004A}"/>
              </a:ext>
            </a:extLst>
          </p:cNvPr>
          <p:cNvGrpSpPr/>
          <p:nvPr/>
        </p:nvGrpSpPr>
        <p:grpSpPr>
          <a:xfrm>
            <a:off x="276497" y="3321347"/>
            <a:ext cx="11835652" cy="3536653"/>
            <a:chOff x="276497" y="3321347"/>
            <a:chExt cx="11835652" cy="353665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16F80BC5-347B-0419-1E10-096027A66A58}"/>
                    </a:ext>
                  </a:extLst>
                </p:cNvPr>
                <p:cNvSpPr txBox="1"/>
                <p:nvPr/>
              </p:nvSpPr>
              <p:spPr>
                <a:xfrm>
                  <a:off x="276497" y="3604704"/>
                  <a:ext cx="5825826" cy="5579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800" u="sng" dirty="0"/>
                    <a:t>Spectrum</a:t>
                  </a:r>
                  <a:r>
                    <a:rPr lang="en-US" sz="2800" dirty="0"/>
                    <a:t>:	</a:t>
                  </a:r>
                  <a:r>
                    <a:rPr lang="en-US" sz="2800" dirty="0" err="1"/>
                    <a:t>freq</a:t>
                  </a:r>
                  <a:r>
                    <a:rPr lang="en-US" sz="2800" dirty="0"/>
                    <a:t>-domain measure,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16F80BC5-347B-0419-1E10-096027A66A5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6497" y="3604704"/>
                  <a:ext cx="5825826" cy="557910"/>
                </a:xfrm>
                <a:prstGeom prst="rect">
                  <a:avLst/>
                </a:prstGeom>
                <a:blipFill>
                  <a:blip r:embed="rId3"/>
                  <a:stretch>
                    <a:fillRect l="-2174" t="-8889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C79A89E2-C503-FC59-8E05-705E0FF76F98}"/>
                </a:ext>
              </a:extLst>
            </p:cNvPr>
            <p:cNvGrpSpPr/>
            <p:nvPr/>
          </p:nvGrpSpPr>
          <p:grpSpPr>
            <a:xfrm>
              <a:off x="7200079" y="3321347"/>
              <a:ext cx="4912070" cy="3536653"/>
              <a:chOff x="7200079" y="3321347"/>
              <a:chExt cx="4912070" cy="3536653"/>
            </a:xfrm>
          </p:grpSpPr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EC4A4EEB-3167-F931-724F-EAD5E383817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00079" y="3321347"/>
                <a:ext cx="4370940" cy="3536653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TextBox 7">
                    <a:extLst>
                      <a:ext uri="{FF2B5EF4-FFF2-40B4-BE49-F238E27FC236}">
                        <a16:creationId xmlns:a16="http://schemas.microsoft.com/office/drawing/2014/main" id="{06409121-0BEA-75E1-9EC9-0BB6433BDE67}"/>
                      </a:ext>
                    </a:extLst>
                  </p:cNvPr>
                  <p:cNvSpPr txBox="1"/>
                  <p:nvPr/>
                </p:nvSpPr>
                <p:spPr>
                  <a:xfrm>
                    <a:off x="11345849" y="4531791"/>
                    <a:ext cx="766300" cy="52322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sym typeface="Wingdings" pitchFamily="2" charset="2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sym typeface="Wingdings" pitchFamily="2" charset="2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sym typeface="Wingdings" pitchFamily="2" charset="2"/>
                                </a:rPr>
                                <m:t>𝑥𝑥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8" name="TextBox 7">
                    <a:extLst>
                      <a:ext uri="{FF2B5EF4-FFF2-40B4-BE49-F238E27FC236}">
                        <a16:creationId xmlns:a16="http://schemas.microsoft.com/office/drawing/2014/main" id="{06409121-0BEA-75E1-9EC9-0BB6433BDE6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345849" y="4531791"/>
                    <a:ext cx="766300" cy="523220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5DDE4D4-4D90-8283-4C00-05834809741A}"/>
              </a:ext>
            </a:extLst>
          </p:cNvPr>
          <p:cNvGrpSpPr/>
          <p:nvPr/>
        </p:nvGrpSpPr>
        <p:grpSpPr>
          <a:xfrm>
            <a:off x="276497" y="23018"/>
            <a:ext cx="11890233" cy="3382829"/>
            <a:chOff x="276497" y="23018"/>
            <a:chExt cx="11890233" cy="338282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20DB6371-8D14-0D33-E09C-B447F43042AD}"/>
                    </a:ext>
                  </a:extLst>
                </p:cNvPr>
                <p:cNvSpPr txBox="1"/>
                <p:nvPr/>
              </p:nvSpPr>
              <p:spPr>
                <a:xfrm>
                  <a:off x="276497" y="2609222"/>
                  <a:ext cx="5858655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800" u="sng" dirty="0"/>
                    <a:t>Autocovaraince</a:t>
                  </a:r>
                  <a:r>
                    <a:rPr lang="en-US" sz="2800" dirty="0"/>
                    <a:t>:	time-domain, lag </a:t>
                  </a:r>
                  <a14:m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20DB6371-8D14-0D33-E09C-B447F43042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6497" y="2609222"/>
                  <a:ext cx="5858655" cy="523220"/>
                </a:xfrm>
                <a:prstGeom prst="rect">
                  <a:avLst/>
                </a:prstGeom>
                <a:blipFill>
                  <a:blip r:embed="rId6"/>
                  <a:stretch>
                    <a:fillRect l="-2165" t="-11905" b="-3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C770CA04-8263-623B-EC47-DE624F159E71}"/>
                </a:ext>
              </a:extLst>
            </p:cNvPr>
            <p:cNvGrpSpPr/>
            <p:nvPr/>
          </p:nvGrpSpPr>
          <p:grpSpPr>
            <a:xfrm>
              <a:off x="7141163" y="23018"/>
              <a:ext cx="5025567" cy="3382829"/>
              <a:chOff x="7141163" y="23018"/>
              <a:chExt cx="5025567" cy="3382829"/>
            </a:xfrm>
          </p:grpSpPr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7A36B4D9-4A15-4578-8111-DF36997C1C6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141163" y="23018"/>
                <a:ext cx="4370940" cy="3382829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59D84BFA-DAC5-EFF5-27E3-CE419CF57854}"/>
                      </a:ext>
                    </a:extLst>
                  </p:cNvPr>
                  <p:cNvSpPr txBox="1"/>
                  <p:nvPr/>
                </p:nvSpPr>
                <p:spPr>
                  <a:xfrm>
                    <a:off x="11512103" y="1148963"/>
                    <a:ext cx="654627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28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8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𝑥𝑥</m:t>
                            </m:r>
                          </m:sub>
                        </m:sSub>
                      </m:oMath>
                    </a14:m>
                    <a:r>
                      <a:rPr lang="en-US" sz="2800" dirty="0">
                        <a:solidFill>
                          <a:prstClr val="black"/>
                        </a:solidFill>
                      </a:rPr>
                      <a:t> </a:t>
                    </a:r>
                    <a:endParaRPr lang="en-US" dirty="0"/>
                  </a:p>
                </p:txBody>
              </p:sp>
            </mc:Choice>
            <mc:Fallback xmlns=""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59D84BFA-DAC5-EFF5-27E3-CE419CF5785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512103" y="1148963"/>
                    <a:ext cx="654627" cy="523220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941266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33CDD0-EC32-B18C-5948-E3AE5EC1F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05EAA-E256-F682-8A09-CB6867B93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Autocovariance vs spectrum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F6237F4-2164-41FB-FFB0-E593B359A3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012" y="2106320"/>
            <a:ext cx="11689976" cy="2645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53838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1033</TotalTime>
  <Words>779</Words>
  <Application>Microsoft Macintosh PowerPoint</Application>
  <PresentationFormat>Widescreen</PresentationFormat>
  <Paragraphs>221</Paragraphs>
  <Slides>25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Aptos</vt:lpstr>
      <vt:lpstr>Aptos Display</vt:lpstr>
      <vt:lpstr>Arial</vt:lpstr>
      <vt:lpstr>Cambria Math</vt:lpstr>
      <vt:lpstr>Wingdings</vt:lpstr>
      <vt:lpstr>Office Theme</vt:lpstr>
      <vt:lpstr>Rhythms</vt:lpstr>
      <vt:lpstr>Today</vt:lpstr>
      <vt:lpstr>Notation</vt:lpstr>
      <vt:lpstr>Mean &amp; variance</vt:lpstr>
      <vt:lpstr>Mean &amp; variance</vt:lpstr>
      <vt:lpstr>Autocovariance (equation)</vt:lpstr>
      <vt:lpstr>Autocovariance (intuition)</vt:lpstr>
      <vt:lpstr>Autocovariance (intuition)</vt:lpstr>
      <vt:lpstr>Autocovariance (example)</vt:lpstr>
      <vt:lpstr>Autocovariance (example)</vt:lpstr>
      <vt:lpstr>Autocovariance (example)</vt:lpstr>
      <vt:lpstr>Autocovariance (example)</vt:lpstr>
      <vt:lpstr>Autocovariance (example)</vt:lpstr>
      <vt:lpstr>Autocovariance (example)</vt:lpstr>
      <vt:lpstr>Autocovariance (example 2)</vt:lpstr>
      <vt:lpstr>Autocovariance vs spectrum</vt:lpstr>
      <vt:lpstr>Autocovariance vs spectrum</vt:lpstr>
      <vt:lpstr>Autocovariance vs spectrum</vt:lpstr>
      <vt:lpstr>Autocovariance vs spectrum</vt:lpstr>
      <vt:lpstr>Autocovariance vs spectrum</vt:lpstr>
      <vt:lpstr>Autocovariance vs spectrum</vt:lpstr>
      <vt:lpstr>Autocovariance vs spectrum</vt:lpstr>
      <vt:lpstr>Autocovariance vs spectrum</vt:lpstr>
      <vt:lpstr>Autocovariance vs spectrum</vt:lpstr>
      <vt:lpstr>Autocovariance vs spectrum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Kramer, Mark</dc:creator>
  <cp:lastModifiedBy>Kramer, Mark</cp:lastModifiedBy>
  <cp:revision>263</cp:revision>
  <dcterms:created xsi:type="dcterms:W3CDTF">2024-10-21T17:21:04Z</dcterms:created>
  <dcterms:modified xsi:type="dcterms:W3CDTF">2026-10-19T15:38:09Z</dcterms:modified>
</cp:coreProperties>
</file>