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05" r:id="rId4"/>
    <p:sldId id="260" r:id="rId5"/>
    <p:sldId id="306" r:id="rId6"/>
    <p:sldId id="335" r:id="rId7"/>
    <p:sldId id="263" r:id="rId8"/>
    <p:sldId id="307" r:id="rId9"/>
    <p:sldId id="316" r:id="rId10"/>
    <p:sldId id="336" r:id="rId11"/>
    <p:sldId id="300" r:id="rId12"/>
    <p:sldId id="317" r:id="rId13"/>
    <p:sldId id="301" r:id="rId14"/>
    <p:sldId id="302" r:id="rId15"/>
    <p:sldId id="303" r:id="rId16"/>
    <p:sldId id="340" r:id="rId17"/>
    <p:sldId id="304" r:id="rId18"/>
    <p:sldId id="318" r:id="rId19"/>
    <p:sldId id="308" r:id="rId20"/>
    <p:sldId id="310" r:id="rId21"/>
    <p:sldId id="269" r:id="rId22"/>
    <p:sldId id="339" r:id="rId23"/>
    <p:sldId id="338" r:id="rId24"/>
    <p:sldId id="329" r:id="rId25"/>
    <p:sldId id="334" r:id="rId26"/>
    <p:sldId id="311" r:id="rId27"/>
    <p:sldId id="312" r:id="rId28"/>
    <p:sldId id="272" r:id="rId29"/>
    <p:sldId id="273" r:id="rId30"/>
    <p:sldId id="274" r:id="rId31"/>
    <p:sldId id="330" r:id="rId32"/>
    <p:sldId id="331" r:id="rId33"/>
    <p:sldId id="333" r:id="rId34"/>
    <p:sldId id="332" r:id="rId35"/>
    <p:sldId id="319" r:id="rId36"/>
    <p:sldId id="33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6"/>
    <p:restoredTop sz="94658"/>
  </p:normalViewPr>
  <p:slideViewPr>
    <p:cSldViewPr snapToGrid="0">
      <p:cViewPr varScale="1">
        <p:scale>
          <a:sx n="120" d="100"/>
          <a:sy n="120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3071-18F5-2F47-99FE-808A8266344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6246B-C494-6649-BF7E-AFDD4A56C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3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352A-7B58-3945-AD7B-4A77F7DBB2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30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808C4-D1BB-5C44-8F8D-C9CCAF5D36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11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6246B-C494-6649-BF7E-AFDD4A56C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67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808C4-D1BB-5C44-8F8D-C9CCAF5D36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9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808C4-D1BB-5C44-8F8D-C9CCAF5D363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2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97B4-A448-0844-02DF-38210EDB7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037E8-8210-0798-8CC7-F96163CB1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FA8F-CA37-3F4D-F4D9-0B736BC9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3726-7BF0-6E80-05E5-F19FA29B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F7BDE-A1C7-1BF6-3130-CD12FE2E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1639-7190-8909-4A5E-3E99BEBA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7027-3068-D75B-453A-4199C3CE6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7540-AF4E-E201-93AA-759EFD4E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CBD6-7C48-E6F4-210C-4675DB90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CB01-3201-BE9D-EE77-A812B362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A870-E27D-F49F-07AD-9F6C76C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32501-B77C-6766-ACF8-9CD6800D0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6163-A364-9638-E760-DB0F8705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488F-32D2-4EAD-A235-D80F761E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82BD-110D-3E49-E839-5E6C0E4E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6AA8-7E2D-E97C-6C06-0C4FB9B0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4FBC-1C36-217C-E7C2-62EE04F61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0CAEF-7CE0-91D1-0E44-95CFF3BB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4FB7A-08AB-8738-FF22-AE5DD802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BB897-F06D-4BBA-9456-AF96455D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E115E-5658-6ECE-49F4-FD57795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9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5567-9A61-FD1B-CB46-D52DD43D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6AF9-F761-1C06-A60A-792C9257D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54FCA-A1BB-173B-4D97-20812E3B8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C7AAC-DC6F-0B7A-21EC-47C1FD9D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F3070-0871-A686-A7DD-F95185E25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2B939-97EA-3774-957D-BB7E5955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7259D-53F7-7274-F0FD-4B0BC0F4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78958-4A40-5EA3-3821-A1BADBDC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4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207B-1168-4AB5-559A-C6514401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8872-AFB6-2865-130C-A2847576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5DF73-C60B-8F7B-6008-1886B77E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1CFC9-5C87-A8D5-0287-8CF181CB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EE3BC-3E5D-740C-E064-5C5CB1FB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12039-6111-35AF-DB1E-EB1CAD10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58C9A-3AEB-E26F-C3B6-C77CF630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8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C97E-B115-7144-9D7E-9B469B84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56AF-D04D-A8F5-B0B8-372BFB01E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12DB5-C754-63C1-EB74-DB6C6666B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A5A8F-1025-BC7C-B25E-D5727BC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11BA0-33C4-0F73-EC52-2DDBB26A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DC555-DB89-B5AB-92BC-844DB661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1BC6-E31A-06C6-81DA-F36E1BCB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7FF27-7372-21A7-F98D-B876FC9E6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BA1E8-EAED-3EB8-376D-98E216F89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FE130-ACD0-3BD6-1DA4-F507921B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BAD80-D172-1E3C-D94D-CFFEC91D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4E56-6101-02BA-973C-2AFA88E0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DC07-0E6F-73C4-6E33-FA61059A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26DD8-3FEB-DE6B-6F64-B28EF95B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6E16E-9D38-5D81-90C6-5CD66D51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3A0A-1887-A5ED-2F17-35D54619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3C1B-8C3F-7842-EB8E-5BCE31C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0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DF286-B5CD-175A-1CC0-3278BC199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A4BCE-DA2A-5323-5AE2-282D9681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3819-0D01-7210-1567-8E7B088D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1588-3FC7-D711-2EF1-A70D3A4A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BDBF-E1C3-CDC1-5CD6-1CB20F08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9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/>
          <a:lstStyle>
            <a:lvl1pPr>
              <a:spcBef>
                <a:spcPts val="1687"/>
              </a:spcBef>
            </a:lvl1pPr>
            <a:lvl2pPr>
              <a:spcBef>
                <a:spcPts val="1687"/>
              </a:spcBef>
            </a:lvl2pPr>
            <a:lvl3pPr>
              <a:spcBef>
                <a:spcPts val="1687"/>
              </a:spcBef>
            </a:lvl3pPr>
            <a:lvl4pPr>
              <a:spcBef>
                <a:spcPts val="1687"/>
              </a:spcBef>
            </a:lvl4pPr>
            <a:lvl5pPr>
              <a:spcBef>
                <a:spcPts val="1687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06208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5FCE3-9D70-5C40-47DC-BB56B4FA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D25F-E933-547B-2A7B-A4336586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7354-F6E2-C709-0018-5BB269EB1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A791A-827A-2841-BCED-EC8004CAE97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23AC-BFC7-3121-C2C7-536A02B8A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124F-6D54-C3E0-A207-39524C623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0.png"/><Relationship Id="rId10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image" Target="../media/image15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11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2.png"/><Relationship Id="rId7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8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0.png"/><Relationship Id="rId4" Type="http://schemas.openxmlformats.org/officeDocument/2006/relationships/image" Target="../media/image5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0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1.png"/><Relationship Id="rId5" Type="http://schemas.openxmlformats.org/officeDocument/2006/relationships/image" Target="../media/image491.png"/><Relationship Id="rId4" Type="http://schemas.openxmlformats.org/officeDocument/2006/relationships/image" Target="../media/image4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740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BED457-04A4-2CB8-A0F0-462C620CF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Analyzing Rhythms (Part 1)</a:t>
            </a:r>
          </a:p>
          <a:p>
            <a:r>
              <a:rPr lang="en-US" dirty="0"/>
              <a:t>Instructor: Mark Kramer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5D652-273B-4F7F-7902-C6C9A629D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Rhythms</a:t>
            </a:r>
          </a:p>
        </p:txBody>
      </p:sp>
    </p:spTree>
    <p:extLst>
      <p:ext uri="{BB962C8B-B14F-4D97-AF65-F5344CB8AC3E}">
        <p14:creationId xmlns:p14="http://schemas.microsoft.com/office/powerpoint/2010/main" val="390325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B064-5C48-406B-AFB7-ABB3FCA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CBB2-5A72-803A-6120-9086EA97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notions</a:t>
            </a:r>
          </a:p>
          <a:p>
            <a:pPr marL="0" indent="0">
              <a:buNone/>
            </a:pPr>
            <a:r>
              <a:rPr lang="en-US" dirty="0"/>
              <a:t>   Sampling frequency, Nyquist frequency, tapering</a:t>
            </a:r>
          </a:p>
        </p:txBody>
      </p:sp>
    </p:spTree>
    <p:extLst>
      <p:ext uri="{BB962C8B-B14F-4D97-AF65-F5344CB8AC3E}">
        <p14:creationId xmlns:p14="http://schemas.microsoft.com/office/powerpoint/2010/main" val="233413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9122-70D8-8540-85DE-C683D425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Data is </a:t>
            </a:r>
            <a:r>
              <a:rPr lang="en-US" u="sng" dirty="0"/>
              <a:t>not</a:t>
            </a:r>
            <a:r>
              <a:rPr lang="en-US" dirty="0"/>
              <a:t> continuous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72EBC-53AD-4B4E-A988-340E9DFF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94" y="1571765"/>
            <a:ext cx="8961630" cy="4742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89C1DB-BEF0-4F49-A56F-1B8111477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993" y="1571764"/>
            <a:ext cx="8961631" cy="47428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1BB8CC-D584-8A44-B025-859D65DD5AB2}"/>
                  </a:ext>
                </a:extLst>
              </p:cNvPr>
              <p:cNvSpPr txBox="1"/>
              <p:nvPr/>
            </p:nvSpPr>
            <p:spPr>
              <a:xfrm>
                <a:off x="322129" y="6250913"/>
                <a:ext cx="52467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0" u="sng" dirty="0"/>
                  <a:t>Notation</a:t>
                </a:r>
                <a:r>
                  <a:rPr lang="en-US" sz="2800" b="0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= Data at index n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1BB8CC-D584-8A44-B025-859D65DD5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29" y="6250913"/>
                <a:ext cx="5246757" cy="523220"/>
              </a:xfrm>
              <a:prstGeom prst="rect">
                <a:avLst/>
              </a:prstGeom>
              <a:blipFill>
                <a:blip r:embed="rId5"/>
                <a:stretch>
                  <a:fillRect l="-2415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E54B76E-4DDC-2224-DA57-E76DF0CB508D}"/>
              </a:ext>
            </a:extLst>
          </p:cNvPr>
          <p:cNvSpPr txBox="1"/>
          <p:nvPr/>
        </p:nvSpPr>
        <p:spPr>
          <a:xfrm>
            <a:off x="322129" y="1111900"/>
            <a:ext cx="5183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Consider a small snippet of data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044FF4-9C64-31F0-864E-EE5145ECE17F}"/>
              </a:ext>
            </a:extLst>
          </p:cNvPr>
          <p:cNvGrpSpPr/>
          <p:nvPr/>
        </p:nvGrpSpPr>
        <p:grpSpPr>
          <a:xfrm>
            <a:off x="7453277" y="1886104"/>
            <a:ext cx="4442898" cy="584776"/>
            <a:chOff x="7453277" y="1886104"/>
            <a:chExt cx="4442898" cy="58477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6738D-2C4C-5544-B139-B7806FCB4A6E}"/>
                </a:ext>
              </a:extLst>
            </p:cNvPr>
            <p:cNvSpPr txBox="1"/>
            <p:nvPr/>
          </p:nvSpPr>
          <p:spPr>
            <a:xfrm>
              <a:off x="8407976" y="1947660"/>
              <a:ext cx="348819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time between samples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168FDF-67FC-2C59-251D-A594FC7E0740}"/>
                </a:ext>
              </a:extLst>
            </p:cNvPr>
            <p:cNvGrpSpPr/>
            <p:nvPr/>
          </p:nvGrpSpPr>
          <p:grpSpPr>
            <a:xfrm>
              <a:off x="7453277" y="1886104"/>
              <a:ext cx="1278194" cy="584775"/>
              <a:chOff x="7453277" y="1886104"/>
              <a:chExt cx="1278194" cy="58477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7BDB0EC-95A2-7042-B504-B505266CFA48}"/>
                  </a:ext>
                </a:extLst>
              </p:cNvPr>
              <p:cNvCxnSpPr/>
              <p:nvPr/>
            </p:nvCxnSpPr>
            <p:spPr>
              <a:xfrm>
                <a:off x="7953227" y="2424551"/>
                <a:ext cx="278295" cy="0"/>
              </a:xfrm>
              <a:prstGeom prst="line">
                <a:avLst/>
              </a:prstGeom>
              <a:ln w="508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9EADF8E1-4024-4A19-9BA5-7412B66F9048}"/>
                      </a:ext>
                    </a:extLst>
                  </p:cNvPr>
                  <p:cNvSpPr txBox="1"/>
                  <p:nvPr/>
                </p:nvSpPr>
                <p:spPr>
                  <a:xfrm>
                    <a:off x="7453277" y="1886104"/>
                    <a:ext cx="1278194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9EADF8E1-4024-4A19-9BA5-7412B66F90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3277" y="1886104"/>
                    <a:ext cx="1278194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2136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06A75B-F941-2D40-839A-A67AC8892B3B}"/>
                  </a:ext>
                </a:extLst>
              </p:cNvPr>
              <p:cNvSpPr txBox="1"/>
              <p:nvPr/>
            </p:nvSpPr>
            <p:spPr>
              <a:xfrm>
                <a:off x="650468" y="4007552"/>
                <a:ext cx="31736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= Data at index n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06A75B-F941-2D40-839A-A67AC8892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68" y="4007552"/>
                <a:ext cx="3173626" cy="523220"/>
              </a:xfrm>
              <a:prstGeom prst="rect">
                <a:avLst/>
              </a:prstGeom>
              <a:blipFill>
                <a:blip r:embed="rId3"/>
                <a:stretch>
                  <a:fillRect t="-11905" r="-278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3529E54-6FDD-0748-868E-A21C196BE8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498"/>
          <a:stretch/>
        </p:blipFill>
        <p:spPr>
          <a:xfrm>
            <a:off x="4555127" y="4813790"/>
            <a:ext cx="915370" cy="5494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0DCA23-676C-FE4D-AF2C-03CA08E7BDEB}"/>
                  </a:ext>
                </a:extLst>
              </p:cNvPr>
              <p:cNvSpPr txBox="1"/>
              <p:nvPr/>
            </p:nvSpPr>
            <p:spPr>
              <a:xfrm>
                <a:off x="6721055" y="4813790"/>
                <a:ext cx="43177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dirty="0"/>
                  <a:t> = sampling interval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0DCA23-676C-FE4D-AF2C-03CA08E7B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055" y="4813790"/>
                <a:ext cx="4317785" cy="523220"/>
              </a:xfrm>
              <a:prstGeom prst="rect">
                <a:avLst/>
              </a:prstGeom>
              <a:blipFill>
                <a:blip r:embed="rId5"/>
                <a:stretch>
                  <a:fillRect l="-2639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89E6F97-58DE-4241-A6D4-578FDF53E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192" y="5647269"/>
            <a:ext cx="1561360" cy="6109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7863AF-0FCF-1247-B6BC-82DF8BD4375A}"/>
              </a:ext>
            </a:extLst>
          </p:cNvPr>
          <p:cNvSpPr txBox="1"/>
          <p:nvPr/>
        </p:nvSpPr>
        <p:spPr>
          <a:xfrm>
            <a:off x="6720920" y="5739020"/>
            <a:ext cx="5320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where T = total time of observation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EE8AD7D-49C2-E143-B8B6-1A7E9FA9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Data is </a:t>
            </a:r>
            <a:r>
              <a:rPr lang="en-US" u="sng" dirty="0"/>
              <a:t>not</a:t>
            </a:r>
            <a:r>
              <a:rPr lang="en-US" dirty="0"/>
              <a:t> continuous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F0E274-1A26-7948-A771-868358BE89BF}"/>
              </a:ext>
            </a:extLst>
          </p:cNvPr>
          <p:cNvGraphicFramePr>
            <a:graphicFrameLocks noGrp="1"/>
          </p:cNvGraphicFramePr>
          <p:nvPr/>
        </p:nvGraphicFramePr>
        <p:xfrm>
          <a:off x="4682508" y="4090464"/>
          <a:ext cx="43738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62776857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902786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51474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26413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39913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10337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9363969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0809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174997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977734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75262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4217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86908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60020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818268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629900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962909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426447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823578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0697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28513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10592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D3893FC-7AF6-1945-B8B9-E8F12B43E731}"/>
              </a:ext>
            </a:extLst>
          </p:cNvPr>
          <p:cNvSpPr txBox="1"/>
          <p:nvPr/>
        </p:nvSpPr>
        <p:spPr>
          <a:xfrm>
            <a:off x="6298617" y="3583519"/>
            <a:ext cx="337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 (EEG, LFP, MEG, ...)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F414782-D688-A648-87AD-E76F2BADDEFC}"/>
                  </a:ext>
                </a:extLst>
              </p:cNvPr>
              <p:cNvSpPr/>
              <p:nvPr/>
            </p:nvSpPr>
            <p:spPr>
              <a:xfrm>
                <a:off x="670483" y="4838552"/>
                <a:ext cx="6096000" cy="5232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= Time at index n,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F414782-D688-A648-87AD-E76F2BADD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3" y="4838552"/>
                <a:ext cx="6096000" cy="523220"/>
              </a:xfrm>
              <a:prstGeom prst="rect">
                <a:avLst/>
              </a:prstGeom>
              <a:blipFill>
                <a:blip r:embed="rId8"/>
                <a:stretch>
                  <a:fillRect l="-208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E3CF9C1-BDCE-684C-A26A-EBF6D39CBD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764"/>
          <a:stretch/>
        </p:blipFill>
        <p:spPr>
          <a:xfrm>
            <a:off x="5475061" y="4839329"/>
            <a:ext cx="823556" cy="5494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FD1089-A983-534B-B7CF-6FEE86FCA56D}"/>
                  </a:ext>
                </a:extLst>
              </p:cNvPr>
              <p:cNvSpPr/>
              <p:nvPr/>
            </p:nvSpPr>
            <p:spPr>
              <a:xfrm>
                <a:off x="625055" y="5731184"/>
                <a:ext cx="6096000" cy="55791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= Frequency at index j,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DFD1089-A983-534B-B7CF-6FEE86FCA5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55" y="5731184"/>
                <a:ext cx="6096000" cy="557910"/>
              </a:xfrm>
              <a:prstGeom prst="rect">
                <a:avLst/>
              </a:prstGeom>
              <a:blipFill>
                <a:blip r:embed="rId9"/>
                <a:stretch>
                  <a:fillRect l="-1040" t="-666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8E101E2-9D9E-CC3B-1378-8F109F75BD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9582" y="209029"/>
            <a:ext cx="6373394" cy="33730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0F703E-A9B6-63AA-FA21-BEAE4E8BB82E}"/>
              </a:ext>
            </a:extLst>
          </p:cNvPr>
          <p:cNvSpPr txBox="1"/>
          <p:nvPr/>
        </p:nvSpPr>
        <p:spPr>
          <a:xfrm>
            <a:off x="670483" y="3114920"/>
            <a:ext cx="1534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122893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/>
      <p:bldP spid="10" grpId="0"/>
      <p:bldP spid="13" grpId="0"/>
      <p:bldP spid="2" grpId="0" build="p"/>
      <p:bldP spid="1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07BA-9860-E3C8-21A2-F1AE09D0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" y="13148"/>
            <a:ext cx="10515600" cy="1325563"/>
          </a:xfrm>
        </p:spPr>
        <p:txBody>
          <a:bodyPr/>
          <a:lstStyle/>
          <a:p>
            <a:r>
              <a:rPr lang="en-US" dirty="0"/>
              <a:t>Discrete time Fourier transform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78A1686-EF2D-1A45-DDCC-8768308685D3}"/>
              </a:ext>
            </a:extLst>
          </p:cNvPr>
          <p:cNvSpPr txBox="1">
            <a:spLocks/>
          </p:cNvSpPr>
          <p:nvPr/>
        </p:nvSpPr>
        <p:spPr>
          <a:xfrm>
            <a:off x="4575247" y="6256625"/>
            <a:ext cx="5299920" cy="51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/>
              <a:t>Fourier transform</a:t>
            </a:r>
            <a:r>
              <a:rPr lang="en-US" dirty="0"/>
              <a:t> of the data </a:t>
            </a:r>
            <a:r>
              <a:rPr lang="en-US" i="1" dirty="0"/>
              <a:t>x.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B48D3-CD41-C782-C167-AE4D28E4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87"/>
          <a:stretch/>
        </p:blipFill>
        <p:spPr>
          <a:xfrm>
            <a:off x="4315753" y="4083496"/>
            <a:ext cx="6085032" cy="21863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449729-73B8-98E7-E878-A57CBE324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750" y="1176994"/>
            <a:ext cx="6794500" cy="1371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7040B28-0B11-4EC8-AB48-EF0D7CC6E03F}"/>
              </a:ext>
            </a:extLst>
          </p:cNvPr>
          <p:cNvGrpSpPr/>
          <p:nvPr/>
        </p:nvGrpSpPr>
        <p:grpSpPr>
          <a:xfrm>
            <a:off x="1314579" y="2394168"/>
            <a:ext cx="9562842" cy="1218395"/>
            <a:chOff x="1473920" y="2798017"/>
            <a:chExt cx="9562842" cy="121839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1BAF6C-E086-40E5-2CAD-4E993DAC9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3920" y="2811511"/>
              <a:ext cx="4112597" cy="12049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AA0224-221B-7D65-8BCB-8A9E7882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50562" y="2798017"/>
              <a:ext cx="3886200" cy="111851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D5A143-E76D-2D39-0523-0C2390ACCD24}"/>
                </a:ext>
              </a:extLst>
            </p:cNvPr>
            <p:cNvSpPr txBox="1"/>
            <p:nvPr/>
          </p:nvSpPr>
          <p:spPr>
            <a:xfrm>
              <a:off x="5915608" y="3195478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27A598D-BB79-5277-B695-82EB754063C6}"/>
              </a:ext>
            </a:extLst>
          </p:cNvPr>
          <p:cNvSpPr txBox="1"/>
          <p:nvPr/>
        </p:nvSpPr>
        <p:spPr>
          <a:xfrm>
            <a:off x="725014" y="1380676"/>
            <a:ext cx="1767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Previously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E40A2F-753D-EC4C-5B42-CD4A29AFA790}"/>
                  </a:ext>
                </a:extLst>
              </p:cNvPr>
              <p:cNvSpPr txBox="1"/>
              <p:nvPr/>
            </p:nvSpPr>
            <p:spPr>
              <a:xfrm>
                <a:off x="725014" y="4703044"/>
                <a:ext cx="32533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Now replace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/>
                  <a:t>: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E40A2F-753D-EC4C-5B42-CD4A29AFA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14" y="4703044"/>
                <a:ext cx="3253391" cy="523220"/>
              </a:xfrm>
              <a:prstGeom prst="rect">
                <a:avLst/>
              </a:prstGeom>
              <a:blipFill>
                <a:blip r:embed="rId6"/>
                <a:stretch>
                  <a:fillRect l="-3891" t="-11905" r="-272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79E5E-C89E-3805-A9B8-916D5D1115D7}"/>
              </a:ext>
            </a:extLst>
          </p:cNvPr>
          <p:cNvGrpSpPr/>
          <p:nvPr/>
        </p:nvGrpSpPr>
        <p:grpSpPr>
          <a:xfrm>
            <a:off x="1468303" y="3174214"/>
            <a:ext cx="7466018" cy="817636"/>
            <a:chOff x="1468303" y="3319986"/>
            <a:chExt cx="7466018" cy="8176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3B467F5-8DE7-CDB4-0A48-B42FAFFD1F5E}"/>
                    </a:ext>
                  </a:extLst>
                </p:cNvPr>
                <p:cNvSpPr txBox="1"/>
                <p:nvPr/>
              </p:nvSpPr>
              <p:spPr>
                <a:xfrm>
                  <a:off x="1468303" y="3706735"/>
                  <a:ext cx="7466018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200" dirty="0"/>
                    <a:t>Compare data V[t] to cosine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2200" dirty="0"/>
                    <a:t> , does it match?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3B467F5-8DE7-CDB4-0A48-B42FAFFD1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8303" y="3706735"/>
                  <a:ext cx="7466018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019" t="-8571" b="-2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2A4CCF0-734D-38FE-8D6B-C5F6CE0B4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4028" y="3319986"/>
              <a:ext cx="0" cy="451602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AC8DDB-9A4F-D0FA-B413-74DE516EB06D}"/>
              </a:ext>
            </a:extLst>
          </p:cNvPr>
          <p:cNvGrpSpPr/>
          <p:nvPr/>
        </p:nvGrpSpPr>
        <p:grpSpPr>
          <a:xfrm>
            <a:off x="4520915" y="4252779"/>
            <a:ext cx="6900506" cy="1917221"/>
            <a:chOff x="4520915" y="4252779"/>
            <a:chExt cx="6900506" cy="19172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D0E592-9767-4523-3C1A-8D71DE65436D}"/>
                </a:ext>
              </a:extLst>
            </p:cNvPr>
            <p:cNvSpPr/>
            <p:nvPr/>
          </p:nvSpPr>
          <p:spPr>
            <a:xfrm>
              <a:off x="4520915" y="4252779"/>
              <a:ext cx="5997695" cy="1917221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4200BD-1392-26A9-4F07-0C66B2A875BB}"/>
                </a:ext>
              </a:extLst>
            </p:cNvPr>
            <p:cNvSpPr txBox="1"/>
            <p:nvPr/>
          </p:nvSpPr>
          <p:spPr>
            <a:xfrm>
              <a:off x="10518610" y="491507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????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212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454E-A66A-8275-4F9C-F1B55F0C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7BEF-EA14-59C7-8721-F437BD12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" y="13148"/>
            <a:ext cx="10515600" cy="1325563"/>
          </a:xfrm>
        </p:spPr>
        <p:txBody>
          <a:bodyPr/>
          <a:lstStyle/>
          <a:p>
            <a:r>
              <a:rPr lang="en-US" dirty="0"/>
              <a:t>Discrete time Fourier 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BD03C-C3AE-0A80-C02E-3F6B6645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87"/>
          <a:stretch/>
        </p:blipFill>
        <p:spPr>
          <a:xfrm>
            <a:off x="3011550" y="1661498"/>
            <a:ext cx="6085032" cy="21863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CE30A23-5EE3-37AC-C115-611F9A16B345}"/>
              </a:ext>
            </a:extLst>
          </p:cNvPr>
          <p:cNvSpPr txBox="1"/>
          <p:nvPr/>
        </p:nvSpPr>
        <p:spPr>
          <a:xfrm>
            <a:off x="42814" y="1399888"/>
            <a:ext cx="2650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the parts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B6F29A-2047-A9B6-F8B9-64689EE00D13}"/>
              </a:ext>
            </a:extLst>
          </p:cNvPr>
          <p:cNvGrpSpPr/>
          <p:nvPr/>
        </p:nvGrpSpPr>
        <p:grpSpPr>
          <a:xfrm>
            <a:off x="2261690" y="3167451"/>
            <a:ext cx="4989251" cy="1696946"/>
            <a:chOff x="6787457" y="2766060"/>
            <a:chExt cx="4989251" cy="16969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5776C8-D677-9B24-995F-A9B63752B63D}"/>
                </a:ext>
              </a:extLst>
            </p:cNvPr>
            <p:cNvSpPr txBox="1"/>
            <p:nvPr/>
          </p:nvSpPr>
          <p:spPr>
            <a:xfrm>
              <a:off x="6787457" y="3508899"/>
              <a:ext cx="49892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FT of x</a:t>
              </a:r>
            </a:p>
            <a:p>
              <a:r>
                <a:rPr lang="en-US" sz="2800" dirty="0"/>
                <a:t>index j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D0A644-A752-7064-9AC5-4A6EA90C6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581" y="2766060"/>
              <a:ext cx="0" cy="8594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0148E0-91E0-8B88-9A8B-354A9ABCE5FF}"/>
              </a:ext>
            </a:extLst>
          </p:cNvPr>
          <p:cNvGrpSpPr/>
          <p:nvPr/>
        </p:nvGrpSpPr>
        <p:grpSpPr>
          <a:xfrm>
            <a:off x="3977317" y="3829766"/>
            <a:ext cx="1687282" cy="2379680"/>
            <a:chOff x="7193489" y="2766060"/>
            <a:chExt cx="1687282" cy="23796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3A77CF-D76C-79DF-F3BC-048A1F8FFF56}"/>
                </a:ext>
              </a:extLst>
            </p:cNvPr>
            <p:cNvSpPr txBox="1"/>
            <p:nvPr/>
          </p:nvSpPr>
          <p:spPr>
            <a:xfrm>
              <a:off x="7193489" y="4191633"/>
              <a:ext cx="168728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sum over</a:t>
              </a:r>
            </a:p>
            <a:p>
              <a:r>
                <a:rPr lang="en-US" sz="2800" dirty="0"/>
                <a:t>all time 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0AB57E-29AD-B873-25B5-49B2957C2D4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8037130" y="2766060"/>
              <a:ext cx="8451" cy="1425573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D06121-1AB9-7208-F974-2C61038CB92F}"/>
              </a:ext>
            </a:extLst>
          </p:cNvPr>
          <p:cNvGrpSpPr/>
          <p:nvPr/>
        </p:nvGrpSpPr>
        <p:grpSpPr>
          <a:xfrm>
            <a:off x="5187716" y="3106290"/>
            <a:ext cx="2963041" cy="1788601"/>
            <a:chOff x="7664581" y="2766060"/>
            <a:chExt cx="2963041" cy="17886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B7CBFC-8939-BD67-8DE1-36AF19CB25DF}"/>
                </a:ext>
              </a:extLst>
            </p:cNvPr>
            <p:cNvSpPr txBox="1"/>
            <p:nvPr/>
          </p:nvSpPr>
          <p:spPr>
            <a:xfrm>
              <a:off x="7664581" y="3600554"/>
              <a:ext cx="296304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data x</a:t>
              </a:r>
            </a:p>
            <a:p>
              <a:r>
                <a:rPr lang="en-US" sz="2800" dirty="0"/>
                <a:t>index 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90760AC-EC59-3A40-3D95-183013C2E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581" y="2766060"/>
              <a:ext cx="0" cy="8594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C309F1-9011-1D88-BF4A-A9FBD6F1B6F5}"/>
              </a:ext>
            </a:extLst>
          </p:cNvPr>
          <p:cNvGrpSpPr/>
          <p:nvPr/>
        </p:nvGrpSpPr>
        <p:grpSpPr>
          <a:xfrm>
            <a:off x="6754942" y="3097926"/>
            <a:ext cx="1745828" cy="2357046"/>
            <a:chOff x="6662507" y="3198855"/>
            <a:chExt cx="1745828" cy="235704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78AAB1-0D7F-9AA9-AC3F-B29619A42D08}"/>
                </a:ext>
              </a:extLst>
            </p:cNvPr>
            <p:cNvSpPr txBox="1"/>
            <p:nvPr/>
          </p:nvSpPr>
          <p:spPr>
            <a:xfrm>
              <a:off x="6669237" y="4046799"/>
              <a:ext cx="173909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frequency</a:t>
              </a:r>
            </a:p>
            <a:p>
              <a:r>
                <a:rPr lang="en-US" sz="2800" dirty="0"/>
                <a:t>index j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8917E-A087-8F6E-BA29-574659B301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5774" y="3198855"/>
              <a:ext cx="0" cy="8594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E98EDF-A6EF-8D20-CC6C-7F4C69A67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2507" y="4944934"/>
              <a:ext cx="1561360" cy="610967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C82D21-EECC-C885-7AAB-FE6D641B37A6}"/>
              </a:ext>
            </a:extLst>
          </p:cNvPr>
          <p:cNvGrpSpPr/>
          <p:nvPr/>
        </p:nvGrpSpPr>
        <p:grpSpPr>
          <a:xfrm>
            <a:off x="8500770" y="3097926"/>
            <a:ext cx="2963041" cy="2363344"/>
            <a:chOff x="8489894" y="3137018"/>
            <a:chExt cx="2963041" cy="236334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2444984-95F7-8DFB-BE8E-948071E79E3B}"/>
                </a:ext>
              </a:extLst>
            </p:cNvPr>
            <p:cNvGrpSpPr/>
            <p:nvPr/>
          </p:nvGrpSpPr>
          <p:grpSpPr>
            <a:xfrm>
              <a:off x="8489894" y="3137018"/>
              <a:ext cx="2963041" cy="1779755"/>
              <a:chOff x="7912157" y="2766060"/>
              <a:chExt cx="2963041" cy="1779755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512697-1D12-97AA-0AA4-941F347C5A45}"/>
                  </a:ext>
                </a:extLst>
              </p:cNvPr>
              <p:cNvSpPr txBox="1"/>
              <p:nvPr/>
            </p:nvSpPr>
            <p:spPr>
              <a:xfrm>
                <a:off x="7912157" y="3591708"/>
                <a:ext cx="296304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time</a:t>
                </a:r>
              </a:p>
              <a:p>
                <a:r>
                  <a:rPr lang="en-US" sz="2800" dirty="0"/>
                  <a:t>index n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79C499E-0F50-4151-11F3-21FAE4EA97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45581" y="2766060"/>
                <a:ext cx="0" cy="859445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7BE83E9-AF4F-D057-EE0A-0B972586E6B2}"/>
                </a:ext>
              </a:extLst>
            </p:cNvPr>
            <p:cNvGrpSpPr/>
            <p:nvPr/>
          </p:nvGrpSpPr>
          <p:grpSpPr>
            <a:xfrm>
              <a:off x="8623318" y="4925404"/>
              <a:ext cx="1743490" cy="574958"/>
              <a:chOff x="4555127" y="4813790"/>
              <a:chExt cx="1743490" cy="57495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0241A8E-C82C-94C6-8687-F7D621CBE2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47498"/>
              <a:stretch/>
            </p:blipFill>
            <p:spPr>
              <a:xfrm>
                <a:off x="4555127" y="4813790"/>
                <a:ext cx="915370" cy="549419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FD0F377-D47B-BB77-1A9F-85EE507815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764"/>
              <a:stretch/>
            </p:blipFill>
            <p:spPr>
              <a:xfrm>
                <a:off x="5475061" y="4839329"/>
                <a:ext cx="823556" cy="549419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7FB9C7-1DD7-D17D-CBFF-3EDBFB09E5B1}"/>
              </a:ext>
            </a:extLst>
          </p:cNvPr>
          <p:cNvGrpSpPr/>
          <p:nvPr/>
        </p:nvGrpSpPr>
        <p:grpSpPr>
          <a:xfrm>
            <a:off x="5791200" y="2297488"/>
            <a:ext cx="4294063" cy="914400"/>
            <a:chOff x="5791200" y="2297488"/>
            <a:chExt cx="4294063" cy="9144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CE44C2-1C05-C854-7C64-634BEF1A64AE}"/>
                </a:ext>
              </a:extLst>
            </p:cNvPr>
            <p:cNvSpPr/>
            <p:nvPr/>
          </p:nvSpPr>
          <p:spPr>
            <a:xfrm>
              <a:off x="5791200" y="2297488"/>
              <a:ext cx="3305382" cy="91440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E5D335-C0C3-EB83-C3F3-73F41911B2C3}"/>
                </a:ext>
              </a:extLst>
            </p:cNvPr>
            <p:cNvSpPr txBox="1"/>
            <p:nvPr/>
          </p:nvSpPr>
          <p:spPr>
            <a:xfrm>
              <a:off x="9182452" y="249307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????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786C09-F1C1-FEA5-D9DF-29561A5B9EB4}"/>
              </a:ext>
            </a:extLst>
          </p:cNvPr>
          <p:cNvGrpSpPr/>
          <p:nvPr/>
        </p:nvGrpSpPr>
        <p:grpSpPr>
          <a:xfrm>
            <a:off x="7753192" y="1244159"/>
            <a:ext cx="1491498" cy="1240233"/>
            <a:chOff x="7753192" y="1244159"/>
            <a:chExt cx="1491498" cy="124023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8768FB4-5C61-EE7B-5AE0-2A7D92033880}"/>
                </a:ext>
              </a:extLst>
            </p:cNvPr>
            <p:cNvCxnSpPr>
              <a:cxnSpLocks/>
            </p:cNvCxnSpPr>
            <p:nvPr/>
          </p:nvCxnSpPr>
          <p:spPr>
            <a:xfrm>
              <a:off x="7943165" y="1793447"/>
              <a:ext cx="0" cy="6909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C182F5B-72B8-14F9-7B8E-9FFA70FF604E}"/>
                    </a:ext>
                  </a:extLst>
                </p:cNvPr>
                <p:cNvSpPr txBox="1"/>
                <p:nvPr/>
              </p:nvSpPr>
              <p:spPr>
                <a:xfrm>
                  <a:off x="7753192" y="1244159"/>
                  <a:ext cx="1491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C182F5B-72B8-14F9-7B8E-9FFA70FF6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3192" y="1244159"/>
                  <a:ext cx="149149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25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9122-70D8-8540-85DE-C683D425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Discrete time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129F3-E2DA-1F4B-96E4-111A4F05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4" y="1321364"/>
            <a:ext cx="10515600" cy="5141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Fourier transform </a:t>
            </a:r>
            <a:r>
              <a:rPr lang="en-US" u="sng" dirty="0"/>
              <a:t>intuition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08164-7E4E-9F4A-A45B-9F72CF31F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86"/>
          <a:stretch/>
        </p:blipFill>
        <p:spPr>
          <a:xfrm>
            <a:off x="4068161" y="1951706"/>
            <a:ext cx="6031803" cy="2186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1039E-DE91-1046-A149-B2117F411A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844"/>
          <a:stretch/>
        </p:blipFill>
        <p:spPr>
          <a:xfrm>
            <a:off x="509915" y="4431591"/>
            <a:ext cx="3185180" cy="901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307F2C-C419-7B4B-918E-49804B038103}"/>
              </a:ext>
            </a:extLst>
          </p:cNvPr>
          <p:cNvSpPr txBox="1"/>
          <p:nvPr/>
        </p:nvSpPr>
        <p:spPr>
          <a:xfrm>
            <a:off x="690558" y="3926659"/>
            <a:ext cx="2481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Euler’s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EA3D0D-CBB1-A64F-AB2F-B01A35F5BFE8}"/>
                  </a:ext>
                </a:extLst>
              </p:cNvPr>
              <p:cNvSpPr txBox="1"/>
              <p:nvPr/>
            </p:nvSpPr>
            <p:spPr>
              <a:xfrm>
                <a:off x="690558" y="5372704"/>
                <a:ext cx="11867322" cy="988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So, at each time (index n) multiply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by sinusoids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Then sum up over all time.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EA3D0D-CBB1-A64F-AB2F-B01A35F5B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58" y="5372704"/>
                <a:ext cx="11867322" cy="988797"/>
              </a:xfrm>
              <a:prstGeom prst="rect">
                <a:avLst/>
              </a:prstGeom>
              <a:blipFill>
                <a:blip r:embed="rId4"/>
                <a:stretch>
                  <a:fillRect l="-1070" t="-5000" b="-1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3DEA92D-0423-9D4C-BB99-069F2A3C5BBF}"/>
              </a:ext>
            </a:extLst>
          </p:cNvPr>
          <p:cNvSpPr txBox="1"/>
          <p:nvPr/>
        </p:nvSpPr>
        <p:spPr>
          <a:xfrm>
            <a:off x="6234787" y="1981980"/>
            <a:ext cx="5079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Data as a function of time index 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2124E9-B3C8-CA47-8640-7E820EA8820B}"/>
              </a:ext>
            </a:extLst>
          </p:cNvPr>
          <p:cNvSpPr txBox="1"/>
          <p:nvPr/>
        </p:nvSpPr>
        <p:spPr>
          <a:xfrm>
            <a:off x="690558" y="2536115"/>
            <a:ext cx="31906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 as a function of</a:t>
            </a:r>
          </a:p>
          <a:p>
            <a:r>
              <a:rPr lang="en-US" sz="2800" dirty="0"/>
              <a:t>frequency index j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6362E4-F94A-3449-B476-1716AA873D43}"/>
              </a:ext>
            </a:extLst>
          </p:cNvPr>
          <p:cNvSpPr/>
          <p:nvPr/>
        </p:nvSpPr>
        <p:spPr>
          <a:xfrm>
            <a:off x="6275685" y="2631686"/>
            <a:ext cx="612795" cy="842725"/>
          </a:xfrm>
          <a:prstGeom prst="rect">
            <a:avLst/>
          </a:prstGeom>
          <a:noFill/>
          <a:ln w="101600">
            <a:solidFill>
              <a:srgbClr val="FF0000">
                <a:alpha val="2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8752DA-6FB9-6F49-A09C-ADE4AAE655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18"/>
          <a:stretch/>
        </p:blipFill>
        <p:spPr>
          <a:xfrm>
            <a:off x="3881175" y="4423192"/>
            <a:ext cx="5356241" cy="9017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02E3C7E-D615-D842-8A24-673F514F8688}"/>
              </a:ext>
            </a:extLst>
          </p:cNvPr>
          <p:cNvSpPr/>
          <p:nvPr/>
        </p:nvSpPr>
        <p:spPr>
          <a:xfrm>
            <a:off x="6888479" y="2638609"/>
            <a:ext cx="3337561" cy="842725"/>
          </a:xfrm>
          <a:prstGeom prst="rect">
            <a:avLst/>
          </a:prstGeom>
          <a:noFill/>
          <a:ln w="10160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A1C916-1B91-AC41-84AB-277A03C6E198}"/>
                  </a:ext>
                </a:extLst>
              </p:cNvPr>
              <p:cNvSpPr txBox="1"/>
              <p:nvPr/>
            </p:nvSpPr>
            <p:spPr>
              <a:xfrm>
                <a:off x="6915331" y="3580177"/>
                <a:ext cx="3826753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Sinusoids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A1C916-1B91-AC41-84AB-277A03C6E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331" y="3580177"/>
                <a:ext cx="3826753" cy="557910"/>
              </a:xfrm>
              <a:prstGeom prst="rect">
                <a:avLst/>
              </a:prstGeom>
              <a:blipFill>
                <a:blip r:embed="rId5"/>
                <a:stretch>
                  <a:fillRect l="-3311" t="-888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3972ACE-4998-D2D6-42B2-29B48A1DABBE}"/>
              </a:ext>
            </a:extLst>
          </p:cNvPr>
          <p:cNvGrpSpPr/>
          <p:nvPr/>
        </p:nvGrpSpPr>
        <p:grpSpPr>
          <a:xfrm>
            <a:off x="8447272" y="359152"/>
            <a:ext cx="3305382" cy="914400"/>
            <a:chOff x="8447272" y="359152"/>
            <a:chExt cx="3305382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BB1F645-BC3E-391A-4168-232E85715567}"/>
                    </a:ext>
                  </a:extLst>
                </p:cNvPr>
                <p:cNvSpPr txBox="1"/>
                <p:nvPr/>
              </p:nvSpPr>
              <p:spPr>
                <a:xfrm>
                  <a:off x="8842568" y="497546"/>
                  <a:ext cx="2514791" cy="6584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Euler’s formula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BB1F645-BC3E-391A-4168-232E857155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2568" y="497546"/>
                  <a:ext cx="2514791" cy="658450"/>
                </a:xfrm>
                <a:prstGeom prst="rect">
                  <a:avLst/>
                </a:prstGeom>
                <a:blipFill>
                  <a:blip r:embed="rId6"/>
                  <a:stretch>
                    <a:fillRect l="-2010" t="-5660" b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1FAE49-0631-A98F-4363-110E3C97654E}"/>
                </a:ext>
              </a:extLst>
            </p:cNvPr>
            <p:cNvSpPr/>
            <p:nvPr/>
          </p:nvSpPr>
          <p:spPr>
            <a:xfrm>
              <a:off x="8447272" y="359152"/>
              <a:ext cx="3305382" cy="91440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0962928-36BB-FE2B-2E9F-1BEBB062BD48}"/>
              </a:ext>
            </a:extLst>
          </p:cNvPr>
          <p:cNvSpPr txBox="1"/>
          <p:nvPr/>
        </p:nvSpPr>
        <p:spPr>
          <a:xfrm>
            <a:off x="6234787" y="1379694"/>
            <a:ext cx="589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Feynman: “</a:t>
            </a:r>
            <a:r>
              <a:rPr lang="en-US" i="1" dirty="0"/>
              <a:t>the most remarkable formula in mathematics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302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  <p:bldP spid="16" grpId="0"/>
      <p:bldP spid="17" grpId="0"/>
      <p:bldP spid="18" grpId="0" animBg="1"/>
      <p:bldP spid="21" grpId="0" animBg="1"/>
      <p:bldP spid="2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9122-70D8-8540-85DE-C683D425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Discrete time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129F3-E2DA-1F4B-96E4-111A4F05F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4" y="1321364"/>
            <a:ext cx="10515600" cy="5141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Fourier transform </a:t>
            </a:r>
            <a:r>
              <a:rPr lang="en-US" u="sng" dirty="0"/>
              <a:t>intuition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EA3D0D-CBB1-A64F-AB2F-B01A35F5BFE8}"/>
                  </a:ext>
                </a:extLst>
              </p:cNvPr>
              <p:cNvSpPr txBox="1"/>
              <p:nvPr/>
            </p:nvSpPr>
            <p:spPr>
              <a:xfrm>
                <a:off x="181617" y="4388844"/>
                <a:ext cx="11867322" cy="988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u="sng" dirty="0"/>
                  <a:t>Idea</a:t>
                </a:r>
                <a:r>
                  <a:rPr lang="en-US" sz="2800" dirty="0"/>
                  <a:t>: compare our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to sinusoids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and see how well they “match”.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EA3D0D-CBB1-A64F-AB2F-B01A35F5B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17" y="4388844"/>
                <a:ext cx="11867322" cy="988797"/>
              </a:xfrm>
              <a:prstGeom prst="rect">
                <a:avLst/>
              </a:prstGeom>
              <a:blipFill>
                <a:blip r:embed="rId3"/>
                <a:stretch>
                  <a:fillRect l="-962" t="-512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3D71A-EA31-194D-AC99-9A688B34CCB6}"/>
                  </a:ext>
                </a:extLst>
              </p:cNvPr>
              <p:cNvSpPr txBox="1"/>
              <p:nvPr/>
            </p:nvSpPr>
            <p:spPr>
              <a:xfrm>
                <a:off x="2153943" y="5483476"/>
                <a:ext cx="2741904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Good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=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3D71A-EA31-194D-AC99-9A688B34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943" y="5483476"/>
                <a:ext cx="2741904" cy="557910"/>
              </a:xfrm>
              <a:prstGeom prst="rect">
                <a:avLst/>
              </a:prstGeom>
              <a:blipFill>
                <a:blip r:embed="rId4"/>
                <a:stretch>
                  <a:fillRect l="-4608" t="-13636" r="-12442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8A472B-4979-4347-B833-D00D2ECF1EFE}"/>
                  </a:ext>
                </a:extLst>
              </p:cNvPr>
              <p:cNvSpPr txBox="1"/>
              <p:nvPr/>
            </p:nvSpPr>
            <p:spPr>
              <a:xfrm>
                <a:off x="6675809" y="5473599"/>
                <a:ext cx="2504660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Bad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=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8A472B-4979-4347-B833-D00D2ECF1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809" y="5473599"/>
                <a:ext cx="2504660" cy="557910"/>
              </a:xfrm>
              <a:prstGeom prst="rect">
                <a:avLst/>
              </a:prstGeom>
              <a:blipFill>
                <a:blip r:embed="rId5"/>
                <a:stretch>
                  <a:fillRect l="-5051" t="-13636" r="-13636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7778048-CE92-7448-B3C1-18E2DDFC589B}"/>
              </a:ext>
            </a:extLst>
          </p:cNvPr>
          <p:cNvSpPr txBox="1"/>
          <p:nvPr/>
        </p:nvSpPr>
        <p:spPr>
          <a:xfrm>
            <a:off x="5027933" y="5464455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big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4707E-794A-5744-B323-CE71CF342ECB}"/>
              </a:ext>
            </a:extLst>
          </p:cNvPr>
          <p:cNvSpPr txBox="1"/>
          <p:nvPr/>
        </p:nvSpPr>
        <p:spPr>
          <a:xfrm>
            <a:off x="9358579" y="5437023"/>
            <a:ext cx="947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small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E6AF4C-3A36-FD47-864E-A4359B718432}"/>
                  </a:ext>
                </a:extLst>
              </p:cNvPr>
              <p:cNvSpPr txBox="1"/>
              <p:nvPr/>
            </p:nvSpPr>
            <p:spPr>
              <a:xfrm>
                <a:off x="231215" y="6137345"/>
                <a:ext cx="7413055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reveals the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that match our data.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E6AF4C-3A36-FD47-864E-A4359B718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15" y="6137345"/>
                <a:ext cx="7413055" cy="557910"/>
              </a:xfrm>
              <a:prstGeom prst="rect">
                <a:avLst/>
              </a:prstGeom>
              <a:blipFill>
                <a:blip r:embed="rId7"/>
                <a:stretch>
                  <a:fillRect l="-342" t="-6667" r="-684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C9D6B3B-A192-C996-06D7-0400C3EB52AA}"/>
              </a:ext>
            </a:extLst>
          </p:cNvPr>
          <p:cNvGrpSpPr/>
          <p:nvPr/>
        </p:nvGrpSpPr>
        <p:grpSpPr>
          <a:xfrm>
            <a:off x="690558" y="1951706"/>
            <a:ext cx="10624146" cy="2186381"/>
            <a:chOff x="690558" y="1951706"/>
            <a:chExt cx="10624146" cy="21863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2B33331-F0BF-3220-851C-6978A1BCC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68161" y="1951706"/>
              <a:ext cx="6671266" cy="218638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1FB45D-C7CC-BE10-6B1F-0D6F20C98DD5}"/>
                </a:ext>
              </a:extLst>
            </p:cNvPr>
            <p:cNvSpPr txBox="1"/>
            <p:nvPr/>
          </p:nvSpPr>
          <p:spPr>
            <a:xfrm>
              <a:off x="6234787" y="1981980"/>
              <a:ext cx="50799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Data as a function of time index 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6CA6A8-9AC0-5B1C-7002-7FCF6A924B13}"/>
                </a:ext>
              </a:extLst>
            </p:cNvPr>
            <p:cNvSpPr txBox="1"/>
            <p:nvPr/>
          </p:nvSpPr>
          <p:spPr>
            <a:xfrm>
              <a:off x="690558" y="2536115"/>
              <a:ext cx="319061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Data as a function of</a:t>
              </a:r>
            </a:p>
            <a:p>
              <a:r>
                <a:rPr lang="en-US" sz="2800" dirty="0"/>
                <a:t>frequency index j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30AE37-5FC9-9F81-FE24-1DCEECE654EC}"/>
                </a:ext>
              </a:extLst>
            </p:cNvPr>
            <p:cNvSpPr/>
            <p:nvPr/>
          </p:nvSpPr>
          <p:spPr>
            <a:xfrm>
              <a:off x="6275685" y="2631686"/>
              <a:ext cx="612795" cy="842725"/>
            </a:xfrm>
            <a:prstGeom prst="rect">
              <a:avLst/>
            </a:prstGeom>
            <a:noFill/>
            <a:ln w="101600">
              <a:solidFill>
                <a:srgbClr val="FF0000">
                  <a:alpha val="2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BCC05C-A3D1-8CD6-FE80-B78B037813DC}"/>
                </a:ext>
              </a:extLst>
            </p:cNvPr>
            <p:cNvSpPr/>
            <p:nvPr/>
          </p:nvSpPr>
          <p:spPr>
            <a:xfrm>
              <a:off x="6888479" y="2638609"/>
              <a:ext cx="3337561" cy="842725"/>
            </a:xfrm>
            <a:prstGeom prst="rect">
              <a:avLst/>
            </a:prstGeom>
            <a:noFill/>
            <a:ln w="10160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7FF709E-5274-2E97-EC2C-FEEE5B1F1F3D}"/>
                    </a:ext>
                  </a:extLst>
                </p:cNvPr>
                <p:cNvSpPr txBox="1"/>
                <p:nvPr/>
              </p:nvSpPr>
              <p:spPr>
                <a:xfrm>
                  <a:off x="6915331" y="3580177"/>
                  <a:ext cx="3826753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>
                      <a:solidFill>
                        <a:schemeClr val="accent1"/>
                      </a:solidFill>
                    </a:rPr>
                    <a:t>Sinusoids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sz="28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7FF709E-5274-2E97-EC2C-FEEE5B1F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331" y="3580177"/>
                  <a:ext cx="3826753" cy="557910"/>
                </a:xfrm>
                <a:prstGeom prst="rect">
                  <a:avLst/>
                </a:prstGeom>
                <a:blipFill>
                  <a:blip r:embed="rId9"/>
                  <a:stretch>
                    <a:fillRect l="-3311" t="-11111" r="-8940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426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5" grpId="0"/>
      <p:bldP spid="16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B832299-467E-3426-160B-B8B6224D6741}"/>
              </a:ext>
            </a:extLst>
          </p:cNvPr>
          <p:cNvSpPr/>
          <p:nvPr/>
        </p:nvSpPr>
        <p:spPr>
          <a:xfrm>
            <a:off x="4545355" y="1193606"/>
            <a:ext cx="7475264" cy="5141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“Compare” the data to sinusoids oscillating at different frequencies f"/>
          <p:cNvSpPr/>
          <p:nvPr/>
        </p:nvSpPr>
        <p:spPr>
          <a:xfrm>
            <a:off x="4557712" y="1205963"/>
            <a:ext cx="804919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/>
            </a:lvl1pPr>
          </a:lstStyle>
          <a:p>
            <a:r>
              <a:rPr sz="2531" dirty="0"/>
              <a:t>“Compare” data to sinusoids at different frequencies </a:t>
            </a:r>
          </a:p>
        </p:txBody>
      </p:sp>
      <p:sp>
        <p:nvSpPr>
          <p:cNvPr id="261" name="Match:"/>
          <p:cNvSpPr/>
          <p:nvPr/>
        </p:nvSpPr>
        <p:spPr>
          <a:xfrm>
            <a:off x="1769781" y="1847345"/>
            <a:ext cx="995465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400" dirty="0"/>
              <a:t>Match: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Power at frequency f is large"/>
              <p:cNvSpPr/>
              <p:nvPr/>
            </p:nvSpPr>
            <p:spPr>
              <a:xfrm>
                <a:off x="3759793" y="1828003"/>
                <a:ext cx="3535456" cy="4712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>
                  <a:defRPr sz="36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dirty="0"/>
                  <a:t>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dirty="0"/>
                  <a:t> is </a:t>
                </a:r>
                <a:r>
                  <a:rPr sz="2400" u="sng" dirty="0"/>
                  <a:t>large</a:t>
                </a:r>
              </a:p>
            </p:txBody>
          </p:sp>
        </mc:Choice>
        <mc:Fallback xmlns="">
          <p:sp>
            <p:nvSpPr>
              <p:cNvPr id="262" name="Power at frequency f is larg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793" y="1828003"/>
                <a:ext cx="3535456" cy="471219"/>
              </a:xfrm>
              <a:prstGeom prst="rect">
                <a:avLst/>
              </a:prstGeom>
              <a:blipFill>
                <a:blip r:embed="rId3"/>
                <a:stretch>
                  <a:fillRect l="-2151" t="-13514" r="-3226" b="-2432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Mismatch:"/>
          <p:cNvSpPr/>
          <p:nvPr/>
        </p:nvSpPr>
        <p:spPr>
          <a:xfrm>
            <a:off x="1782980" y="2436250"/>
            <a:ext cx="1964532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2400" dirty="0"/>
              <a:t>Mismatch: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Power at frequency f is small"/>
              <p:cNvSpPr/>
              <p:nvPr/>
            </p:nvSpPr>
            <p:spPr>
              <a:xfrm>
                <a:off x="3747593" y="2412897"/>
                <a:ext cx="3569119" cy="4712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none" lIns="35719" tIns="35719" rIns="35719" bIns="35719" anchor="ctr">
                <a:spAutoFit/>
              </a:bodyPr>
              <a:lstStyle/>
              <a:p>
                <a:pPr>
                  <a:defRPr sz="36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dirty="0"/>
                  <a:t>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dirty="0"/>
                  <a:t> is </a:t>
                </a:r>
                <a:r>
                  <a:rPr sz="2400" u="sng" dirty="0"/>
                  <a:t>small</a:t>
                </a:r>
              </a:p>
            </p:txBody>
          </p:sp>
        </mc:Choice>
        <mc:Fallback xmlns="">
          <p:sp>
            <p:nvSpPr>
              <p:cNvPr id="264" name="Power at frequency f is smal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593" y="2412897"/>
                <a:ext cx="3569119" cy="471219"/>
              </a:xfrm>
              <a:prstGeom prst="rect">
                <a:avLst/>
              </a:prstGeom>
              <a:blipFill>
                <a:blip r:embed="rId4"/>
                <a:stretch>
                  <a:fillRect l="-2135" t="-13158" r="-3559" b="-2105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5" name="Example:"/>
          <p:cNvSpPr/>
          <p:nvPr/>
        </p:nvSpPr>
        <p:spPr>
          <a:xfrm>
            <a:off x="962166" y="3085069"/>
            <a:ext cx="1356141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u="sng"/>
            </a:lvl1pPr>
          </a:lstStyle>
          <a:p>
            <a:r>
              <a:rPr sz="2400" dirty="0"/>
              <a:t>Example:</a:t>
            </a:r>
          </a:p>
        </p:txBody>
      </p:sp>
      <p:grpSp>
        <p:nvGrpSpPr>
          <p:cNvPr id="268" name="Group"/>
          <p:cNvGrpSpPr/>
          <p:nvPr/>
        </p:nvGrpSpPr>
        <p:grpSpPr>
          <a:xfrm>
            <a:off x="3485892" y="3083039"/>
            <a:ext cx="7270015" cy="1750219"/>
            <a:chOff x="0" y="0"/>
            <a:chExt cx="10339576" cy="2489200"/>
          </a:xfrm>
        </p:grpSpPr>
        <p:sp>
          <p:nvSpPr>
            <p:cNvPr id="266" name="“Data”…"/>
            <p:cNvSpPr/>
            <p:nvPr/>
          </p:nvSpPr>
          <p:spPr>
            <a:xfrm>
              <a:off x="7704096" y="374990"/>
              <a:ext cx="2635480" cy="11531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 algn="l"/>
              <a:r>
                <a:rPr sz="2400" dirty="0"/>
                <a:t>“Data”</a:t>
              </a:r>
            </a:p>
            <a:p>
              <a:pPr algn="l"/>
              <a:r>
                <a:rPr sz="2400" dirty="0"/>
                <a:t>10 Hz cosine</a:t>
              </a:r>
            </a:p>
          </p:txBody>
        </p:sp>
        <p:pic>
          <p:nvPicPr>
            <p:cNvPr id="267" name="droppedImage.pdf" descr="droppedImage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6899595" cy="2489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71" name="Group"/>
          <p:cNvGrpSpPr/>
          <p:nvPr/>
        </p:nvGrpSpPr>
        <p:grpSpPr>
          <a:xfrm>
            <a:off x="1287576" y="4900235"/>
            <a:ext cx="6955917" cy="1819052"/>
            <a:chOff x="-901859" y="101605"/>
            <a:chExt cx="9892856" cy="2587096"/>
          </a:xfrm>
        </p:grpSpPr>
        <p:pic>
          <p:nvPicPr>
            <p:cNvPr id="269" name="droppedImage.pdf" descr="droppedImage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82190" y="206898"/>
              <a:ext cx="6908807" cy="24818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0" name="4 Hz"/>
            <p:cNvSpPr/>
            <p:nvPr/>
          </p:nvSpPr>
          <p:spPr>
            <a:xfrm>
              <a:off x="-901859" y="101605"/>
              <a:ext cx="1003125" cy="62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FF4013"/>
                  </a:solidFill>
                </a:defRPr>
              </a:lvl1pPr>
            </a:lstStyle>
            <a:p>
              <a:r>
                <a:rPr sz="2400" dirty="0"/>
                <a:t>4 Hz</a:t>
              </a:r>
            </a:p>
          </p:txBody>
        </p:sp>
      </p:grpSp>
      <p:sp>
        <p:nvSpPr>
          <p:cNvPr id="272" name="Rectangle"/>
          <p:cNvSpPr/>
          <p:nvPr/>
        </p:nvSpPr>
        <p:spPr>
          <a:xfrm>
            <a:off x="1756962" y="2394011"/>
            <a:ext cx="1571625" cy="508992"/>
          </a:xfrm>
          <a:prstGeom prst="rect">
            <a:avLst/>
          </a:prstGeom>
          <a:ln w="50800">
            <a:solidFill>
              <a:srgbClr val="FF4013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4013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73" name="Data has low power at 4 Hz"/>
          <p:cNvSpPr/>
          <p:nvPr/>
        </p:nvSpPr>
        <p:spPr>
          <a:xfrm>
            <a:off x="201517" y="6291634"/>
            <a:ext cx="316934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2800">
                <a:solidFill>
                  <a:srgbClr val="FF6A00"/>
                </a:solidFill>
              </a:defRPr>
            </a:pPr>
            <a:r>
              <a:rPr sz="1969" dirty="0"/>
              <a:t>4 Hz</a:t>
            </a:r>
            <a:r>
              <a:rPr lang="en-US" sz="1969" dirty="0"/>
              <a:t> does not match data</a:t>
            </a:r>
            <a:endParaRPr sz="1969" dirty="0"/>
          </a:p>
        </p:txBody>
      </p:sp>
      <p:grpSp>
        <p:nvGrpSpPr>
          <p:cNvPr id="276" name="Group"/>
          <p:cNvGrpSpPr/>
          <p:nvPr/>
        </p:nvGrpSpPr>
        <p:grpSpPr>
          <a:xfrm>
            <a:off x="3454823" y="4900235"/>
            <a:ext cx="7058350" cy="1753324"/>
            <a:chOff x="0" y="187927"/>
            <a:chExt cx="10038540" cy="2493615"/>
          </a:xfrm>
        </p:grpSpPr>
        <p:pic>
          <p:nvPicPr>
            <p:cNvPr id="274" name="droppedImage.pdf" descr="droppedImage.pdf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203200"/>
              <a:ext cx="6908800" cy="24783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" name="10 Hz"/>
            <p:cNvSpPr/>
            <p:nvPr/>
          </p:nvSpPr>
          <p:spPr>
            <a:xfrm>
              <a:off x="8791475" y="187927"/>
              <a:ext cx="1247065" cy="62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96D35F"/>
                  </a:solidFill>
                </a:defRPr>
              </a:lvl1pPr>
            </a:lstStyle>
            <a:p>
              <a:r>
                <a:rPr sz="2400" dirty="0"/>
                <a:t>10 Hz</a:t>
              </a:r>
            </a:p>
          </p:txBody>
        </p:sp>
      </p:grpSp>
      <p:sp>
        <p:nvSpPr>
          <p:cNvPr id="277" name="Data has high power at 10 Hz"/>
          <p:cNvSpPr/>
          <p:nvPr/>
        </p:nvSpPr>
        <p:spPr>
          <a:xfrm>
            <a:off x="8697428" y="6273701"/>
            <a:ext cx="3683748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2800">
                <a:solidFill>
                  <a:srgbClr val="96D35F"/>
                </a:solidFill>
              </a:defRPr>
            </a:pPr>
            <a:r>
              <a:rPr sz="1969" dirty="0"/>
              <a:t>10 Hz</a:t>
            </a:r>
            <a:r>
              <a:rPr lang="en-US" sz="1969" dirty="0"/>
              <a:t> matches data</a:t>
            </a:r>
            <a:endParaRPr sz="1969" dirty="0"/>
          </a:p>
        </p:txBody>
      </p:sp>
      <p:sp>
        <p:nvSpPr>
          <p:cNvPr id="278" name="Rectangle"/>
          <p:cNvSpPr/>
          <p:nvPr/>
        </p:nvSpPr>
        <p:spPr>
          <a:xfrm>
            <a:off x="1756962" y="1813582"/>
            <a:ext cx="1571625" cy="508992"/>
          </a:xfrm>
          <a:prstGeom prst="rect">
            <a:avLst/>
          </a:prstGeom>
          <a:ln w="50800">
            <a:solidFill>
              <a:srgbClr val="96D35F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solidFill>
                  <a:srgbClr val="FF4013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280" name="Small contribution to data"/>
          <p:cNvSpPr/>
          <p:nvPr/>
        </p:nvSpPr>
        <p:spPr>
          <a:xfrm>
            <a:off x="201517" y="5828077"/>
            <a:ext cx="3136528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3000">
                <a:solidFill>
                  <a:srgbClr val="FF6A00"/>
                </a:solidFill>
              </a:defRPr>
            </a:pPr>
            <a:r>
              <a:rPr lang="en-US" sz="2109" dirty="0"/>
              <a:t>... </a:t>
            </a:r>
            <a:r>
              <a:rPr lang="en-US" sz="2109" u="sng" dirty="0"/>
              <a:t>s</a:t>
            </a:r>
            <a:r>
              <a:rPr sz="2109" u="sng" dirty="0"/>
              <a:t>mall</a:t>
            </a:r>
            <a:r>
              <a:rPr sz="2109" dirty="0"/>
              <a:t> </a:t>
            </a:r>
            <a:r>
              <a:rPr lang="en-US" sz="2109" dirty="0"/>
              <a:t>value</a:t>
            </a:r>
            <a:endParaRPr sz="2109" dirty="0"/>
          </a:p>
        </p:txBody>
      </p:sp>
      <p:sp>
        <p:nvSpPr>
          <p:cNvPr id="281" name="Large contribution to data"/>
          <p:cNvSpPr/>
          <p:nvPr/>
        </p:nvSpPr>
        <p:spPr>
          <a:xfrm>
            <a:off x="8708395" y="5828077"/>
            <a:ext cx="3282088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l">
              <a:defRPr sz="3000">
                <a:solidFill>
                  <a:srgbClr val="96D35F"/>
                </a:solidFill>
              </a:defRPr>
            </a:pPr>
            <a:r>
              <a:rPr lang="en-US" sz="2109" dirty="0"/>
              <a:t>... </a:t>
            </a:r>
            <a:r>
              <a:rPr lang="en-US" sz="2109" u="sng" dirty="0"/>
              <a:t>l</a:t>
            </a:r>
            <a:r>
              <a:rPr sz="2109" u="sng" dirty="0"/>
              <a:t>arge</a:t>
            </a:r>
            <a:r>
              <a:rPr sz="2109" dirty="0"/>
              <a:t> </a:t>
            </a:r>
            <a:r>
              <a:rPr lang="en-US" sz="2109" dirty="0"/>
              <a:t>value</a:t>
            </a:r>
            <a:endParaRPr sz="210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628F8-3250-65C0-7CBA-CF9F025D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Spectrum: idea</a:t>
            </a:r>
          </a:p>
        </p:txBody>
      </p:sp>
      <p:sp>
        <p:nvSpPr>
          <p:cNvPr id="3" name="Small contribution to data">
            <a:extLst>
              <a:ext uri="{FF2B5EF4-FFF2-40B4-BE49-F238E27FC236}">
                <a16:creationId xmlns:a16="http://schemas.microsoft.com/office/drawing/2014/main" id="{558F9A34-2D2C-843B-BF9F-75A121EBA094}"/>
              </a:ext>
            </a:extLst>
          </p:cNvPr>
          <p:cNvSpPr/>
          <p:nvPr/>
        </p:nvSpPr>
        <p:spPr>
          <a:xfrm>
            <a:off x="227646" y="5391921"/>
            <a:ext cx="3136528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sz="3000">
                <a:solidFill>
                  <a:srgbClr val="FF6A00"/>
                </a:solidFill>
              </a:defRPr>
            </a:pPr>
            <a:r>
              <a:rPr lang="en-US" sz="2109" dirty="0"/>
              <a:t>Multiply (+,-,+,-,...) &amp; add </a:t>
            </a:r>
            <a:endParaRPr sz="2109" dirty="0"/>
          </a:p>
        </p:txBody>
      </p:sp>
      <p:sp>
        <p:nvSpPr>
          <p:cNvPr id="4" name="Large contribution to data">
            <a:extLst>
              <a:ext uri="{FF2B5EF4-FFF2-40B4-BE49-F238E27FC236}">
                <a16:creationId xmlns:a16="http://schemas.microsoft.com/office/drawing/2014/main" id="{50BE0B5F-AD77-EA05-762E-721A8456D80E}"/>
              </a:ext>
            </a:extLst>
          </p:cNvPr>
          <p:cNvSpPr/>
          <p:nvPr/>
        </p:nvSpPr>
        <p:spPr>
          <a:xfrm>
            <a:off x="8708395" y="5391921"/>
            <a:ext cx="3282088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sz="3000">
                <a:solidFill>
                  <a:srgbClr val="96D35F"/>
                </a:solidFill>
              </a:defRPr>
            </a:pPr>
            <a:r>
              <a:rPr lang="en-US" sz="2109" dirty="0"/>
              <a:t>Multiple (+,+,+,+,...) &amp; add </a:t>
            </a:r>
            <a:endParaRPr sz="2109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62FE17-6989-16C6-AB40-48C3E1387419}"/>
              </a:ext>
            </a:extLst>
          </p:cNvPr>
          <p:cNvSpPr txBox="1">
            <a:spLocks/>
          </p:cNvSpPr>
          <p:nvPr/>
        </p:nvSpPr>
        <p:spPr>
          <a:xfrm>
            <a:off x="159024" y="1205963"/>
            <a:ext cx="10515600" cy="51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687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68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687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687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687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Fourier transform </a:t>
            </a:r>
            <a:r>
              <a:rPr lang="en-US" u="sng" dirty="0"/>
              <a:t>intuition</a:t>
            </a:r>
            <a:r>
              <a:rPr lang="en-US" dirty="0"/>
              <a:t>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61" grpId="0" animBg="1" advAuto="0"/>
      <p:bldP spid="262" grpId="0" animBg="1" advAuto="0"/>
      <p:bldP spid="263" grpId="0" animBg="1" advAuto="0"/>
      <p:bldP spid="264" grpId="0" animBg="1" advAuto="0"/>
      <p:bldP spid="265" grpId="0" animBg="1" advAuto="0"/>
      <p:bldP spid="268" grpId="0" animBg="1" advAuto="0"/>
      <p:bldP spid="271" grpId="0" animBg="1" advAuto="0"/>
      <p:bldP spid="272" grpId="0" animBg="1" advAuto="0"/>
      <p:bldP spid="273" grpId="0" animBg="1" advAuto="0"/>
      <p:bldP spid="276" grpId="0" animBg="1" advAuto="0"/>
      <p:bldP spid="277" grpId="0" animBg="1" advAuto="0"/>
      <p:bldP spid="278" grpId="0" animBg="1" advAuto="0"/>
      <p:bldP spid="280" grpId="0" animBg="1" advAuto="0"/>
      <p:bldP spid="281" grpId="0" animBg="1" advAuto="0"/>
      <p:bldP spid="3" grpId="0" animBg="1" advAuto="0"/>
      <p:bldP spid="4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6CE8-82D6-3458-EDB5-60B54EC22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F7191C1-7D23-20B5-2569-401ED720FB06}"/>
              </a:ext>
            </a:extLst>
          </p:cNvPr>
          <p:cNvGrpSpPr/>
          <p:nvPr/>
        </p:nvGrpSpPr>
        <p:grpSpPr>
          <a:xfrm>
            <a:off x="3282592" y="938712"/>
            <a:ext cx="9822709" cy="1547213"/>
            <a:chOff x="3282592" y="938712"/>
            <a:chExt cx="9822709" cy="154721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1B8EDE5-6429-37D8-7033-1928AB4CC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9586"/>
            <a:stretch/>
          </p:blipFill>
          <p:spPr>
            <a:xfrm>
              <a:off x="3282592" y="938712"/>
              <a:ext cx="4268463" cy="1547213"/>
            </a:xfrm>
            <a:prstGeom prst="rect">
              <a:avLst/>
            </a:prstGeom>
          </p:spPr>
        </p:pic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943E8349-A22D-013D-C032-2A3E11B46D9E}"/>
                </a:ext>
              </a:extLst>
            </p:cNvPr>
            <p:cNvSpPr txBox="1">
              <a:spLocks/>
            </p:cNvSpPr>
            <p:nvPr/>
          </p:nvSpPr>
          <p:spPr>
            <a:xfrm>
              <a:off x="7805381" y="1477324"/>
              <a:ext cx="5299920" cy="5141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2200" u="sng" dirty="0"/>
                <a:t>Fourier transform</a:t>
              </a:r>
              <a:r>
                <a:rPr lang="en-US" sz="2200" dirty="0"/>
                <a:t> of the data </a:t>
              </a:r>
              <a:r>
                <a:rPr lang="en-US" sz="2200" i="1" dirty="0"/>
                <a:t>x.</a:t>
              </a:r>
              <a:endParaRPr lang="en-US" sz="2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64EF6-C919-FF5D-836E-2D887A288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Discrete time Fourier transform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1BBE3F-603F-F90E-D846-BD994D19C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18"/>
          <a:stretch/>
        </p:blipFill>
        <p:spPr>
          <a:xfrm>
            <a:off x="5925047" y="2574785"/>
            <a:ext cx="4649006" cy="78264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5950B2FA-B269-068E-C4AC-CF654B6A8A21}"/>
              </a:ext>
            </a:extLst>
          </p:cNvPr>
          <p:cNvGrpSpPr/>
          <p:nvPr/>
        </p:nvGrpSpPr>
        <p:grpSpPr>
          <a:xfrm>
            <a:off x="5680767" y="1974642"/>
            <a:ext cx="4629971" cy="859445"/>
            <a:chOff x="5088929" y="1959769"/>
            <a:chExt cx="4629971" cy="85944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4A7340A-02A6-3483-841A-2D4A93590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8929" y="1959769"/>
              <a:ext cx="0" cy="8594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230998-C67E-06EE-3021-7CD438EB6682}"/>
                </a:ext>
              </a:extLst>
            </p:cNvPr>
            <p:cNvSpPr txBox="1"/>
            <p:nvPr/>
          </p:nvSpPr>
          <p:spPr>
            <a:xfrm>
              <a:off x="5219078" y="2135571"/>
              <a:ext cx="44998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replace with Euler’s formula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FF4E0193-DD1D-7A98-4965-945DDBCD3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258882"/>
            <a:ext cx="7772400" cy="15360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3D5D11E-11EA-C3D6-5525-A8F834B07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351" y="4834134"/>
            <a:ext cx="4112597" cy="12049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A8924CF-780C-1EB5-E118-E980177E1168}"/>
              </a:ext>
            </a:extLst>
          </p:cNvPr>
          <p:cNvSpPr txBox="1"/>
          <p:nvPr/>
        </p:nvSpPr>
        <p:spPr>
          <a:xfrm>
            <a:off x="309811" y="5131783"/>
            <a:ext cx="171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Looks like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4D03F8D-453F-97A5-51C4-72BA3F221628}"/>
              </a:ext>
            </a:extLst>
          </p:cNvPr>
          <p:cNvCxnSpPr>
            <a:cxnSpLocks/>
          </p:cNvCxnSpPr>
          <p:nvPr/>
        </p:nvCxnSpPr>
        <p:spPr>
          <a:xfrm flipV="1">
            <a:off x="4154650" y="4232519"/>
            <a:ext cx="0" cy="859445"/>
          </a:xfrm>
          <a:prstGeom prst="straightConnector1">
            <a:avLst/>
          </a:prstGeom>
          <a:ln w="508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535ED7E-5BF8-E542-BBCF-A6B4CCBBD0B7}"/>
              </a:ext>
            </a:extLst>
          </p:cNvPr>
          <p:cNvCxnSpPr>
            <a:cxnSpLocks/>
          </p:cNvCxnSpPr>
          <p:nvPr/>
        </p:nvCxnSpPr>
        <p:spPr>
          <a:xfrm flipV="1">
            <a:off x="4638355" y="4232519"/>
            <a:ext cx="0" cy="859445"/>
          </a:xfrm>
          <a:prstGeom prst="straightConnector1">
            <a:avLst/>
          </a:prstGeom>
          <a:ln w="508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AB618C41-06F2-5106-F456-B7947533E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224" y="4834134"/>
            <a:ext cx="3886200" cy="111851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2A98F2A2-F0E3-0E5D-3F4B-21E7BEA974A7}"/>
              </a:ext>
            </a:extLst>
          </p:cNvPr>
          <p:cNvGrpSpPr/>
          <p:nvPr/>
        </p:nvGrpSpPr>
        <p:grpSpPr>
          <a:xfrm>
            <a:off x="2285051" y="3432694"/>
            <a:ext cx="4137354" cy="2471705"/>
            <a:chOff x="2285051" y="3432694"/>
            <a:chExt cx="4137354" cy="247170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2E13DE-F53A-990B-1D31-AAEFB7E2F8B9}"/>
                </a:ext>
              </a:extLst>
            </p:cNvPr>
            <p:cNvSpPr/>
            <p:nvPr/>
          </p:nvSpPr>
          <p:spPr>
            <a:xfrm>
              <a:off x="2285051" y="4989999"/>
              <a:ext cx="458146" cy="91440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F576DF2-2FB6-FC4A-5DA9-A5E6484C7740}"/>
                </a:ext>
              </a:extLst>
            </p:cNvPr>
            <p:cNvSpPr/>
            <p:nvPr/>
          </p:nvSpPr>
          <p:spPr>
            <a:xfrm>
              <a:off x="3180090" y="3432694"/>
              <a:ext cx="3242315" cy="1227628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369B440-48A7-BE26-8106-2FFECF08AC40}"/>
              </a:ext>
            </a:extLst>
          </p:cNvPr>
          <p:cNvCxnSpPr>
            <a:cxnSpLocks/>
          </p:cNvCxnSpPr>
          <p:nvPr/>
        </p:nvCxnSpPr>
        <p:spPr>
          <a:xfrm flipV="1">
            <a:off x="7885113" y="4232519"/>
            <a:ext cx="0" cy="859445"/>
          </a:xfrm>
          <a:prstGeom prst="straightConnector1">
            <a:avLst/>
          </a:prstGeom>
          <a:ln w="508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F8CDE4-6E8A-35F5-3FAB-D96753198934}"/>
              </a:ext>
            </a:extLst>
          </p:cNvPr>
          <p:cNvCxnSpPr>
            <a:cxnSpLocks/>
          </p:cNvCxnSpPr>
          <p:nvPr/>
        </p:nvCxnSpPr>
        <p:spPr>
          <a:xfrm flipV="1">
            <a:off x="8342314" y="4230599"/>
            <a:ext cx="0" cy="859445"/>
          </a:xfrm>
          <a:prstGeom prst="straightConnector1">
            <a:avLst/>
          </a:prstGeom>
          <a:ln w="508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A7C71F9-89D3-3C3F-6828-66243FAAEC89}"/>
              </a:ext>
            </a:extLst>
          </p:cNvPr>
          <p:cNvGrpSpPr/>
          <p:nvPr/>
        </p:nvGrpSpPr>
        <p:grpSpPr>
          <a:xfrm>
            <a:off x="6201043" y="3414747"/>
            <a:ext cx="3925322" cy="2471705"/>
            <a:chOff x="6201043" y="3414747"/>
            <a:chExt cx="3925322" cy="247170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EA8D31-D36A-9E8D-CAD4-CCEEAA69C517}"/>
                </a:ext>
              </a:extLst>
            </p:cNvPr>
            <p:cNvSpPr/>
            <p:nvPr/>
          </p:nvSpPr>
          <p:spPr>
            <a:xfrm>
              <a:off x="6201043" y="4972052"/>
              <a:ext cx="458146" cy="914400"/>
            </a:xfrm>
            <a:prstGeom prst="rect">
              <a:avLst/>
            </a:prstGeom>
            <a:noFill/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011DEDD-297A-F2DB-738E-9505030070F0}"/>
                </a:ext>
              </a:extLst>
            </p:cNvPr>
            <p:cNvSpPr/>
            <p:nvPr/>
          </p:nvSpPr>
          <p:spPr>
            <a:xfrm>
              <a:off x="6884050" y="3414747"/>
              <a:ext cx="3242315" cy="1227628"/>
            </a:xfrm>
            <a:prstGeom prst="rect">
              <a:avLst/>
            </a:prstGeom>
            <a:noFill/>
            <a:ln w="508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922C2F8-1436-996C-72F1-F36204087283}"/>
              </a:ext>
            </a:extLst>
          </p:cNvPr>
          <p:cNvSpPr txBox="1"/>
          <p:nvPr/>
        </p:nvSpPr>
        <p:spPr>
          <a:xfrm>
            <a:off x="410818" y="1392639"/>
            <a:ext cx="2617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Sound familiar?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8F6D61-89FB-5CD0-169C-AADBB9C60EF2}"/>
              </a:ext>
            </a:extLst>
          </p:cNvPr>
          <p:cNvSpPr txBox="1"/>
          <p:nvPr/>
        </p:nvSpPr>
        <p:spPr>
          <a:xfrm>
            <a:off x="309811" y="6176953"/>
            <a:ext cx="10625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Same idea</a:t>
            </a:r>
            <a:r>
              <a:rPr lang="en-US" sz="2800" dirty="0"/>
              <a:t>: compare data to sinusoids and see how well they match</a:t>
            </a:r>
          </a:p>
        </p:txBody>
      </p:sp>
    </p:spTree>
    <p:extLst>
      <p:ext uri="{BB962C8B-B14F-4D97-AF65-F5344CB8AC3E}">
        <p14:creationId xmlns:p14="http://schemas.microsoft.com/office/powerpoint/2010/main" val="232272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9509-512C-0253-02C1-39715143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Spectrum: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EC156-366C-9BB0-B746-D30C42DC8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781" y="865927"/>
            <a:ext cx="4673600" cy="2070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0F45A5-9CF6-8A23-5E38-82BD3119B6AB}"/>
              </a:ext>
            </a:extLst>
          </p:cNvPr>
          <p:cNvSpPr txBox="1"/>
          <p:nvPr/>
        </p:nvSpPr>
        <p:spPr>
          <a:xfrm>
            <a:off x="1617262" y="1536544"/>
            <a:ext cx="32315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power of data x </a:t>
            </a:r>
          </a:p>
          <a:p>
            <a:r>
              <a:rPr lang="en-US" sz="2800" dirty="0"/>
              <a:t>at frequency index 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DD5622-F401-A6A2-BD9E-08CF1420EC48}"/>
              </a:ext>
            </a:extLst>
          </p:cNvPr>
          <p:cNvGrpSpPr/>
          <p:nvPr/>
        </p:nvGrpSpPr>
        <p:grpSpPr>
          <a:xfrm>
            <a:off x="4172877" y="2778275"/>
            <a:ext cx="4989251" cy="1932166"/>
            <a:chOff x="3813776" y="2766060"/>
            <a:chExt cx="4989251" cy="193216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0A2200-6D59-3431-2B47-AE55BFC37E7A}"/>
                </a:ext>
              </a:extLst>
            </p:cNvPr>
            <p:cNvSpPr txBox="1"/>
            <p:nvPr/>
          </p:nvSpPr>
          <p:spPr>
            <a:xfrm>
              <a:off x="3813776" y="3313231"/>
              <a:ext cx="498925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Constant that depends on </a:t>
              </a:r>
            </a:p>
            <a:p>
              <a:r>
                <a:rPr lang="en-US" sz="2800" dirty="0"/>
                <a:t>sampling interval,</a:t>
              </a:r>
            </a:p>
            <a:p>
              <a:r>
                <a:rPr lang="en-US" sz="2800" dirty="0"/>
                <a:t>duration of recording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FA59F7F-BC3F-2090-2795-9D67BCF1BA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581" y="2766060"/>
              <a:ext cx="0" cy="859445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AF8443-46F5-6F49-DD0F-F829071B863A}"/>
              </a:ext>
            </a:extLst>
          </p:cNvPr>
          <p:cNvGrpSpPr/>
          <p:nvPr/>
        </p:nvGrpSpPr>
        <p:grpSpPr>
          <a:xfrm>
            <a:off x="8840622" y="2539871"/>
            <a:ext cx="999504" cy="2274435"/>
            <a:chOff x="8052500" y="3099033"/>
            <a:chExt cx="999504" cy="227443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E3BFD9-6820-D40A-3F00-D6A710B256A5}"/>
                </a:ext>
              </a:extLst>
            </p:cNvPr>
            <p:cNvSpPr txBox="1"/>
            <p:nvPr/>
          </p:nvSpPr>
          <p:spPr>
            <a:xfrm>
              <a:off x="8052500" y="4419361"/>
              <a:ext cx="99950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FT of </a:t>
              </a:r>
            </a:p>
            <a:p>
              <a:r>
                <a:rPr lang="en-US" sz="2800" dirty="0"/>
                <a:t>data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FE6EB98-2D9D-9683-4258-DFEF27B87175}"/>
                </a:ext>
              </a:extLst>
            </p:cNvPr>
            <p:cNvCxnSpPr/>
            <p:nvPr/>
          </p:nvCxnSpPr>
          <p:spPr>
            <a:xfrm flipV="1">
              <a:off x="8552252" y="3099033"/>
              <a:ext cx="0" cy="129746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434A27-D0DA-0085-6B4E-11E04B8D4AB7}"/>
              </a:ext>
            </a:extLst>
          </p:cNvPr>
          <p:cNvGrpSpPr/>
          <p:nvPr/>
        </p:nvGrpSpPr>
        <p:grpSpPr>
          <a:xfrm>
            <a:off x="9855200" y="2558662"/>
            <a:ext cx="2336800" cy="2673228"/>
            <a:chOff x="9195636" y="3034048"/>
            <a:chExt cx="2336800" cy="26732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6BC9B0-5A97-F03D-A8DD-425160D37041}"/>
                </a:ext>
              </a:extLst>
            </p:cNvPr>
            <p:cNvSpPr txBox="1"/>
            <p:nvPr/>
          </p:nvSpPr>
          <p:spPr>
            <a:xfrm>
              <a:off x="9195636" y="4322281"/>
              <a:ext cx="23368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Complex</a:t>
              </a:r>
            </a:p>
            <a:p>
              <a:r>
                <a:rPr lang="en-US" sz="2800" dirty="0"/>
                <a:t>conjugate</a:t>
              </a:r>
            </a:p>
            <a:p>
              <a:r>
                <a:rPr lang="en-US" sz="2800" dirty="0"/>
                <a:t>of FT of data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C6E6575-2CA3-806C-838B-BD53B102A4A4}"/>
                </a:ext>
              </a:extLst>
            </p:cNvPr>
            <p:cNvCxnSpPr/>
            <p:nvPr/>
          </p:nvCxnSpPr>
          <p:spPr>
            <a:xfrm flipV="1">
              <a:off x="9302944" y="3034048"/>
              <a:ext cx="0" cy="129746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05E99E-0CDF-58EF-9E6D-29AD8CEACF4E}"/>
                  </a:ext>
                </a:extLst>
              </p:cNvPr>
              <p:cNvSpPr txBox="1"/>
              <p:nvPr/>
            </p:nvSpPr>
            <p:spPr>
              <a:xfrm>
                <a:off x="457201" y="5428112"/>
                <a:ext cx="11596254" cy="55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Power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indicates how well sinusoids </a:t>
                </a:r>
                <a:r>
                  <a:rPr lang="en-US" sz="2800" dirty="0"/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“match” our data.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05E99E-0CDF-58EF-9E6D-29AD8CEAC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5428112"/>
                <a:ext cx="11596254" cy="557910"/>
              </a:xfrm>
              <a:prstGeom prst="rect">
                <a:avLst/>
              </a:prstGeom>
              <a:blipFill>
                <a:blip r:embed="rId3"/>
                <a:stretch>
                  <a:fillRect l="-1205" t="-88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147C38-F382-B51A-A3CE-0F994B324A5C}"/>
                  </a:ext>
                </a:extLst>
              </p:cNvPr>
              <p:cNvSpPr txBox="1"/>
              <p:nvPr/>
            </p:nvSpPr>
            <p:spPr>
              <a:xfrm>
                <a:off x="2688124" y="6153314"/>
                <a:ext cx="6773073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Good match </a:t>
                </a:r>
                <a:r>
                  <a:rPr lang="en-US" sz="2800" dirty="0">
                    <a:sym typeface="Wingdings" pitchFamily="2" charset="2"/>
                  </a:rPr>
                  <a:t>  High power at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147C38-F382-B51A-A3CE-0F994B324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124" y="6153314"/>
                <a:ext cx="6773073" cy="557910"/>
              </a:xfrm>
              <a:prstGeom prst="rect">
                <a:avLst/>
              </a:prstGeom>
              <a:blipFill>
                <a:blip r:embed="rId4"/>
                <a:stretch>
                  <a:fillRect l="-1873" t="-111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E28B7F4-F209-999B-DCBE-D969F75FD7D9}"/>
              </a:ext>
            </a:extLst>
          </p:cNvPr>
          <p:cNvGrpSpPr/>
          <p:nvPr/>
        </p:nvGrpSpPr>
        <p:grpSpPr>
          <a:xfrm>
            <a:off x="499747" y="2926863"/>
            <a:ext cx="3150169" cy="1783578"/>
            <a:chOff x="313467" y="2746858"/>
            <a:chExt cx="3150169" cy="17835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2B930B3-AE74-249D-1AC8-D6963A757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5579" y="2746858"/>
              <a:ext cx="1565450" cy="124481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28C2605-287B-5E69-38AA-5059AF7E7EDF}"/>
                </a:ext>
              </a:extLst>
            </p:cNvPr>
            <p:cNvSpPr txBox="1"/>
            <p:nvPr/>
          </p:nvSpPr>
          <p:spPr>
            <a:xfrm>
              <a:off x="313467" y="3175695"/>
              <a:ext cx="143295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Previously</a:t>
              </a:r>
            </a:p>
            <a:p>
              <a:endParaRPr lang="en-US" sz="2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5F4531-A41E-5266-8E54-13F6810340DF}"/>
                </a:ext>
              </a:extLst>
            </p:cNvPr>
            <p:cNvSpPr txBox="1"/>
            <p:nvPr/>
          </p:nvSpPr>
          <p:spPr>
            <a:xfrm>
              <a:off x="1005691" y="3856130"/>
              <a:ext cx="15520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Same idea!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C39E20-534B-F7BE-0EB1-52279EC5C31A}"/>
                </a:ext>
              </a:extLst>
            </p:cNvPr>
            <p:cNvSpPr/>
            <p:nvPr/>
          </p:nvSpPr>
          <p:spPr>
            <a:xfrm>
              <a:off x="313467" y="2778275"/>
              <a:ext cx="3150169" cy="1752161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62773B-0379-9032-8AA0-6B5A6662A90B}"/>
              </a:ext>
            </a:extLst>
          </p:cNvPr>
          <p:cNvGrpSpPr/>
          <p:nvPr/>
        </p:nvGrpSpPr>
        <p:grpSpPr>
          <a:xfrm>
            <a:off x="9065929" y="681036"/>
            <a:ext cx="3032561" cy="852779"/>
            <a:chOff x="9065929" y="681036"/>
            <a:chExt cx="3032561" cy="852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605746C-B26D-B233-0036-C066214EB390}"/>
                    </a:ext>
                  </a:extLst>
                </p:cNvPr>
                <p:cNvSpPr txBox="1"/>
                <p:nvPr/>
              </p:nvSpPr>
              <p:spPr>
                <a:xfrm>
                  <a:off x="9065929" y="681036"/>
                  <a:ext cx="3032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(change sign of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dirty="0"/>
                    <a:t> everywhere)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605746C-B26D-B233-0036-C066214EB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5929" y="681036"/>
                  <a:ext cx="3032561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667" t="-6667" r="-1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3F33ECA-6A37-63E5-CEC4-7011F46759F9}"/>
                </a:ext>
              </a:extLst>
            </p:cNvPr>
            <p:cNvCxnSpPr>
              <a:cxnSpLocks/>
            </p:cNvCxnSpPr>
            <p:nvPr/>
          </p:nvCxnSpPr>
          <p:spPr>
            <a:xfrm>
              <a:off x="10234178" y="1050368"/>
              <a:ext cx="0" cy="48344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509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91FEFEA-066A-A5DE-3372-D708C291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92" y="1816225"/>
            <a:ext cx="10278154" cy="3426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169057-4C9F-F557-521C-D04C9D58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620" y="-5641"/>
            <a:ext cx="10515600" cy="1325563"/>
          </a:xfrm>
        </p:spPr>
        <p:txBody>
          <a:bodyPr/>
          <a:lstStyle/>
          <a:p>
            <a:r>
              <a:rPr lang="en-US" dirty="0"/>
              <a:t>Spectrum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E3A60-49B7-F765-837F-770D8959D143}"/>
              </a:ext>
            </a:extLst>
          </p:cNvPr>
          <p:cNvSpPr txBox="1"/>
          <p:nvPr/>
        </p:nvSpPr>
        <p:spPr>
          <a:xfrm>
            <a:off x="1939139" y="1051558"/>
            <a:ext cx="9400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... reveals the dominant frequencies that “match” the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BCB28-B66B-4899-92DD-1EBE811A3D55}"/>
              </a:ext>
            </a:extLst>
          </p:cNvPr>
          <p:cNvSpPr txBox="1"/>
          <p:nvPr/>
        </p:nvSpPr>
        <p:spPr>
          <a:xfrm>
            <a:off x="460048" y="5112009"/>
            <a:ext cx="3198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Important quantities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AF852C-8E02-F95C-E8C9-2699E9737FA0}"/>
              </a:ext>
            </a:extLst>
          </p:cNvPr>
          <p:cNvGrpSpPr/>
          <p:nvPr/>
        </p:nvGrpSpPr>
        <p:grpSpPr>
          <a:xfrm>
            <a:off x="934902" y="4531673"/>
            <a:ext cx="3573414" cy="1649483"/>
            <a:chOff x="934902" y="4531673"/>
            <a:chExt cx="3573414" cy="16494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FCD3BD-6DB4-7C2C-9ADA-FBBF90077447}"/>
                </a:ext>
              </a:extLst>
            </p:cNvPr>
            <p:cNvSpPr/>
            <p:nvPr/>
          </p:nvSpPr>
          <p:spPr>
            <a:xfrm>
              <a:off x="934902" y="5719491"/>
              <a:ext cx="357341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Frequency resolution: </a:t>
              </a:r>
              <a:r>
                <a:rPr lang="en-US" sz="2400" dirty="0" err="1"/>
                <a:t>df</a:t>
              </a:r>
              <a:r>
                <a:rPr lang="en-US" sz="2400" dirty="0"/>
                <a:t> 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B149F6-82DC-73C8-2DE7-D940877FB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6097" y="4531673"/>
              <a:ext cx="120768" cy="1274768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7337841-8586-A49F-58D2-0C90F33ED4A0}"/>
              </a:ext>
            </a:extLst>
          </p:cNvPr>
          <p:cNvSpPr txBox="1"/>
          <p:nvPr/>
        </p:nvSpPr>
        <p:spPr>
          <a:xfrm>
            <a:off x="4027098" y="6291909"/>
            <a:ext cx="4602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these two quantities.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762D66-7D6B-6CFB-62E3-3D50C6AD4A7D}"/>
              </a:ext>
            </a:extLst>
          </p:cNvPr>
          <p:cNvGrpSpPr/>
          <p:nvPr/>
        </p:nvGrpSpPr>
        <p:grpSpPr>
          <a:xfrm>
            <a:off x="2155371" y="1896995"/>
            <a:ext cx="7667931" cy="1622153"/>
            <a:chOff x="2155371" y="1896995"/>
            <a:chExt cx="7667931" cy="162215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656AAE-5EAF-8580-92E8-630566568D28}"/>
                </a:ext>
              </a:extLst>
            </p:cNvPr>
            <p:cNvSpPr txBox="1"/>
            <p:nvPr/>
          </p:nvSpPr>
          <p:spPr>
            <a:xfrm>
              <a:off x="6096000" y="2318819"/>
              <a:ext cx="372730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5-8 Hz &amp; 60 Hz sinusoids </a:t>
              </a:r>
            </a:p>
            <a:p>
              <a:r>
                <a:rPr lang="en-US" sz="24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“match” the sensor data</a:t>
              </a:r>
            </a:p>
            <a:p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C1D3098-30DE-8BCF-435B-D7B62BD1A19C}"/>
                </a:ext>
              </a:extLst>
            </p:cNvPr>
            <p:cNvSpPr/>
            <p:nvPr/>
          </p:nvSpPr>
          <p:spPr>
            <a:xfrm>
              <a:off x="2155371" y="2388383"/>
              <a:ext cx="315686" cy="31568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B3D137C-8174-F188-C164-5C1E4609B8E3}"/>
                </a:ext>
              </a:extLst>
            </p:cNvPr>
            <p:cNvSpPr/>
            <p:nvPr/>
          </p:nvSpPr>
          <p:spPr>
            <a:xfrm>
              <a:off x="4129022" y="1896995"/>
              <a:ext cx="315686" cy="31568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DE401B-81B1-6B72-C76C-2DCC2A406DA8}"/>
              </a:ext>
            </a:extLst>
          </p:cNvPr>
          <p:cNvGrpSpPr/>
          <p:nvPr/>
        </p:nvGrpSpPr>
        <p:grpSpPr>
          <a:xfrm>
            <a:off x="8270130" y="4441371"/>
            <a:ext cx="3495351" cy="1774135"/>
            <a:chOff x="8270130" y="4441371"/>
            <a:chExt cx="3495351" cy="17741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216C426-A608-2DE9-C525-40D2614DCD02}"/>
                    </a:ext>
                  </a:extLst>
                </p:cNvPr>
                <p:cNvSpPr txBox="1"/>
                <p:nvPr/>
              </p:nvSpPr>
              <p:spPr>
                <a:xfrm>
                  <a:off x="8270130" y="5727744"/>
                  <a:ext cx="3495351" cy="4877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>
                      <a:solidFill>
                        <a:prstClr val="black"/>
                      </a:solidFill>
                    </a:rPr>
                    <a:t>Nyquist frequency: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𝑁𝑄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prstClr val="black"/>
                      </a:solidFill>
                    </a:rPr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216C426-A608-2DE9-C525-40D2614DC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0130" y="5727744"/>
                  <a:ext cx="3495351" cy="487762"/>
                </a:xfrm>
                <a:prstGeom prst="rect">
                  <a:avLst/>
                </a:prstGeom>
                <a:blipFill>
                  <a:blip r:embed="rId4"/>
                  <a:stretch>
                    <a:fillRect l="-2899" t="-12821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64C06AE-6F5E-4986-8099-9F193E56D2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10306" y="5011387"/>
              <a:ext cx="0" cy="70810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F8066F-E3BE-4CEA-E7E6-5FEB8E7EC7DD}"/>
                </a:ext>
              </a:extLst>
            </p:cNvPr>
            <p:cNvSpPr/>
            <p:nvPr/>
          </p:nvSpPr>
          <p:spPr>
            <a:xfrm>
              <a:off x="10892118" y="4441371"/>
              <a:ext cx="575328" cy="475013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FAF39B-50EB-4B0D-C2B7-9295A6BFBE0E}"/>
              </a:ext>
            </a:extLst>
          </p:cNvPr>
          <p:cNvGrpSpPr/>
          <p:nvPr/>
        </p:nvGrpSpPr>
        <p:grpSpPr>
          <a:xfrm>
            <a:off x="724554" y="2093957"/>
            <a:ext cx="10515600" cy="1941734"/>
            <a:chOff x="838200" y="1895404"/>
            <a:chExt cx="10515600" cy="194173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886247-BCB4-78A4-7241-6FD875794E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0644" r="8684" b="19530"/>
            <a:stretch/>
          </p:blipFill>
          <p:spPr>
            <a:xfrm>
              <a:off x="838200" y="1895404"/>
              <a:ext cx="10515600" cy="17570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4F7784-2AB9-10D5-1B79-3B78502F4EDA}"/>
                </a:ext>
              </a:extLst>
            </p:cNvPr>
            <p:cNvSpPr txBox="1"/>
            <p:nvPr/>
          </p:nvSpPr>
          <p:spPr>
            <a:xfrm>
              <a:off x="1055914" y="3467806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 </a:t>
              </a:r>
              <a:r>
                <a:rPr lang="en-US" dirty="0" err="1"/>
                <a:t>ms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14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A33B-9889-FC1B-574C-68DDB8AC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520"/>
            <a:ext cx="10515600" cy="1325563"/>
          </a:xfrm>
        </p:spPr>
        <p:txBody>
          <a:bodyPr/>
          <a:lstStyle/>
          <a:p>
            <a:r>
              <a:rPr lang="en-US" dirty="0"/>
              <a:t>Frequencies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889E0-5339-7B7D-3EF0-B2DA38A9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40" y="1822894"/>
            <a:ext cx="12001500" cy="1208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EE86FD-0241-60D2-0CDE-510183B3F35F}"/>
              </a:ext>
            </a:extLst>
          </p:cNvPr>
          <p:cNvSpPr txBox="1"/>
          <p:nvPr/>
        </p:nvSpPr>
        <p:spPr>
          <a:xfrm>
            <a:off x="190500" y="3282487"/>
            <a:ext cx="4028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Two important quantities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D0013-3171-6FB3-33A6-48B0A006DB8B}"/>
              </a:ext>
            </a:extLst>
          </p:cNvPr>
          <p:cNvSpPr txBox="1"/>
          <p:nvPr/>
        </p:nvSpPr>
        <p:spPr>
          <a:xfrm>
            <a:off x="190500" y="4118822"/>
            <a:ext cx="6180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Largest frequency: </a:t>
            </a:r>
            <a:r>
              <a:rPr lang="en-US" sz="2800" b="1" dirty="0"/>
              <a:t>Nyquist frequency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47834-0E4C-F10C-64A3-EA6C4061F68B}"/>
              </a:ext>
            </a:extLst>
          </p:cNvPr>
          <p:cNvSpPr txBox="1"/>
          <p:nvPr/>
        </p:nvSpPr>
        <p:spPr>
          <a:xfrm>
            <a:off x="190500" y="5939724"/>
            <a:ext cx="3650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Frequency resolution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F70A0E-D008-5079-3E20-9D15AC704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072"/>
          <a:stretch/>
        </p:blipFill>
        <p:spPr>
          <a:xfrm>
            <a:off x="6514693" y="3938146"/>
            <a:ext cx="959534" cy="101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978C7B-F8C0-AC88-3B7D-6880F1E02A47}"/>
              </a:ext>
            </a:extLst>
          </p:cNvPr>
          <p:cNvSpPr txBox="1"/>
          <p:nvPr/>
        </p:nvSpPr>
        <p:spPr>
          <a:xfrm>
            <a:off x="8878782" y="4199725"/>
            <a:ext cx="29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half the sampling frequency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4D227-6876-02EF-6D05-04285E03A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232" y="5716830"/>
            <a:ext cx="1054100" cy="901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CBB9C1-C128-4E24-D854-E2F720232B26}"/>
              </a:ext>
            </a:extLst>
          </p:cNvPr>
          <p:cNvSpPr txBox="1"/>
          <p:nvPr/>
        </p:nvSpPr>
        <p:spPr>
          <a:xfrm>
            <a:off x="5688665" y="5939725"/>
            <a:ext cx="5823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reciprocal of total recording duration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66761A-EE08-4E2E-C1DA-EEFB73343E53}"/>
              </a:ext>
            </a:extLst>
          </p:cNvPr>
          <p:cNvGrpSpPr/>
          <p:nvPr/>
        </p:nvGrpSpPr>
        <p:grpSpPr>
          <a:xfrm>
            <a:off x="3153297" y="2033455"/>
            <a:ext cx="3239791" cy="2584483"/>
            <a:chOff x="3153297" y="2033455"/>
            <a:chExt cx="3239791" cy="25844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002B97-074F-441F-FBC2-B58CB5D0F816}"/>
                </a:ext>
              </a:extLst>
            </p:cNvPr>
            <p:cNvSpPr/>
            <p:nvPr/>
          </p:nvSpPr>
          <p:spPr>
            <a:xfrm>
              <a:off x="5747094" y="2033455"/>
              <a:ext cx="645994" cy="72015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4454AC-437B-C3B1-EB72-9B76299E044F}"/>
                </a:ext>
              </a:extLst>
            </p:cNvPr>
            <p:cNvSpPr/>
            <p:nvPr/>
          </p:nvSpPr>
          <p:spPr>
            <a:xfrm>
              <a:off x="3153297" y="4142925"/>
              <a:ext cx="3067393" cy="475013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FD86B3-F804-2AC1-7C71-BC2AF268EBA1}"/>
              </a:ext>
            </a:extLst>
          </p:cNvPr>
          <p:cNvGrpSpPr/>
          <p:nvPr/>
        </p:nvGrpSpPr>
        <p:grpSpPr>
          <a:xfrm>
            <a:off x="213152" y="2883204"/>
            <a:ext cx="3627706" cy="3555636"/>
            <a:chOff x="183712" y="2493818"/>
            <a:chExt cx="3627706" cy="3555636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B5521C6-464C-64D9-1BF5-963B146C0CD1}"/>
                </a:ext>
              </a:extLst>
            </p:cNvPr>
            <p:cNvCxnSpPr>
              <a:cxnSpLocks/>
            </p:cNvCxnSpPr>
            <p:nvPr/>
          </p:nvCxnSpPr>
          <p:spPr>
            <a:xfrm>
              <a:off x="1870361" y="2493818"/>
              <a:ext cx="484911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0931956-406B-98E0-B63B-AC0EF2BD3353}"/>
                </a:ext>
              </a:extLst>
            </p:cNvPr>
            <p:cNvCxnSpPr>
              <a:cxnSpLocks/>
            </p:cNvCxnSpPr>
            <p:nvPr/>
          </p:nvCxnSpPr>
          <p:spPr>
            <a:xfrm>
              <a:off x="2563088" y="2493818"/>
              <a:ext cx="484911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C7BD751-A768-E9B3-0224-87E168509AA4}"/>
                </a:ext>
              </a:extLst>
            </p:cNvPr>
            <p:cNvSpPr/>
            <p:nvPr/>
          </p:nvSpPr>
          <p:spPr>
            <a:xfrm>
              <a:off x="183712" y="5574441"/>
              <a:ext cx="3627706" cy="475013"/>
            </a:xfrm>
            <a:prstGeom prst="rect">
              <a:avLst/>
            </a:prstGeom>
            <a:noFill/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B29DCB-686E-9CB9-72B6-04F4888E30FC}"/>
              </a:ext>
            </a:extLst>
          </p:cNvPr>
          <p:cNvGrpSpPr/>
          <p:nvPr/>
        </p:nvGrpSpPr>
        <p:grpSpPr>
          <a:xfrm>
            <a:off x="339509" y="1169347"/>
            <a:ext cx="11416168" cy="627280"/>
            <a:chOff x="625055" y="5661814"/>
            <a:chExt cx="11416168" cy="62728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A2378DA-6B9E-B3B2-13A7-77CC58D41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20186" y="5661814"/>
              <a:ext cx="1561360" cy="61096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8E14E3-6691-1233-532D-32049EE23B08}"/>
                </a:ext>
              </a:extLst>
            </p:cNvPr>
            <p:cNvSpPr txBox="1"/>
            <p:nvPr/>
          </p:nvSpPr>
          <p:spPr>
            <a:xfrm>
              <a:off x="6720920" y="5739020"/>
              <a:ext cx="53203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where T = total time of observation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17C8460-E993-7D93-FDFC-917B16489A80}"/>
                    </a:ext>
                  </a:extLst>
                </p:cNvPr>
                <p:cNvSpPr/>
                <p:nvPr/>
              </p:nvSpPr>
              <p:spPr>
                <a:xfrm>
                  <a:off x="625055" y="5731184"/>
                  <a:ext cx="6096000" cy="55791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2800" dirty="0"/>
                    <a:t> = Frequency at index j,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17C8460-E993-7D93-FDFC-917B16489A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55" y="5731184"/>
                  <a:ext cx="6096000" cy="557910"/>
                </a:xfrm>
                <a:prstGeom prst="rect">
                  <a:avLst/>
                </a:prstGeom>
                <a:blipFill>
                  <a:blip r:embed="rId6"/>
                  <a:stretch>
                    <a:fillRect l="-1247" t="-888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477604A-5162-8B0D-0BAB-7DE15E7A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59" r="1635"/>
          <a:stretch/>
        </p:blipFill>
        <p:spPr>
          <a:xfrm>
            <a:off x="7417269" y="3932596"/>
            <a:ext cx="558937" cy="101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258F33B-AD0B-E58B-BBA8-0B69EC4E07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13" r="39408"/>
          <a:stretch/>
        </p:blipFill>
        <p:spPr>
          <a:xfrm>
            <a:off x="8042429" y="3928858"/>
            <a:ext cx="739382" cy="1016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4CE8760-2196-6092-755A-4F800CD17CEF}"/>
              </a:ext>
            </a:extLst>
          </p:cNvPr>
          <p:cNvGrpSpPr/>
          <p:nvPr/>
        </p:nvGrpSpPr>
        <p:grpSpPr>
          <a:xfrm>
            <a:off x="7727711" y="4837145"/>
            <a:ext cx="3694823" cy="952500"/>
            <a:chOff x="7727711" y="4837145"/>
            <a:chExt cx="3694823" cy="95250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570C04-9616-C68C-AA53-345F9508E94A}"/>
                </a:ext>
              </a:extLst>
            </p:cNvPr>
            <p:cNvSpPr txBox="1"/>
            <p:nvPr/>
          </p:nvSpPr>
          <p:spPr>
            <a:xfrm>
              <a:off x="8781811" y="5097951"/>
              <a:ext cx="26407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sampling frequency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40D7626-1DB7-C396-DB8D-56AC09E27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7711" y="4837145"/>
              <a:ext cx="10541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8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9485-D9BC-03F7-DE0A-E52041D50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0D23C2-9FFD-09EC-FEE9-7C2594720119}"/>
                  </a:ext>
                </a:extLst>
              </p:cNvPr>
              <p:cNvSpPr txBox="1"/>
              <p:nvPr/>
            </p:nvSpPr>
            <p:spPr>
              <a:xfrm>
                <a:off x="745171" y="1255357"/>
                <a:ext cx="3726341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Visualize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as a </a:t>
                </a:r>
                <a:r>
                  <a:rPr lang="en-US" sz="2800" b="1" dirty="0"/>
                  <a:t>vector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0D23C2-9FFD-09EC-FEE9-7C2594720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71" y="1255357"/>
                <a:ext cx="3726341" cy="557910"/>
              </a:xfrm>
              <a:prstGeom prst="rect">
                <a:avLst/>
              </a:prstGeom>
              <a:blipFill>
                <a:blip r:embed="rId2"/>
                <a:stretch>
                  <a:fillRect l="-3390" t="-8889" r="-23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E121E7F-5777-A7A5-C527-70FFB868B5BE}"/>
              </a:ext>
            </a:extLst>
          </p:cNvPr>
          <p:cNvGrpSpPr/>
          <p:nvPr/>
        </p:nvGrpSpPr>
        <p:grpSpPr>
          <a:xfrm>
            <a:off x="1972613" y="4022587"/>
            <a:ext cx="2047741" cy="1678368"/>
            <a:chOff x="1893194" y="4069724"/>
            <a:chExt cx="2047741" cy="167836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BC85ECE-E709-324F-CF96-69018B70D752}"/>
                </a:ext>
              </a:extLst>
            </p:cNvPr>
            <p:cNvCxnSpPr/>
            <p:nvPr/>
          </p:nvCxnSpPr>
          <p:spPr>
            <a:xfrm>
              <a:off x="2045550" y="4069724"/>
              <a:ext cx="1058258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7486F3-1F79-7406-CF77-C4521CFEC390}"/>
                </a:ext>
              </a:extLst>
            </p:cNvPr>
            <p:cNvSpPr txBox="1"/>
            <p:nvPr/>
          </p:nvSpPr>
          <p:spPr>
            <a:xfrm>
              <a:off x="1893194" y="4301542"/>
              <a:ext cx="204774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Step forward in intervals of frequency resolution </a:t>
              </a:r>
              <a:r>
                <a:rPr lang="en-US" sz="2200" i="1" dirty="0" err="1"/>
                <a:t>df</a:t>
              </a:r>
              <a:endParaRPr lang="en-US" sz="2200" i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F680C2F-02AB-E464-F198-5CF168B6898C}"/>
              </a:ext>
            </a:extLst>
          </p:cNvPr>
          <p:cNvGrpSpPr/>
          <p:nvPr/>
        </p:nvGrpSpPr>
        <p:grpSpPr>
          <a:xfrm>
            <a:off x="5394100" y="3837904"/>
            <a:ext cx="2047741" cy="1934041"/>
            <a:chOff x="5394100" y="3837904"/>
            <a:chExt cx="2047741" cy="1934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AA7981A-9BCF-4D66-DA1B-9E23F0CF96D6}"/>
                    </a:ext>
                  </a:extLst>
                </p:cNvPr>
                <p:cNvSpPr txBox="1"/>
                <p:nvPr/>
              </p:nvSpPr>
              <p:spPr>
                <a:xfrm>
                  <a:off x="5394100" y="4301542"/>
                  <a:ext cx="2047741" cy="1470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dirty="0"/>
                    <a:t>... until reaching maximum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𝑁𝑄</m:t>
                          </m:r>
                        </m:sub>
                      </m:sSub>
                    </m:oMath>
                  </a14:m>
                  <a:r>
                    <a:rPr lang="en-US" sz="2200" dirty="0">
                      <a:solidFill>
                        <a:prstClr val="black"/>
                      </a:solidFill>
                    </a:rPr>
                    <a:t> </a:t>
                  </a:r>
                  <a:endParaRPr lang="en-US" sz="2200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AA7981A-9BCF-4D66-DA1B-9E23F0CF9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100" y="4301542"/>
                  <a:ext cx="2047741" cy="1470403"/>
                </a:xfrm>
                <a:prstGeom prst="rect">
                  <a:avLst/>
                </a:prstGeom>
                <a:blipFill>
                  <a:blip r:embed="rId3"/>
                  <a:stretch>
                    <a:fillRect l="-3681" t="-2564" b="-59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923FF51-8695-376E-87AD-04E4BAB66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88426" y="3837904"/>
              <a:ext cx="0" cy="435734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92D0F3B-3BA2-1770-BAC6-B4D89228B4B8}"/>
              </a:ext>
            </a:extLst>
          </p:cNvPr>
          <p:cNvGrpSpPr/>
          <p:nvPr/>
        </p:nvGrpSpPr>
        <p:grpSpPr>
          <a:xfrm>
            <a:off x="7723029" y="3837904"/>
            <a:ext cx="2047741" cy="2598027"/>
            <a:chOff x="7723029" y="3837904"/>
            <a:chExt cx="2047741" cy="259802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097FF7C-93C2-6B11-325D-66B11463C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6893" y="3837904"/>
              <a:ext cx="0" cy="435734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6A9CE2-0907-7EB7-DE8B-A4EA76AEDCCA}"/>
                </a:ext>
              </a:extLst>
            </p:cNvPr>
            <p:cNvSpPr txBox="1"/>
            <p:nvPr/>
          </p:nvSpPr>
          <p:spPr>
            <a:xfrm>
              <a:off x="7723029" y="4312273"/>
              <a:ext cx="2047741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then, frequencies are </a:t>
              </a:r>
              <a:r>
                <a:rPr lang="en-US" sz="2200" u="sng" dirty="0"/>
                <a:t>negative</a:t>
              </a:r>
              <a:r>
                <a:rPr lang="en-US" sz="2200" dirty="0"/>
                <a:t>, starting with the largest magnitude.</a:t>
              </a:r>
              <a:endParaRPr lang="en-US" sz="2200" i="1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5C061A-AD3E-7957-2D92-5E0D59AA1961}"/>
              </a:ext>
            </a:extLst>
          </p:cNvPr>
          <p:cNvGrpSpPr/>
          <p:nvPr/>
        </p:nvGrpSpPr>
        <p:grpSpPr>
          <a:xfrm>
            <a:off x="10470521" y="3771363"/>
            <a:ext cx="1721479" cy="1582365"/>
            <a:chOff x="10470521" y="3771363"/>
            <a:chExt cx="1721479" cy="158236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2C3D7C9-1A1A-2302-63D3-75C902607C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44385" y="3771363"/>
              <a:ext cx="0" cy="435734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B1782E6-E6E9-B8CC-846D-36F0D4C120D0}"/>
                </a:ext>
              </a:extLst>
            </p:cNvPr>
            <p:cNvSpPr txBox="1"/>
            <p:nvPr/>
          </p:nvSpPr>
          <p:spPr>
            <a:xfrm>
              <a:off x="10470521" y="4245732"/>
              <a:ext cx="172147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decrease in</a:t>
              </a:r>
              <a:r>
                <a:rPr lang="en-US" sz="2200" i="1" dirty="0"/>
                <a:t> </a:t>
              </a:r>
              <a:r>
                <a:rPr lang="en-US" sz="2200" dirty="0"/>
                <a:t>magnitude until -</a:t>
              </a:r>
              <a:r>
                <a:rPr lang="en-US" sz="2200" i="1" dirty="0" err="1"/>
                <a:t>df</a:t>
              </a:r>
              <a:endParaRPr lang="en-US" sz="2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C96040-BBE1-E6A3-2F98-3814ACE0BAFD}"/>
              </a:ext>
            </a:extLst>
          </p:cNvPr>
          <p:cNvGrpSpPr/>
          <p:nvPr/>
        </p:nvGrpSpPr>
        <p:grpSpPr>
          <a:xfrm>
            <a:off x="610909" y="2152496"/>
            <a:ext cx="10742891" cy="1530862"/>
            <a:chOff x="610909" y="2152496"/>
            <a:chExt cx="10742891" cy="153086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0D0AF9-3D76-C993-18E0-8E56E1485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909" y="2152496"/>
              <a:ext cx="10742891" cy="15308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DACF92-01B3-CFA4-AC51-9131F740701E}"/>
                </a:ext>
              </a:extLst>
            </p:cNvPr>
            <p:cNvSpPr txBox="1"/>
            <p:nvPr/>
          </p:nvSpPr>
          <p:spPr>
            <a:xfrm>
              <a:off x="9394705" y="2272146"/>
              <a:ext cx="75212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E560DA-9D7E-93F6-D288-FC72E2E06913}"/>
                </a:ext>
              </a:extLst>
            </p:cNvPr>
            <p:cNvSpPr txBox="1"/>
            <p:nvPr/>
          </p:nvSpPr>
          <p:spPr>
            <a:xfrm>
              <a:off x="10374252" y="2272146"/>
              <a:ext cx="72513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27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FA4C-0962-54BC-D21C-5C093D67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99"/>
            <a:ext cx="10515600" cy="1325563"/>
          </a:xfrm>
        </p:spPr>
        <p:txBody>
          <a:bodyPr/>
          <a:lstStyle/>
          <a:p>
            <a:r>
              <a:rPr lang="en-US" dirty="0"/>
              <a:t>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F342C-DF06-D56D-C159-77F02A58BF2C}"/>
                  </a:ext>
                </a:extLst>
              </p:cNvPr>
              <p:cNvSpPr txBox="1"/>
              <p:nvPr/>
            </p:nvSpPr>
            <p:spPr>
              <a:xfrm>
                <a:off x="425685" y="1247945"/>
                <a:ext cx="3278141" cy="1050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u="sng" dirty="0"/>
                  <a:t>Note</a:t>
                </a:r>
                <a:r>
                  <a:rPr lang="en-US" sz="2800" dirty="0"/>
                  <a:t>:	 length(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) = N</a:t>
                </a:r>
              </a:p>
              <a:p>
                <a:endParaRPr lang="en-US" sz="400" dirty="0"/>
              </a:p>
              <a:p>
                <a:r>
                  <a:rPr lang="en-US" sz="2800" dirty="0"/>
                  <a:t>	 length(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) = 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F342C-DF06-D56D-C159-77F02A58B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85" y="1247945"/>
                <a:ext cx="3278141" cy="1050352"/>
              </a:xfrm>
              <a:prstGeom prst="rect">
                <a:avLst/>
              </a:prstGeom>
              <a:blipFill>
                <a:blip r:embed="rId2"/>
                <a:stretch>
                  <a:fillRect l="-3861" t="-6024" r="-3089" b="-13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C4D9F6B-241F-C4AC-A9FE-B42036545106}"/>
              </a:ext>
            </a:extLst>
          </p:cNvPr>
          <p:cNvSpPr txBox="1"/>
          <p:nvPr/>
        </p:nvSpPr>
        <p:spPr>
          <a:xfrm>
            <a:off x="3834740" y="1529871"/>
            <a:ext cx="8069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time and frequency vectors have </a:t>
            </a:r>
            <a:r>
              <a:rPr lang="en-US" sz="2800" u="sng" dirty="0"/>
              <a:t>the same length </a:t>
            </a:r>
            <a:r>
              <a:rPr lang="en-US" sz="2800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554B3-7B25-70CA-CBFB-89D21E7D3DFB}"/>
              </a:ext>
            </a:extLst>
          </p:cNvPr>
          <p:cNvSpPr txBox="1"/>
          <p:nvPr/>
        </p:nvSpPr>
        <p:spPr>
          <a:xfrm>
            <a:off x="1307995" y="2540983"/>
            <a:ext cx="10884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we record N data points, then we have N frequencies to examine.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EE76E2-0570-BA2F-2D61-BF3A26F61022}"/>
                  </a:ext>
                </a:extLst>
              </p:cNvPr>
              <p:cNvSpPr txBox="1"/>
              <p:nvPr/>
            </p:nvSpPr>
            <p:spPr>
              <a:xfrm>
                <a:off x="425685" y="3371529"/>
                <a:ext cx="7156639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u="sng" dirty="0"/>
                  <a:t>Note</a:t>
                </a:r>
                <a:r>
                  <a:rPr lang="en-US" sz="2800" dirty="0"/>
                  <a:t>: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include </a:t>
                </a:r>
                <a:r>
                  <a:rPr lang="en-US" sz="2800" u="sng" dirty="0"/>
                  <a:t>negative values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EE76E2-0570-BA2F-2D61-BF3A26F61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85" y="3371529"/>
                <a:ext cx="7156639" cy="557910"/>
              </a:xfrm>
              <a:prstGeom prst="rect">
                <a:avLst/>
              </a:prstGeom>
              <a:blipFill>
                <a:blip r:embed="rId3"/>
                <a:stretch>
                  <a:fillRect l="-1770" t="-8889" r="-70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C6DDC4-4E4F-D435-88A7-365BABB074FD}"/>
                  </a:ext>
                </a:extLst>
              </p:cNvPr>
              <p:cNvSpPr txBox="1"/>
              <p:nvPr/>
            </p:nvSpPr>
            <p:spPr>
              <a:xfrm>
                <a:off x="425685" y="4379402"/>
                <a:ext cx="3231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Consider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C6DDC4-4E4F-D435-88A7-365BABB07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85" y="4379402"/>
                <a:ext cx="3231206" cy="523220"/>
              </a:xfrm>
              <a:prstGeom prst="rect">
                <a:avLst/>
              </a:prstGeom>
              <a:blipFill>
                <a:blip r:embed="rId4"/>
                <a:stretch>
                  <a:fillRect l="-3922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0B323-8611-B940-F95E-7A35526CF3A1}"/>
                  </a:ext>
                </a:extLst>
              </p:cNvPr>
              <p:cNvSpPr txBox="1"/>
              <p:nvPr/>
            </p:nvSpPr>
            <p:spPr>
              <a:xfrm>
                <a:off x="7322708" y="4071677"/>
                <a:ext cx="2640723" cy="975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0B323-8611-B940-F95E-7A35526CF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708" y="4071677"/>
                <a:ext cx="2640723" cy="975973"/>
              </a:xfrm>
              <a:prstGeom prst="rect">
                <a:avLst/>
              </a:prstGeom>
              <a:blipFill>
                <a:blip r:embed="rId5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E1AB72F-F95E-40F9-1D12-F6392B2A5AA8}"/>
              </a:ext>
            </a:extLst>
          </p:cNvPr>
          <p:cNvGrpSpPr/>
          <p:nvPr/>
        </p:nvGrpSpPr>
        <p:grpSpPr>
          <a:xfrm>
            <a:off x="4221741" y="4166477"/>
            <a:ext cx="2528256" cy="632823"/>
            <a:chOff x="4256312" y="4719762"/>
            <a:chExt cx="2528256" cy="63282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BE313D5-496C-8677-17C5-E03FED5D85A9}"/>
                </a:ext>
              </a:extLst>
            </p:cNvPr>
            <p:cNvSpPr txBox="1"/>
            <p:nvPr/>
          </p:nvSpPr>
          <p:spPr>
            <a:xfrm>
              <a:off x="4256312" y="4719762"/>
              <a:ext cx="25282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Euler’s formula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E0199C3-B0D6-4187-0FC1-871F7F89FB7D}"/>
                </a:ext>
              </a:extLst>
            </p:cNvPr>
            <p:cNvCxnSpPr>
              <a:cxnSpLocks/>
            </p:cNvCxnSpPr>
            <p:nvPr/>
          </p:nvCxnSpPr>
          <p:spPr>
            <a:xfrm>
              <a:off x="4264173" y="5352585"/>
              <a:ext cx="2512534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79FB31-026D-87C7-4DE2-7F24ECCBA46D}"/>
              </a:ext>
            </a:extLst>
          </p:cNvPr>
          <p:cNvSpPr txBox="1"/>
          <p:nvPr/>
        </p:nvSpPr>
        <p:spPr>
          <a:xfrm>
            <a:off x="1630502" y="5160446"/>
            <a:ext cx="2026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 real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99FA6-3AA6-D2EE-99E6-469D8E4CBBCF}"/>
              </a:ext>
            </a:extLst>
          </p:cNvPr>
          <p:cNvSpPr txBox="1"/>
          <p:nvPr/>
        </p:nvSpPr>
        <p:spPr>
          <a:xfrm>
            <a:off x="7582324" y="5160446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 &gt;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023A0-5211-3E4C-2B67-5D054EDC6CEC}"/>
              </a:ext>
            </a:extLst>
          </p:cNvPr>
          <p:cNvSpPr txBox="1"/>
          <p:nvPr/>
        </p:nvSpPr>
        <p:spPr>
          <a:xfrm>
            <a:off x="9005585" y="5160446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 &lt;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8DC40-098A-03C6-4372-B0B1B7D40DAF}"/>
              </a:ext>
            </a:extLst>
          </p:cNvPr>
          <p:cNvSpPr txBox="1"/>
          <p:nvPr/>
        </p:nvSpPr>
        <p:spPr>
          <a:xfrm>
            <a:off x="425685" y="5941490"/>
            <a:ext cx="10368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 need positive &amp; negative frequencies to represent a real signal.</a:t>
            </a:r>
          </a:p>
        </p:txBody>
      </p:sp>
    </p:spTree>
    <p:extLst>
      <p:ext uri="{BB962C8B-B14F-4D97-AF65-F5344CB8AC3E}">
        <p14:creationId xmlns:p14="http://schemas.microsoft.com/office/powerpoint/2010/main" val="17840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3" grpId="0"/>
      <p:bldP spid="6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008DA-A8FC-1E52-C618-E7A6DB12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FBB2-EA1B-4A3D-F3F7-83084CC0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99"/>
            <a:ext cx="10515600" cy="1325563"/>
          </a:xfrm>
        </p:spPr>
        <p:txBody>
          <a:bodyPr/>
          <a:lstStyle/>
          <a:p>
            <a:r>
              <a:rPr lang="en-US" dirty="0"/>
              <a:t>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6CEEF-AB4E-7905-7759-97384726EBD1}"/>
                  </a:ext>
                </a:extLst>
              </p:cNvPr>
              <p:cNvSpPr txBox="1"/>
              <p:nvPr/>
            </p:nvSpPr>
            <p:spPr>
              <a:xfrm>
                <a:off x="349061" y="1660613"/>
                <a:ext cx="7156639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u="sng" dirty="0"/>
                  <a:t>Note</a:t>
                </a:r>
                <a:r>
                  <a:rPr lang="en-US" sz="2800" dirty="0"/>
                  <a:t>: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include </a:t>
                </a:r>
                <a:r>
                  <a:rPr lang="en-US" sz="2800" u="sng" dirty="0"/>
                  <a:t>negative values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6CEEF-AB4E-7905-7759-97384726E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61" y="1660613"/>
                <a:ext cx="7156639" cy="557910"/>
              </a:xfrm>
              <a:prstGeom prst="rect">
                <a:avLst/>
              </a:prstGeom>
              <a:blipFill>
                <a:blip r:embed="rId2"/>
                <a:stretch>
                  <a:fillRect l="-1773" t="-8889" r="-8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5B7E40-ACC9-D6B1-7B95-B6909161FC06}"/>
                  </a:ext>
                </a:extLst>
              </p:cNvPr>
              <p:cNvSpPr txBox="1"/>
              <p:nvPr/>
            </p:nvSpPr>
            <p:spPr>
              <a:xfrm>
                <a:off x="1307995" y="3160672"/>
                <a:ext cx="1032584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Important fact: 	when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is </a:t>
                </a:r>
                <a:r>
                  <a:rPr lang="en-US" sz="2800" u="sng" dirty="0"/>
                  <a:t>real</a:t>
                </a:r>
                <a:r>
                  <a:rPr lang="en-US" sz="2800" dirty="0"/>
                  <a:t> (no imaginary component), </a:t>
                </a:r>
              </a:p>
              <a:p>
                <a:r>
                  <a:rPr lang="en-US" sz="2800" dirty="0"/>
                  <a:t>			then negative frequency spectrum is </a:t>
                </a:r>
                <a:r>
                  <a:rPr lang="en-US" sz="2800" u="sng" dirty="0"/>
                  <a:t>redundant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5B7E40-ACC9-D6B1-7B95-B6909161F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95" y="3160672"/>
                <a:ext cx="10325840" cy="954107"/>
              </a:xfrm>
              <a:prstGeom prst="rect">
                <a:avLst/>
              </a:prstGeom>
              <a:blipFill>
                <a:blip r:embed="rId3"/>
                <a:stretch>
                  <a:fillRect l="-1230" t="-6579" r="-492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A60E28A-A229-A9E1-26E0-E5E16AABA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763" y="4817665"/>
            <a:ext cx="60198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7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85B6-94D9-D883-E70E-168B9F1A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3F53-16F3-55AC-ADFC-1BBECF9E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786"/>
            <a:ext cx="10515600" cy="1325563"/>
          </a:xfrm>
        </p:spPr>
        <p:txBody>
          <a:bodyPr/>
          <a:lstStyle/>
          <a:p>
            <a:r>
              <a:rPr lang="en-US" dirty="0"/>
              <a:t>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EC3435-7A5D-1EE5-E152-EAE89307A241}"/>
                  </a:ext>
                </a:extLst>
              </p:cNvPr>
              <p:cNvSpPr txBox="1"/>
              <p:nvPr/>
            </p:nvSpPr>
            <p:spPr>
              <a:xfrm>
                <a:off x="4947726" y="2219719"/>
                <a:ext cx="3215239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Only inspect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EC3435-7A5D-1EE5-E152-EAE89307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726" y="2219719"/>
                <a:ext cx="3215239" cy="557910"/>
              </a:xfrm>
              <a:prstGeom prst="rect">
                <a:avLst/>
              </a:prstGeom>
              <a:blipFill>
                <a:blip r:embed="rId2"/>
                <a:stretch>
                  <a:fillRect l="-3937" t="-88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C5BDD4AD-8371-7577-EF0F-255244B5E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774549"/>
            <a:ext cx="12001500" cy="120809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423A51E-BC60-F5EB-0A14-F36985869DBE}"/>
              </a:ext>
            </a:extLst>
          </p:cNvPr>
          <p:cNvGrpSpPr/>
          <p:nvPr/>
        </p:nvGrpSpPr>
        <p:grpSpPr>
          <a:xfrm>
            <a:off x="5864690" y="3747752"/>
            <a:ext cx="6327310" cy="1920642"/>
            <a:chOff x="5864690" y="3747752"/>
            <a:chExt cx="6327310" cy="192064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CFDA257-73BA-68CD-0B3B-49B7DF365F4D}"/>
                </a:ext>
              </a:extLst>
            </p:cNvPr>
            <p:cNvSpPr/>
            <p:nvPr/>
          </p:nvSpPr>
          <p:spPr>
            <a:xfrm>
              <a:off x="6555346" y="3747752"/>
              <a:ext cx="5125792" cy="1234895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1B5D6F-0CF0-7330-3C36-4F701EF13CC1}"/>
                </a:ext>
              </a:extLst>
            </p:cNvPr>
            <p:cNvSpPr txBox="1"/>
            <p:nvPr/>
          </p:nvSpPr>
          <p:spPr>
            <a:xfrm>
              <a:off x="5864690" y="5145174"/>
              <a:ext cx="63273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Ignore negative frequencies (redundant)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9681AD-5D2C-2810-BEDA-E42EB17ED9EE}"/>
                  </a:ext>
                </a:extLst>
              </p:cNvPr>
              <p:cNvSpPr txBox="1"/>
              <p:nvPr/>
            </p:nvSpPr>
            <p:spPr>
              <a:xfrm>
                <a:off x="389425" y="1616157"/>
                <a:ext cx="21832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Q: </a:t>
                </a:r>
                <a:r>
                  <a:rPr lang="en-US" sz="28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real?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9681AD-5D2C-2810-BEDA-E42EB17ED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25" y="1616157"/>
                <a:ext cx="2183290" cy="523220"/>
              </a:xfrm>
              <a:prstGeom prst="rect">
                <a:avLst/>
              </a:prstGeom>
              <a:blipFill>
                <a:blip r:embed="rId4"/>
                <a:stretch>
                  <a:fillRect l="-5780" t="-14286" r="-5202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65DE365-4748-8682-CD3B-04A02458592B}"/>
              </a:ext>
            </a:extLst>
          </p:cNvPr>
          <p:cNvSpPr txBox="1"/>
          <p:nvPr/>
        </p:nvSpPr>
        <p:spPr>
          <a:xfrm>
            <a:off x="389425" y="2208754"/>
            <a:ext cx="3860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A: </a:t>
            </a:r>
            <a:r>
              <a:rPr lang="en-US" sz="2800" dirty="0"/>
              <a:t>Yes (in neuroscience)</a:t>
            </a:r>
          </a:p>
        </p:txBody>
      </p:sp>
    </p:spTree>
    <p:extLst>
      <p:ext uri="{BB962C8B-B14F-4D97-AF65-F5344CB8AC3E}">
        <p14:creationId xmlns:p14="http://schemas.microsoft.com/office/powerpoint/2010/main" val="41057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BA9832-ED93-49E7-78C0-0779F500D5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6363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Spectrum: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4BA9832-ED93-49E7-78C0-0779F500D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6363"/>
                <a:ext cx="10515600" cy="1325563"/>
              </a:xfrm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89798-22D8-8C2D-0765-0B27FDC31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431"/>
            <a:ext cx="3370729" cy="4343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</a:t>
            </a:r>
            <a:r>
              <a:rPr lang="en-US" dirty="0" err="1"/>
              <a:t>df</a:t>
            </a:r>
            <a:r>
              <a:rPr lang="en-U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179E2-368C-9F16-859F-667860A3D76A}"/>
              </a:ext>
            </a:extLst>
          </p:cNvPr>
          <p:cNvSpPr txBox="1"/>
          <p:nvPr/>
        </p:nvSpPr>
        <p:spPr>
          <a:xfrm>
            <a:off x="5877386" y="842196"/>
            <a:ext cx="6314614" cy="1305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frequency resolution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where T = Total duration of recordings.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C362C8-6344-5430-E8C7-2E833DDABFC9}"/>
              </a:ext>
            </a:extLst>
          </p:cNvPr>
          <p:cNvGrpSpPr/>
          <p:nvPr/>
        </p:nvGrpSpPr>
        <p:grpSpPr>
          <a:xfrm>
            <a:off x="838200" y="2210942"/>
            <a:ext cx="10181933" cy="1867914"/>
            <a:chOff x="838200" y="2210942"/>
            <a:chExt cx="10181933" cy="186791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6BF3B1-AA71-F129-8241-8573EE667C97}"/>
                </a:ext>
              </a:extLst>
            </p:cNvPr>
            <p:cNvSpPr txBox="1"/>
            <p:nvPr/>
          </p:nvSpPr>
          <p:spPr>
            <a:xfrm>
              <a:off x="838200" y="2210942"/>
              <a:ext cx="7024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u="sng" dirty="0"/>
                <a:t>Ex</a:t>
              </a:r>
              <a:r>
                <a:rPr lang="en-US" sz="2800" dirty="0"/>
                <a:t>.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D8AE5E-5A16-2188-ED2C-40C9CA199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4838" y="2381044"/>
              <a:ext cx="9435295" cy="1697812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5A4E9D-791A-A4DA-3AEA-EA6610B43ACC}"/>
              </a:ext>
            </a:extLst>
          </p:cNvPr>
          <p:cNvGrpSpPr/>
          <p:nvPr/>
        </p:nvGrpSpPr>
        <p:grpSpPr>
          <a:xfrm>
            <a:off x="1681240" y="4104802"/>
            <a:ext cx="9210878" cy="754587"/>
            <a:chOff x="1681240" y="4104802"/>
            <a:chExt cx="9210878" cy="75458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0A4B875-8D0E-DA12-149F-836A90B90068}"/>
                </a:ext>
              </a:extLst>
            </p:cNvPr>
            <p:cNvCxnSpPr>
              <a:cxnSpLocks/>
            </p:cNvCxnSpPr>
            <p:nvPr/>
          </p:nvCxnSpPr>
          <p:spPr>
            <a:xfrm>
              <a:off x="1681240" y="4104802"/>
              <a:ext cx="9210878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01B11B-9104-F04D-2BE6-20112C329D9D}"/>
                </a:ext>
              </a:extLst>
            </p:cNvPr>
            <p:cNvSpPr txBox="1"/>
            <p:nvPr/>
          </p:nvSpPr>
          <p:spPr>
            <a:xfrm>
              <a:off x="4397726" y="4336169"/>
              <a:ext cx="12858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 = 2 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B1C2679-725E-C1F5-E56A-BBF2124D70CD}"/>
              </a:ext>
            </a:extLst>
          </p:cNvPr>
          <p:cNvSpPr txBox="1"/>
          <p:nvPr/>
        </p:nvSpPr>
        <p:spPr>
          <a:xfrm>
            <a:off x="6096000" y="4336169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 </a:t>
            </a:r>
            <a:r>
              <a:rPr lang="en-US" sz="2800" dirty="0" err="1"/>
              <a:t>df</a:t>
            </a:r>
            <a:r>
              <a:rPr lang="en-US" sz="2800" dirty="0"/>
              <a:t>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62A53D-0CBE-2CF9-2DF1-3C718A63266B}"/>
              </a:ext>
            </a:extLst>
          </p:cNvPr>
          <p:cNvSpPr txBox="1"/>
          <p:nvPr/>
        </p:nvSpPr>
        <p:spPr>
          <a:xfrm>
            <a:off x="7378923" y="4336169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 Hz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2278FD-A38A-1773-EDC0-15DD84AEBF09}"/>
              </a:ext>
            </a:extLst>
          </p:cNvPr>
          <p:cNvSpPr txBox="1"/>
          <p:nvPr/>
        </p:nvSpPr>
        <p:spPr>
          <a:xfrm>
            <a:off x="857021" y="5271858"/>
            <a:ext cx="746229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Q:  </a:t>
            </a:r>
            <a:r>
              <a:rPr lang="en-US" sz="2800" dirty="0"/>
              <a:t>How do we improve frequency resolution?</a:t>
            </a:r>
          </a:p>
          <a:p>
            <a:endParaRPr lang="en-US" sz="1200" dirty="0"/>
          </a:p>
          <a:p>
            <a:r>
              <a:rPr lang="en-US" sz="2800" b="1" dirty="0"/>
              <a:t>A:  </a:t>
            </a:r>
            <a:r>
              <a:rPr lang="en-US" sz="2800" dirty="0"/>
              <a:t>Increase T or record for longer time.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88FD65-DD82-0BD6-C343-B1AABA73DD44}"/>
                  </a:ext>
                </a:extLst>
              </p:cNvPr>
              <p:cNvSpPr txBox="1"/>
              <p:nvPr/>
            </p:nvSpPr>
            <p:spPr>
              <a:xfrm>
                <a:off x="3562520" y="1016755"/>
                <a:ext cx="2029968" cy="1071832"/>
              </a:xfrm>
              <a:prstGeom prst="rect">
                <a:avLst/>
              </a:prstGeom>
              <a:noFill/>
              <a:ln w="50800">
                <a:solidFill>
                  <a:srgbClr val="FF0000"/>
                </a:solidFill>
              </a:ln>
            </p:spPr>
            <p:txBody>
              <a:bodyPr wrap="square" lIns="0" tIns="0" rIns="0" b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sz="3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3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88FD65-DD82-0BD6-C343-B1AABA73D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520" y="1016755"/>
                <a:ext cx="2029968" cy="1071832"/>
              </a:xfrm>
              <a:prstGeom prst="rect">
                <a:avLst/>
              </a:prstGeom>
              <a:blipFill>
                <a:blip r:embed="rId4"/>
                <a:stretch>
                  <a:fillRect b="-1124"/>
                </a:stretch>
              </a:blipFill>
              <a:ln w="508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67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8" grpId="0" build="p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2B16EE-25B1-BC54-1DB7-1AE3EA329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4" y="4348471"/>
            <a:ext cx="10592964" cy="2504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D62A26-853C-14EA-790B-7038478530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-16223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Spectrum: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D62A26-853C-14EA-790B-703847853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-16223"/>
                <a:ext cx="10515600" cy="1325563"/>
              </a:xfrm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AE908-561A-FF84-A45A-BFED12B5E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1148846"/>
            <a:ext cx="10515600" cy="541945"/>
          </a:xfrm>
        </p:spPr>
        <p:txBody>
          <a:bodyPr/>
          <a:lstStyle/>
          <a:p>
            <a:r>
              <a:rPr lang="en-US" dirty="0"/>
              <a:t>Demand 0.2 Hz frequency resolution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20914-ED4B-E7D2-9A1E-25CA5DFD0FD3}"/>
              </a:ext>
            </a:extLst>
          </p:cNvPr>
          <p:cNvSpPr txBox="1"/>
          <p:nvPr/>
        </p:nvSpPr>
        <p:spPr>
          <a:xfrm>
            <a:off x="7193764" y="1121091"/>
            <a:ext cx="3574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0.2 Hz = 1/T , so T =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74AF2-6EE1-6C26-612A-4A18BBEE3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2" y="1603014"/>
            <a:ext cx="10665715" cy="2550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8FFF2E-97F2-5213-E7BF-80DCE0E80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49" y="1668711"/>
            <a:ext cx="8072205" cy="263069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914E293-3DD6-3808-2853-8DFD6FA56C7D}"/>
              </a:ext>
            </a:extLst>
          </p:cNvPr>
          <p:cNvSpPr/>
          <p:nvPr/>
        </p:nvSpPr>
        <p:spPr>
          <a:xfrm>
            <a:off x="10990729" y="3601332"/>
            <a:ext cx="551697" cy="551697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2E18A-A9A9-13B0-DD9C-DCBD422749BA}"/>
              </a:ext>
            </a:extLst>
          </p:cNvPr>
          <p:cNvSpPr txBox="1"/>
          <p:nvPr/>
        </p:nvSpPr>
        <p:spPr>
          <a:xfrm>
            <a:off x="2240072" y="5749776"/>
            <a:ext cx="8026556" cy="461665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Balance resolution requirements with consistency in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7DA74-F34D-AD5B-0F86-6E58AC43AAD1}"/>
              </a:ext>
            </a:extLst>
          </p:cNvPr>
          <p:cNvSpPr txBox="1"/>
          <p:nvPr/>
        </p:nvSpPr>
        <p:spPr>
          <a:xfrm>
            <a:off x="10640350" y="1128001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 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327F8D-D38E-34A8-ED47-B1CC60F02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435" y="4417033"/>
            <a:ext cx="8072205" cy="24551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A0EBCC-FBA8-27AC-0E81-7E31D57D7966}"/>
              </a:ext>
            </a:extLst>
          </p:cNvPr>
          <p:cNvSpPr txBox="1"/>
          <p:nvPr/>
        </p:nvSpPr>
        <p:spPr>
          <a:xfrm>
            <a:off x="2803175" y="4030300"/>
            <a:ext cx="7183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But, data may change during longer recordings . . . </a:t>
            </a:r>
          </a:p>
        </p:txBody>
      </p:sp>
    </p:spTree>
    <p:extLst>
      <p:ext uri="{BB962C8B-B14F-4D97-AF65-F5344CB8AC3E}">
        <p14:creationId xmlns:p14="http://schemas.microsoft.com/office/powerpoint/2010/main" val="101269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 animBg="1"/>
      <p:bldP spid="10" grpId="0" animBg="1"/>
      <p:bldP spid="11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roup"/>
          <p:cNvGrpSpPr/>
          <p:nvPr/>
        </p:nvGrpSpPr>
        <p:grpSpPr>
          <a:xfrm>
            <a:off x="3279623" y="2214863"/>
            <a:ext cx="5268516" cy="1508624"/>
            <a:chOff x="0" y="-428971"/>
            <a:chExt cx="7493000" cy="2145595"/>
          </a:xfrm>
        </p:grpSpPr>
        <p:pic>
          <p:nvPicPr>
            <p:cNvPr id="331" name="droppedImage.pdf" descr="droppedImage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493000" cy="17166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2" name="True signal: fs"/>
            <p:cNvSpPr/>
            <p:nvPr/>
          </p:nvSpPr>
          <p:spPr>
            <a:xfrm>
              <a:off x="5328698" y="-428971"/>
              <a:ext cx="1807356" cy="4718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 sz="2400" b="1">
                  <a:solidFill>
                    <a:srgbClr val="0433FF"/>
                  </a:solidFill>
                </a:defRPr>
              </a:pPr>
              <a:r>
                <a:rPr sz="1687" dirty="0"/>
                <a:t>True signal: f</a:t>
              </a:r>
              <a:r>
                <a:rPr sz="1687" baseline="-5999" dirty="0"/>
                <a:t>s</a:t>
              </a:r>
            </a:p>
          </p:txBody>
        </p:sp>
      </p:grpSp>
      <p:sp>
        <p:nvSpPr>
          <p:cNvPr id="334" name="Circle"/>
          <p:cNvSpPr/>
          <p:nvPr/>
        </p:nvSpPr>
        <p:spPr>
          <a:xfrm>
            <a:off x="3535141" y="2585921"/>
            <a:ext cx="135422" cy="135421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35" name="Circle"/>
          <p:cNvSpPr/>
          <p:nvPr/>
        </p:nvSpPr>
        <p:spPr>
          <a:xfrm>
            <a:off x="3670562" y="2701995"/>
            <a:ext cx="135421" cy="135421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What is fNQ?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6208" y="1214207"/>
                <a:ext cx="2732484" cy="964406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𝑁𝑄</m:t>
                        </m:r>
                      </m:sub>
                    </m:sSub>
                  </m:oMath>
                </a14:m>
                <a:r>
                  <a:rPr dirty="0"/>
                  <a:t>?</a:t>
                </a:r>
              </a:p>
            </p:txBody>
          </p:sp>
        </mc:Choice>
        <mc:Fallback xmlns="">
          <p:sp>
            <p:nvSpPr>
              <p:cNvPr id="336" name="What is fNQ?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6208" y="1214207"/>
                <a:ext cx="2732484" cy="964406"/>
              </a:xfrm>
              <a:prstGeom prst="rect">
                <a:avLst/>
              </a:prstGeom>
              <a:blipFill>
                <a:blip r:embed="rId3"/>
                <a:stretch>
                  <a:fillRect l="-4167" t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The Nyquist frequency…"/>
          <p:cNvSpPr/>
          <p:nvPr/>
        </p:nvSpPr>
        <p:spPr>
          <a:xfrm>
            <a:off x="6865625" y="561012"/>
            <a:ext cx="4987520" cy="1284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lnSpc>
                <a:spcPct val="150000"/>
              </a:lnSpc>
              <a:spcBef>
                <a:spcPts val="1687"/>
              </a:spcBef>
            </a:pPr>
            <a:r>
              <a:rPr sz="2800" dirty="0"/>
              <a:t>Nyquist frequency</a:t>
            </a:r>
            <a:br>
              <a:rPr lang="en-US" sz="2800" dirty="0"/>
            </a:br>
            <a:r>
              <a:rPr sz="2800" dirty="0"/>
              <a:t>where f</a:t>
            </a:r>
            <a:r>
              <a:rPr sz="2800" baseline="-5999" dirty="0"/>
              <a:t>0</a:t>
            </a:r>
            <a:r>
              <a:rPr sz="2800" dirty="0"/>
              <a:t> = sampling frequency.</a:t>
            </a:r>
          </a:p>
        </p:txBody>
      </p:sp>
      <p:sp>
        <p:nvSpPr>
          <p:cNvPr id="341" name="f0 &gt;&gt; 2 fs"/>
          <p:cNvSpPr/>
          <p:nvPr/>
        </p:nvSpPr>
        <p:spPr>
          <a:xfrm>
            <a:off x="1555328" y="2899055"/>
            <a:ext cx="1244444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spcBef>
                <a:spcPts val="1687"/>
              </a:spcBef>
              <a:defRPr sz="3600"/>
            </a:pPr>
            <a:r>
              <a:rPr sz="2531"/>
              <a:t> f</a:t>
            </a:r>
            <a:r>
              <a:rPr sz="2531" baseline="-5999"/>
              <a:t>0</a:t>
            </a:r>
            <a:r>
              <a:rPr sz="2531"/>
              <a:t> &gt;&gt; 2 f</a:t>
            </a:r>
            <a:r>
              <a:rPr sz="2531" baseline="-5999"/>
              <a:t>s</a:t>
            </a:r>
          </a:p>
        </p:txBody>
      </p:sp>
      <p:sp>
        <p:nvSpPr>
          <p:cNvPr id="342" name="The highest frequency we can observe."/>
          <p:cNvSpPr/>
          <p:nvPr/>
        </p:nvSpPr>
        <p:spPr>
          <a:xfrm>
            <a:off x="685274" y="1845432"/>
            <a:ext cx="6849071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2400" dirty="0"/>
              <a:t>The </a:t>
            </a:r>
            <a:r>
              <a:rPr sz="2400" b="1" dirty="0"/>
              <a:t>highest</a:t>
            </a:r>
            <a:r>
              <a:rPr sz="2400" dirty="0"/>
              <a:t> frequency we can observe.</a:t>
            </a:r>
          </a:p>
        </p:txBody>
      </p:sp>
      <p:sp>
        <p:nvSpPr>
          <p:cNvPr id="343" name="Circle"/>
          <p:cNvSpPr/>
          <p:nvPr/>
        </p:nvSpPr>
        <p:spPr>
          <a:xfrm>
            <a:off x="3735048" y="2876107"/>
            <a:ext cx="135421" cy="135422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44" name="Circle"/>
          <p:cNvSpPr/>
          <p:nvPr/>
        </p:nvSpPr>
        <p:spPr>
          <a:xfrm>
            <a:off x="3793085" y="3063116"/>
            <a:ext cx="135422" cy="135422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45" name="Circle"/>
          <p:cNvSpPr/>
          <p:nvPr/>
        </p:nvSpPr>
        <p:spPr>
          <a:xfrm>
            <a:off x="3851123" y="3256575"/>
            <a:ext cx="135421" cy="135421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46" name="Circle"/>
          <p:cNvSpPr/>
          <p:nvPr/>
        </p:nvSpPr>
        <p:spPr>
          <a:xfrm>
            <a:off x="3922057" y="3424238"/>
            <a:ext cx="135422" cy="135422"/>
          </a:xfrm>
          <a:prstGeom prst="ellipse">
            <a:avLst/>
          </a:prstGeom>
          <a:solidFill>
            <a:srgbClr val="00F9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47" name="f0 = 2 fs"/>
          <p:cNvSpPr/>
          <p:nvPr/>
        </p:nvSpPr>
        <p:spPr>
          <a:xfrm>
            <a:off x="1550291" y="3826550"/>
            <a:ext cx="1082540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spcBef>
                <a:spcPts val="1687"/>
              </a:spcBef>
              <a:defRPr sz="3600"/>
            </a:pPr>
            <a:r>
              <a:rPr sz="2531" dirty="0"/>
              <a:t> f</a:t>
            </a:r>
            <a:r>
              <a:rPr sz="2531" baseline="-5999" dirty="0"/>
              <a:t>0</a:t>
            </a:r>
            <a:r>
              <a:rPr sz="2531" dirty="0"/>
              <a:t> = 2 f</a:t>
            </a:r>
            <a:r>
              <a:rPr sz="2531" baseline="-5999" dirty="0"/>
              <a:t>s</a:t>
            </a:r>
          </a:p>
        </p:txBody>
      </p:sp>
      <p:pic>
        <p:nvPicPr>
          <p:cNvPr id="348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008" y="3892134"/>
            <a:ext cx="5268516" cy="1207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008" y="5204798"/>
            <a:ext cx="5268516" cy="1207002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Circle"/>
          <p:cNvSpPr/>
          <p:nvPr/>
        </p:nvSpPr>
        <p:spPr>
          <a:xfrm>
            <a:off x="3539605" y="5264385"/>
            <a:ext cx="135422" cy="135422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1" name="Circle"/>
          <p:cNvSpPr/>
          <p:nvPr/>
        </p:nvSpPr>
        <p:spPr>
          <a:xfrm>
            <a:off x="4370066" y="5612643"/>
            <a:ext cx="135422" cy="135422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2" name="Circle"/>
          <p:cNvSpPr/>
          <p:nvPr/>
        </p:nvSpPr>
        <p:spPr>
          <a:xfrm>
            <a:off x="5263035" y="5996619"/>
            <a:ext cx="135422" cy="135422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3" name="Circle"/>
          <p:cNvSpPr/>
          <p:nvPr/>
        </p:nvSpPr>
        <p:spPr>
          <a:xfrm>
            <a:off x="6138145" y="6219861"/>
            <a:ext cx="135422" cy="135422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4" name="Circle"/>
          <p:cNvSpPr/>
          <p:nvPr/>
        </p:nvSpPr>
        <p:spPr>
          <a:xfrm>
            <a:off x="6968606" y="5991821"/>
            <a:ext cx="135422" cy="135421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5" name="Circle"/>
          <p:cNvSpPr/>
          <p:nvPr/>
        </p:nvSpPr>
        <p:spPr>
          <a:xfrm>
            <a:off x="7825856" y="5402461"/>
            <a:ext cx="135422" cy="135421"/>
          </a:xfrm>
          <a:prstGeom prst="ellipse">
            <a:avLst/>
          </a:prstGeom>
          <a:solidFill>
            <a:srgbClr val="FF26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356" name="f0 &lt; 2 fs"/>
          <p:cNvSpPr/>
          <p:nvPr/>
        </p:nvSpPr>
        <p:spPr>
          <a:xfrm>
            <a:off x="1550291" y="5442524"/>
            <a:ext cx="1082540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spcBef>
                <a:spcPts val="1687"/>
              </a:spcBef>
              <a:defRPr sz="3600"/>
            </a:pPr>
            <a:r>
              <a:rPr sz="2531" dirty="0"/>
              <a:t> f</a:t>
            </a:r>
            <a:r>
              <a:rPr sz="2531" baseline="-5999" dirty="0"/>
              <a:t>0</a:t>
            </a:r>
            <a:r>
              <a:rPr sz="2531" dirty="0"/>
              <a:t> &lt; 2 f</a:t>
            </a:r>
            <a:r>
              <a:rPr sz="2531" baseline="-5999" dirty="0"/>
              <a:t>s</a:t>
            </a:r>
          </a:p>
        </p:txBody>
      </p:sp>
      <p:sp>
        <p:nvSpPr>
          <p:cNvPr id="357" name="Enough to reconstruct signal, but just barely."/>
          <p:cNvSpPr/>
          <p:nvPr/>
        </p:nvSpPr>
        <p:spPr>
          <a:xfrm>
            <a:off x="8921275" y="4275193"/>
            <a:ext cx="265762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 dirty="0"/>
              <a:t>Enough to reconstruct signal, but just barely.</a:t>
            </a:r>
          </a:p>
        </p:txBody>
      </p:sp>
      <p:sp>
        <p:nvSpPr>
          <p:cNvPr id="358" name="High frequency (in data) mapped to low frequency  (aliased)."/>
          <p:cNvSpPr/>
          <p:nvPr/>
        </p:nvSpPr>
        <p:spPr>
          <a:xfrm>
            <a:off x="8921275" y="5317683"/>
            <a:ext cx="2931870" cy="981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>
              <a:defRPr sz="2800"/>
            </a:pPr>
            <a:r>
              <a:rPr sz="1969" dirty="0"/>
              <a:t>High frequency (in data) mapped to low frequency  (</a:t>
            </a:r>
            <a:r>
              <a:rPr sz="1969" b="1" dirty="0"/>
              <a:t>aliased</a:t>
            </a:r>
            <a:r>
              <a:rPr sz="1969" dirty="0"/>
              <a:t>).</a:t>
            </a:r>
          </a:p>
        </p:txBody>
      </p:sp>
      <p:sp>
        <p:nvSpPr>
          <p:cNvPr id="359" name="Line"/>
          <p:cNvSpPr/>
          <p:nvPr/>
        </p:nvSpPr>
        <p:spPr>
          <a:xfrm>
            <a:off x="3640336" y="5339953"/>
            <a:ext cx="4884539" cy="9376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3435" y="7817"/>
                </a:lnTo>
                <a:lnTo>
                  <a:pt x="7424" y="16663"/>
                </a:lnTo>
                <a:lnTo>
                  <a:pt x="11333" y="21600"/>
                </a:lnTo>
                <a:lnTo>
                  <a:pt x="14966" y="16046"/>
                </a:lnTo>
                <a:lnTo>
                  <a:pt x="18796" y="3086"/>
                </a:lnTo>
                <a:lnTo>
                  <a:pt x="21600" y="206"/>
                </a:lnTo>
              </a:path>
            </a:pathLst>
          </a:custGeom>
          <a:ln w="25400">
            <a:solidFill>
              <a:srgbClr val="000000"/>
            </a:solidFill>
            <a:prstDash val="sysDot"/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grpSp>
        <p:nvGrpSpPr>
          <p:cNvPr id="415" name="Group"/>
          <p:cNvGrpSpPr/>
          <p:nvPr/>
        </p:nvGrpSpPr>
        <p:grpSpPr>
          <a:xfrm>
            <a:off x="4042100" y="2559131"/>
            <a:ext cx="4536740" cy="1138431"/>
            <a:chOff x="0" y="0"/>
            <a:chExt cx="6452252" cy="1619100"/>
          </a:xfrm>
        </p:grpSpPr>
        <p:sp>
          <p:nvSpPr>
            <p:cNvPr id="360" name="Circle"/>
            <p:cNvSpPr/>
            <p:nvPr/>
          </p:nvSpPr>
          <p:spPr>
            <a:xfrm>
              <a:off x="0" y="1375702"/>
              <a:ext cx="192599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1" name="Circle"/>
            <p:cNvSpPr/>
            <p:nvPr/>
          </p:nvSpPr>
          <p:spPr>
            <a:xfrm>
              <a:off x="201769" y="1192275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2" name="Circle"/>
            <p:cNvSpPr/>
            <p:nvPr/>
          </p:nvSpPr>
          <p:spPr>
            <a:xfrm>
              <a:off x="284312" y="944648"/>
              <a:ext cx="192599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3" name="Circle"/>
            <p:cNvSpPr/>
            <p:nvPr/>
          </p:nvSpPr>
          <p:spPr>
            <a:xfrm>
              <a:off x="366854" y="697022"/>
              <a:ext cx="192599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4" name="Circle"/>
            <p:cNvSpPr/>
            <p:nvPr/>
          </p:nvSpPr>
          <p:spPr>
            <a:xfrm>
              <a:off x="449395" y="449396"/>
              <a:ext cx="192600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5" name="Circle"/>
            <p:cNvSpPr/>
            <p:nvPr/>
          </p:nvSpPr>
          <p:spPr>
            <a:xfrm>
              <a:off x="531937" y="201769"/>
              <a:ext cx="192600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366" name="Circle"/>
            <p:cNvSpPr/>
            <p:nvPr/>
          </p:nvSpPr>
          <p:spPr>
            <a:xfrm>
              <a:off x="733707" y="0"/>
              <a:ext cx="192600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grpSp>
          <p:nvGrpSpPr>
            <p:cNvPr id="379" name="Group"/>
            <p:cNvGrpSpPr/>
            <p:nvPr/>
          </p:nvGrpSpPr>
          <p:grpSpPr>
            <a:xfrm>
              <a:off x="932090" y="0"/>
              <a:ext cx="1467417" cy="1568301"/>
              <a:chOff x="0" y="0"/>
              <a:chExt cx="1467415" cy="1568300"/>
            </a:xfrm>
          </p:grpSpPr>
          <p:sp>
            <p:nvSpPr>
              <p:cNvPr id="367" name="Circle"/>
              <p:cNvSpPr/>
              <p:nvPr/>
            </p:nvSpPr>
            <p:spPr>
              <a:xfrm>
                <a:off x="0" y="165084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68" name="Circle"/>
              <p:cNvSpPr/>
              <p:nvPr/>
            </p:nvSpPr>
            <p:spPr>
              <a:xfrm>
                <a:off x="91713" y="412710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69" name="Circle"/>
              <p:cNvSpPr/>
              <p:nvPr/>
            </p:nvSpPr>
            <p:spPr>
              <a:xfrm>
                <a:off x="174255" y="678679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0" name="Circle"/>
              <p:cNvSpPr/>
              <p:nvPr/>
            </p:nvSpPr>
            <p:spPr>
              <a:xfrm>
                <a:off x="256798" y="953820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1" name="Circle"/>
              <p:cNvSpPr/>
              <p:nvPr/>
            </p:nvSpPr>
            <p:spPr>
              <a:xfrm>
                <a:off x="357682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2" name="Circle"/>
              <p:cNvSpPr/>
              <p:nvPr/>
            </p:nvSpPr>
            <p:spPr>
              <a:xfrm>
                <a:off x="541109" y="1375702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3" name="Circle"/>
              <p:cNvSpPr/>
              <p:nvPr/>
            </p:nvSpPr>
            <p:spPr>
              <a:xfrm>
                <a:off x="742879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4" name="Circle"/>
              <p:cNvSpPr/>
              <p:nvPr/>
            </p:nvSpPr>
            <p:spPr>
              <a:xfrm>
                <a:off x="825421" y="944648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5" name="Circle"/>
              <p:cNvSpPr/>
              <p:nvPr/>
            </p:nvSpPr>
            <p:spPr>
              <a:xfrm>
                <a:off x="907963" y="697022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6" name="Circle"/>
              <p:cNvSpPr/>
              <p:nvPr/>
            </p:nvSpPr>
            <p:spPr>
              <a:xfrm>
                <a:off x="990505" y="449396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7" name="Circle"/>
              <p:cNvSpPr/>
              <p:nvPr/>
            </p:nvSpPr>
            <p:spPr>
              <a:xfrm>
                <a:off x="1073046" y="201769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78" name="Circle"/>
              <p:cNvSpPr/>
              <p:nvPr/>
            </p:nvSpPr>
            <p:spPr>
              <a:xfrm>
                <a:off x="1274816" y="0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</p:grpSp>
        <p:grpSp>
          <p:nvGrpSpPr>
            <p:cNvPr id="392" name="Group"/>
            <p:cNvGrpSpPr/>
            <p:nvPr/>
          </p:nvGrpSpPr>
          <p:grpSpPr>
            <a:xfrm>
              <a:off x="2405290" y="25400"/>
              <a:ext cx="1467417" cy="1568301"/>
              <a:chOff x="0" y="0"/>
              <a:chExt cx="1467415" cy="1568300"/>
            </a:xfrm>
          </p:grpSpPr>
          <p:sp>
            <p:nvSpPr>
              <p:cNvPr id="380" name="Circle"/>
              <p:cNvSpPr/>
              <p:nvPr/>
            </p:nvSpPr>
            <p:spPr>
              <a:xfrm>
                <a:off x="0" y="165084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1" name="Circle"/>
              <p:cNvSpPr/>
              <p:nvPr/>
            </p:nvSpPr>
            <p:spPr>
              <a:xfrm>
                <a:off x="91713" y="412710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2" name="Circle"/>
              <p:cNvSpPr/>
              <p:nvPr/>
            </p:nvSpPr>
            <p:spPr>
              <a:xfrm>
                <a:off x="174255" y="678679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3" name="Circle"/>
              <p:cNvSpPr/>
              <p:nvPr/>
            </p:nvSpPr>
            <p:spPr>
              <a:xfrm>
                <a:off x="256798" y="953820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4" name="Circle"/>
              <p:cNvSpPr/>
              <p:nvPr/>
            </p:nvSpPr>
            <p:spPr>
              <a:xfrm>
                <a:off x="357682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5" name="Circle"/>
              <p:cNvSpPr/>
              <p:nvPr/>
            </p:nvSpPr>
            <p:spPr>
              <a:xfrm>
                <a:off x="541109" y="1375702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6" name="Circle"/>
              <p:cNvSpPr/>
              <p:nvPr/>
            </p:nvSpPr>
            <p:spPr>
              <a:xfrm>
                <a:off x="742879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7" name="Circle"/>
              <p:cNvSpPr/>
              <p:nvPr/>
            </p:nvSpPr>
            <p:spPr>
              <a:xfrm>
                <a:off x="825421" y="944648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8" name="Circle"/>
              <p:cNvSpPr/>
              <p:nvPr/>
            </p:nvSpPr>
            <p:spPr>
              <a:xfrm>
                <a:off x="907963" y="697022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89" name="Circle"/>
              <p:cNvSpPr/>
              <p:nvPr/>
            </p:nvSpPr>
            <p:spPr>
              <a:xfrm>
                <a:off x="990505" y="449396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0" name="Circle"/>
              <p:cNvSpPr/>
              <p:nvPr/>
            </p:nvSpPr>
            <p:spPr>
              <a:xfrm>
                <a:off x="1073046" y="201769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1" name="Circle"/>
              <p:cNvSpPr/>
              <p:nvPr/>
            </p:nvSpPr>
            <p:spPr>
              <a:xfrm>
                <a:off x="1274816" y="0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</p:grpSp>
        <p:grpSp>
          <p:nvGrpSpPr>
            <p:cNvPr id="405" name="Group"/>
            <p:cNvGrpSpPr/>
            <p:nvPr/>
          </p:nvGrpSpPr>
          <p:grpSpPr>
            <a:xfrm>
              <a:off x="3891190" y="50800"/>
              <a:ext cx="1467417" cy="1568301"/>
              <a:chOff x="0" y="0"/>
              <a:chExt cx="1467415" cy="1568300"/>
            </a:xfrm>
          </p:grpSpPr>
          <p:sp>
            <p:nvSpPr>
              <p:cNvPr id="393" name="Circle"/>
              <p:cNvSpPr/>
              <p:nvPr/>
            </p:nvSpPr>
            <p:spPr>
              <a:xfrm>
                <a:off x="0" y="165084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4" name="Circle"/>
              <p:cNvSpPr/>
              <p:nvPr/>
            </p:nvSpPr>
            <p:spPr>
              <a:xfrm>
                <a:off x="91713" y="412710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5" name="Circle"/>
              <p:cNvSpPr/>
              <p:nvPr/>
            </p:nvSpPr>
            <p:spPr>
              <a:xfrm>
                <a:off x="174255" y="678679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6" name="Circle"/>
              <p:cNvSpPr/>
              <p:nvPr/>
            </p:nvSpPr>
            <p:spPr>
              <a:xfrm>
                <a:off x="256798" y="953820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7" name="Circle"/>
              <p:cNvSpPr/>
              <p:nvPr/>
            </p:nvSpPr>
            <p:spPr>
              <a:xfrm>
                <a:off x="357682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8" name="Circle"/>
              <p:cNvSpPr/>
              <p:nvPr/>
            </p:nvSpPr>
            <p:spPr>
              <a:xfrm>
                <a:off x="541109" y="1375702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399" name="Circle"/>
              <p:cNvSpPr/>
              <p:nvPr/>
            </p:nvSpPr>
            <p:spPr>
              <a:xfrm>
                <a:off x="742879" y="1192275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400" name="Circle"/>
              <p:cNvSpPr/>
              <p:nvPr/>
            </p:nvSpPr>
            <p:spPr>
              <a:xfrm>
                <a:off x="825421" y="944648"/>
                <a:ext cx="192599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401" name="Circle"/>
              <p:cNvSpPr/>
              <p:nvPr/>
            </p:nvSpPr>
            <p:spPr>
              <a:xfrm>
                <a:off x="907963" y="697022"/>
                <a:ext cx="192600" cy="192600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402" name="Circle"/>
              <p:cNvSpPr/>
              <p:nvPr/>
            </p:nvSpPr>
            <p:spPr>
              <a:xfrm>
                <a:off x="990505" y="449396"/>
                <a:ext cx="192599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403" name="Circle"/>
              <p:cNvSpPr/>
              <p:nvPr/>
            </p:nvSpPr>
            <p:spPr>
              <a:xfrm>
                <a:off x="1073046" y="201769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404" name="Circle"/>
              <p:cNvSpPr/>
              <p:nvPr/>
            </p:nvSpPr>
            <p:spPr>
              <a:xfrm>
                <a:off x="1274816" y="0"/>
                <a:ext cx="192600" cy="192599"/>
              </a:xfrm>
              <a:prstGeom prst="ellipse">
                <a:avLst/>
              </a:prstGeom>
              <a:solidFill>
                <a:srgbClr val="00F9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</p:grpSp>
        <p:sp>
          <p:nvSpPr>
            <p:cNvPr id="406" name="Circle"/>
            <p:cNvSpPr/>
            <p:nvPr/>
          </p:nvSpPr>
          <p:spPr>
            <a:xfrm>
              <a:off x="5351690" y="215884"/>
              <a:ext cx="192600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07" name="Circle"/>
            <p:cNvSpPr/>
            <p:nvPr/>
          </p:nvSpPr>
          <p:spPr>
            <a:xfrm>
              <a:off x="5443404" y="463510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08" name="Circle"/>
            <p:cNvSpPr/>
            <p:nvPr/>
          </p:nvSpPr>
          <p:spPr>
            <a:xfrm>
              <a:off x="5525946" y="729479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09" name="Circle"/>
            <p:cNvSpPr/>
            <p:nvPr/>
          </p:nvSpPr>
          <p:spPr>
            <a:xfrm>
              <a:off x="5608489" y="1004620"/>
              <a:ext cx="192599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10" name="Circle"/>
            <p:cNvSpPr/>
            <p:nvPr/>
          </p:nvSpPr>
          <p:spPr>
            <a:xfrm>
              <a:off x="5709372" y="1243075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11" name="Circle"/>
            <p:cNvSpPr/>
            <p:nvPr/>
          </p:nvSpPr>
          <p:spPr>
            <a:xfrm>
              <a:off x="5892800" y="1426502"/>
              <a:ext cx="192599" cy="192599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12" name="Circle"/>
            <p:cNvSpPr/>
            <p:nvPr/>
          </p:nvSpPr>
          <p:spPr>
            <a:xfrm>
              <a:off x="6094569" y="1243075"/>
              <a:ext cx="192599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13" name="Circle"/>
            <p:cNvSpPr/>
            <p:nvPr/>
          </p:nvSpPr>
          <p:spPr>
            <a:xfrm>
              <a:off x="6177111" y="995448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14" name="Circle"/>
            <p:cNvSpPr/>
            <p:nvPr/>
          </p:nvSpPr>
          <p:spPr>
            <a:xfrm>
              <a:off x="6259653" y="747822"/>
              <a:ext cx="192600" cy="192600"/>
            </a:xfrm>
            <a:prstGeom prst="ellipse">
              <a:avLst/>
            </a:prstGeom>
            <a:solidFill>
              <a:srgbClr val="00F9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</p:grpSp>
      <p:sp>
        <p:nvSpPr>
          <p:cNvPr id="416" name="Accurate reconstruction"/>
          <p:cNvSpPr/>
          <p:nvPr/>
        </p:nvSpPr>
        <p:spPr>
          <a:xfrm>
            <a:off x="8959307" y="2820330"/>
            <a:ext cx="1857376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 dirty="0"/>
              <a:t>Accurate reconstruction</a:t>
            </a:r>
          </a:p>
        </p:txBody>
      </p:sp>
      <p:sp>
        <p:nvSpPr>
          <p:cNvPr id="418" name="Sample:"/>
          <p:cNvSpPr/>
          <p:nvPr/>
        </p:nvSpPr>
        <p:spPr>
          <a:xfrm>
            <a:off x="1381914" y="2388632"/>
            <a:ext cx="1857376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 dirty="0"/>
              <a:t>Sample:</a:t>
            </a:r>
          </a:p>
        </p:txBody>
      </p:sp>
      <p:sp>
        <p:nvSpPr>
          <p:cNvPr id="419" name="2 samples/cycle"/>
          <p:cNvSpPr/>
          <p:nvPr/>
        </p:nvSpPr>
        <p:spPr>
          <a:xfrm>
            <a:off x="8919667" y="3752963"/>
            <a:ext cx="1696235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r>
              <a:rPr sz="1969" dirty="0"/>
              <a:t>2 samples/cycle</a:t>
            </a:r>
          </a:p>
        </p:txBody>
      </p:sp>
      <p:grpSp>
        <p:nvGrpSpPr>
          <p:cNvPr id="430" name="Group"/>
          <p:cNvGrpSpPr/>
          <p:nvPr/>
        </p:nvGrpSpPr>
        <p:grpSpPr>
          <a:xfrm>
            <a:off x="3676055" y="3964781"/>
            <a:ext cx="4848820" cy="1026915"/>
            <a:chOff x="0" y="0"/>
            <a:chExt cx="6896100" cy="1460500"/>
          </a:xfrm>
        </p:grpSpPr>
        <p:sp>
          <p:nvSpPr>
            <p:cNvPr id="420" name="Line"/>
            <p:cNvSpPr/>
            <p:nvPr/>
          </p:nvSpPr>
          <p:spPr>
            <a:xfrm>
              <a:off x="0" y="101600"/>
              <a:ext cx="546100" cy="129540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1" name="Line"/>
            <p:cNvSpPr/>
            <p:nvPr/>
          </p:nvSpPr>
          <p:spPr>
            <a:xfrm flipH="1">
              <a:off x="685799" y="50800"/>
              <a:ext cx="622301" cy="140970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2" name="Line"/>
            <p:cNvSpPr/>
            <p:nvPr/>
          </p:nvSpPr>
          <p:spPr>
            <a:xfrm>
              <a:off x="1447800" y="76200"/>
              <a:ext cx="546100" cy="129540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3" name="Line"/>
            <p:cNvSpPr/>
            <p:nvPr/>
          </p:nvSpPr>
          <p:spPr>
            <a:xfrm flipH="1">
              <a:off x="2171700" y="12700"/>
              <a:ext cx="622300" cy="140970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4" name="Line"/>
            <p:cNvSpPr/>
            <p:nvPr/>
          </p:nvSpPr>
          <p:spPr>
            <a:xfrm>
              <a:off x="2933700" y="63500"/>
              <a:ext cx="546100" cy="129540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5" name="Line"/>
            <p:cNvSpPr/>
            <p:nvPr/>
          </p:nvSpPr>
          <p:spPr>
            <a:xfrm flipH="1">
              <a:off x="3657600" y="0"/>
              <a:ext cx="622300" cy="140970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6" name="Line"/>
            <p:cNvSpPr/>
            <p:nvPr/>
          </p:nvSpPr>
          <p:spPr>
            <a:xfrm>
              <a:off x="4394200" y="50800"/>
              <a:ext cx="546100" cy="129540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7" name="Line"/>
            <p:cNvSpPr/>
            <p:nvPr/>
          </p:nvSpPr>
          <p:spPr>
            <a:xfrm flipH="1">
              <a:off x="5118100" y="12700"/>
              <a:ext cx="622300" cy="140970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8" name="Line"/>
            <p:cNvSpPr/>
            <p:nvPr/>
          </p:nvSpPr>
          <p:spPr>
            <a:xfrm>
              <a:off x="5880100" y="88900"/>
              <a:ext cx="546100" cy="129540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29" name="Line"/>
            <p:cNvSpPr/>
            <p:nvPr/>
          </p:nvSpPr>
          <p:spPr>
            <a:xfrm flipH="1">
              <a:off x="6565900" y="711200"/>
              <a:ext cx="330200" cy="73660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431" name="Circle"/>
          <p:cNvSpPr/>
          <p:nvPr/>
        </p:nvSpPr>
        <p:spPr>
          <a:xfrm>
            <a:off x="3539605" y="3924933"/>
            <a:ext cx="135422" cy="135421"/>
          </a:xfrm>
          <a:prstGeom prst="ellipse">
            <a:avLst/>
          </a:prstGeom>
          <a:solidFill>
            <a:srgbClr val="FFFB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432" name="Circle"/>
          <p:cNvSpPr/>
          <p:nvPr/>
        </p:nvSpPr>
        <p:spPr>
          <a:xfrm>
            <a:off x="4055493" y="4892223"/>
            <a:ext cx="135422" cy="135422"/>
          </a:xfrm>
          <a:prstGeom prst="ellipse">
            <a:avLst/>
          </a:prstGeom>
          <a:solidFill>
            <a:srgbClr val="FFFB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433" name="Circle"/>
          <p:cNvSpPr/>
          <p:nvPr/>
        </p:nvSpPr>
        <p:spPr>
          <a:xfrm>
            <a:off x="4571382" y="3924933"/>
            <a:ext cx="135421" cy="135421"/>
          </a:xfrm>
          <a:prstGeom prst="ellipse">
            <a:avLst/>
          </a:prstGeom>
          <a:solidFill>
            <a:srgbClr val="FFFB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434" name="Circle"/>
          <p:cNvSpPr/>
          <p:nvPr/>
        </p:nvSpPr>
        <p:spPr>
          <a:xfrm>
            <a:off x="5087270" y="4892223"/>
            <a:ext cx="135421" cy="135422"/>
          </a:xfrm>
          <a:prstGeom prst="ellipse">
            <a:avLst/>
          </a:prstGeom>
          <a:solidFill>
            <a:srgbClr val="FFFB00"/>
          </a:solidFill>
          <a:ln w="127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grpSp>
        <p:nvGrpSpPr>
          <p:cNvPr id="441" name="Group"/>
          <p:cNvGrpSpPr/>
          <p:nvPr/>
        </p:nvGrpSpPr>
        <p:grpSpPr>
          <a:xfrm>
            <a:off x="5622503" y="3924933"/>
            <a:ext cx="2701966" cy="1102712"/>
            <a:chOff x="0" y="0"/>
            <a:chExt cx="3842794" cy="1568300"/>
          </a:xfrm>
        </p:grpSpPr>
        <p:sp>
          <p:nvSpPr>
            <p:cNvPr id="435" name="Circle"/>
            <p:cNvSpPr/>
            <p:nvPr/>
          </p:nvSpPr>
          <p:spPr>
            <a:xfrm>
              <a:off x="0" y="0"/>
              <a:ext cx="192599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36" name="Circle"/>
            <p:cNvSpPr/>
            <p:nvPr/>
          </p:nvSpPr>
          <p:spPr>
            <a:xfrm>
              <a:off x="733707" y="1375702"/>
              <a:ext cx="192600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37" name="Circle"/>
            <p:cNvSpPr/>
            <p:nvPr/>
          </p:nvSpPr>
          <p:spPr>
            <a:xfrm>
              <a:off x="1439900" y="0"/>
              <a:ext cx="192599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38" name="Circle"/>
            <p:cNvSpPr/>
            <p:nvPr/>
          </p:nvSpPr>
          <p:spPr>
            <a:xfrm>
              <a:off x="2173608" y="1375702"/>
              <a:ext cx="192599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39" name="Circle"/>
            <p:cNvSpPr/>
            <p:nvPr/>
          </p:nvSpPr>
          <p:spPr>
            <a:xfrm>
              <a:off x="2916487" y="0"/>
              <a:ext cx="192600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40" name="Circle"/>
            <p:cNvSpPr/>
            <p:nvPr/>
          </p:nvSpPr>
          <p:spPr>
            <a:xfrm>
              <a:off x="3650196" y="1375702"/>
              <a:ext cx="192599" cy="192599"/>
            </a:xfrm>
            <a:prstGeom prst="ellipse">
              <a:avLst/>
            </a:prstGeom>
            <a:solidFill>
              <a:srgbClr val="FFFB00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</p:grpSp>
      <p:grpSp>
        <p:nvGrpSpPr>
          <p:cNvPr id="444" name="Group"/>
          <p:cNvGrpSpPr/>
          <p:nvPr/>
        </p:nvGrpSpPr>
        <p:grpSpPr>
          <a:xfrm>
            <a:off x="411243" y="3892134"/>
            <a:ext cx="2339085" cy="1307176"/>
            <a:chOff x="-1614237" y="21988"/>
            <a:chExt cx="3326697" cy="1859095"/>
          </a:xfrm>
        </p:grpSpPr>
        <p:sp>
          <p:nvSpPr>
            <p:cNvPr id="442" name="Max freq we can observe at this sample rate!"/>
            <p:cNvSpPr/>
            <p:nvPr/>
          </p:nvSpPr>
          <p:spPr>
            <a:xfrm>
              <a:off x="-1614237" y="485554"/>
              <a:ext cx="3326697" cy="13955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>
              <a:lvl1pPr>
                <a:defRPr sz="2800"/>
              </a:lvl1pPr>
            </a:lstStyle>
            <a:p>
              <a:r>
                <a:rPr sz="1969" dirty="0"/>
                <a:t>Max </a:t>
              </a:r>
              <a:r>
                <a:rPr sz="1969" dirty="0" err="1"/>
                <a:t>freq</a:t>
              </a:r>
              <a:r>
                <a:rPr sz="1969" dirty="0"/>
                <a:t> we can observe at this sample rate!</a:t>
              </a:r>
            </a:p>
          </p:txBody>
        </p:sp>
        <p:sp>
          <p:nvSpPr>
            <p:cNvPr id="443" name="Rectangle"/>
            <p:cNvSpPr/>
            <p:nvPr/>
          </p:nvSpPr>
          <p:spPr>
            <a:xfrm>
              <a:off x="1172572" y="21988"/>
              <a:ext cx="381000" cy="533400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</p:grpSp>
      <p:sp>
        <p:nvSpPr>
          <p:cNvPr id="445" name="All hope lost!  Indistinguishable from true low frequency signals."/>
          <p:cNvSpPr/>
          <p:nvPr/>
        </p:nvSpPr>
        <p:spPr>
          <a:xfrm>
            <a:off x="2194108" y="6445977"/>
            <a:ext cx="8742165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>
            <a:lvl1pPr>
              <a:defRPr sz="2800"/>
            </a:lvl1pPr>
          </a:lstStyle>
          <a:p>
            <a:r>
              <a:rPr sz="1969" dirty="0"/>
              <a:t> All hope lost!  Indistinguishable from true low frequency signals.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5ADA71F-C534-FBF6-1B33-942BF9837F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76518" y="13447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Spectrum: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𝑁𝑄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5ADA71F-C534-FBF6-1B33-942BF9837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6518" y="13447"/>
                <a:ext cx="10515600" cy="1325563"/>
              </a:xfrm>
              <a:blipFill>
                <a:blip r:embed="rId4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05387A-B1DE-447F-1743-D8C45A1E97AB}"/>
                  </a:ext>
                </a:extLst>
              </p:cNvPr>
              <p:cNvSpPr txBox="1"/>
              <p:nvPr/>
            </p:nvSpPr>
            <p:spPr>
              <a:xfrm>
                <a:off x="4251053" y="1127279"/>
                <a:ext cx="2279022" cy="619529"/>
              </a:xfrm>
              <a:prstGeom prst="rect">
                <a:avLst/>
              </a:prstGeom>
              <a:noFill/>
              <a:ln w="5080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𝑁𝑄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05387A-B1DE-447F-1743-D8C45A1E9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053" y="1127279"/>
                <a:ext cx="2279022" cy="619529"/>
              </a:xfrm>
              <a:prstGeom prst="rect">
                <a:avLst/>
              </a:prstGeom>
              <a:blipFill>
                <a:blip r:embed="rId5"/>
                <a:stretch>
                  <a:fillRect b="-9259"/>
                </a:stretch>
              </a:blipFill>
              <a:ln w="508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0BFD88-E010-5A30-C88F-FF95360708D5}"/>
              </a:ext>
            </a:extLst>
          </p:cNvPr>
          <p:cNvSpPr txBox="1"/>
          <p:nvPr/>
        </p:nvSpPr>
        <p:spPr>
          <a:xfrm>
            <a:off x="10816683" y="36856"/>
            <a:ext cx="1397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START HERE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0" animBg="1" advAuto="0"/>
      <p:bldP spid="334" grpId="0" animBg="1" advAuto="0"/>
      <p:bldP spid="335" grpId="0" animBg="1" advAuto="0"/>
      <p:bldP spid="336" grpId="0" animBg="1" advAuto="0"/>
      <p:bldP spid="340" grpId="0" animBg="1" advAuto="0"/>
      <p:bldP spid="341" grpId="0" animBg="1" advAuto="0"/>
      <p:bldP spid="342" grpId="0" animBg="1" advAuto="0"/>
      <p:bldP spid="343" grpId="0" animBg="1" advAuto="0"/>
      <p:bldP spid="344" grpId="0" animBg="1" advAuto="0"/>
      <p:bldP spid="345" grpId="0" animBg="1" advAuto="0"/>
      <p:bldP spid="346" grpId="0" animBg="1" advAuto="0"/>
      <p:bldP spid="347" grpId="0" animBg="1" advAuto="0"/>
      <p:bldP spid="348" grpId="0" animBg="1" advAuto="0"/>
      <p:bldP spid="349" grpId="0" animBg="1" advAuto="0"/>
      <p:bldP spid="350" grpId="0" animBg="1" advAuto="0"/>
      <p:bldP spid="351" grpId="0" animBg="1" advAuto="0"/>
      <p:bldP spid="352" grpId="0" animBg="1" advAuto="0"/>
      <p:bldP spid="353" grpId="0" animBg="1" advAuto="0"/>
      <p:bldP spid="354" grpId="0" animBg="1" advAuto="0"/>
      <p:bldP spid="355" grpId="0" animBg="1" advAuto="0"/>
      <p:bldP spid="356" grpId="0" animBg="1" advAuto="0"/>
      <p:bldP spid="357" grpId="0" animBg="1" advAuto="0"/>
      <p:bldP spid="358" grpId="0" animBg="1" advAuto="0"/>
      <p:bldP spid="359" grpId="0" animBg="1" advAuto="0"/>
      <p:bldP spid="415" grpId="0" animBg="1" advAuto="0"/>
      <p:bldP spid="416" grpId="0" animBg="1" advAuto="0"/>
      <p:bldP spid="418" grpId="0" animBg="1" advAuto="0"/>
      <p:bldP spid="419" grpId="0" animBg="1" advAuto="0"/>
      <p:bldP spid="430" grpId="0" animBg="1" advAuto="0"/>
      <p:bldP spid="431" grpId="0" animBg="1" advAuto="0"/>
      <p:bldP spid="432" grpId="0" animBg="1" advAuto="0"/>
      <p:bldP spid="433" grpId="0" animBg="1" advAuto="0"/>
      <p:bldP spid="434" grpId="0" animBg="1" advAuto="0"/>
      <p:bldP spid="441" grpId="0" animBg="1" advAuto="0"/>
      <p:bldP spid="444" grpId="0" animBg="1" advAuto="0"/>
      <p:bldP spid="445" grpId="0" animBg="1" advAuto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"/>
          <p:cNvGrpSpPr/>
          <p:nvPr/>
        </p:nvGrpSpPr>
        <p:grpSpPr>
          <a:xfrm>
            <a:off x="2265954" y="1704343"/>
            <a:ext cx="4134447" cy="1547293"/>
            <a:chOff x="0" y="0"/>
            <a:chExt cx="5880102" cy="2200592"/>
          </a:xfrm>
        </p:grpSpPr>
        <p:grpSp>
          <p:nvGrpSpPr>
            <p:cNvPr id="453" name="Group"/>
            <p:cNvGrpSpPr/>
            <p:nvPr/>
          </p:nvGrpSpPr>
          <p:grpSpPr>
            <a:xfrm>
              <a:off x="2964317" y="0"/>
              <a:ext cx="2915786" cy="2200593"/>
              <a:chOff x="0" y="0"/>
              <a:chExt cx="2915784" cy="2200592"/>
            </a:xfrm>
          </p:grpSpPr>
          <p:sp>
            <p:nvSpPr>
              <p:cNvPr id="451" name="Rectangle"/>
              <p:cNvSpPr/>
              <p:nvPr/>
            </p:nvSpPr>
            <p:spPr>
              <a:xfrm>
                <a:off x="76542" y="153084"/>
                <a:ext cx="2755524" cy="191355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452" name="droppedImage.pdf" descr="droppedImage.pd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915785" cy="220059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54" name="Frequency resolution"/>
            <p:cNvSpPr/>
            <p:nvPr/>
          </p:nvSpPr>
          <p:spPr>
            <a:xfrm>
              <a:off x="0" y="487956"/>
              <a:ext cx="2774656" cy="122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600" b="1"/>
              </a:lvl1pPr>
            </a:lstStyle>
            <a:p>
              <a:r>
                <a:rPr sz="2531" dirty="0"/>
                <a:t>Frequency resolution</a:t>
              </a:r>
            </a:p>
          </p:txBody>
        </p:sp>
      </p:grpSp>
      <p:grpSp>
        <p:nvGrpSpPr>
          <p:cNvPr id="460" name="Group"/>
          <p:cNvGrpSpPr/>
          <p:nvPr/>
        </p:nvGrpSpPr>
        <p:grpSpPr>
          <a:xfrm>
            <a:off x="2320774" y="3472777"/>
            <a:ext cx="4249292" cy="1341198"/>
            <a:chOff x="0" y="0"/>
            <a:chExt cx="6043437" cy="1907481"/>
          </a:xfrm>
        </p:grpSpPr>
        <p:grpSp>
          <p:nvGrpSpPr>
            <p:cNvPr id="458" name="Group"/>
            <p:cNvGrpSpPr/>
            <p:nvPr/>
          </p:nvGrpSpPr>
          <p:grpSpPr>
            <a:xfrm>
              <a:off x="2830836" y="0"/>
              <a:ext cx="3212602" cy="1907482"/>
              <a:chOff x="0" y="0"/>
              <a:chExt cx="3212600" cy="1907481"/>
            </a:xfrm>
          </p:grpSpPr>
          <p:sp>
            <p:nvSpPr>
              <p:cNvPr id="456" name="Rectangle"/>
              <p:cNvSpPr/>
              <p:nvPr/>
            </p:nvSpPr>
            <p:spPr>
              <a:xfrm>
                <a:off x="179335" y="138577"/>
                <a:ext cx="2804162" cy="163032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457" name="droppedImage.pdf" descr="droppedImage.pdf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3212601" cy="190748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59" name="Nyquist…"/>
            <p:cNvSpPr/>
            <p:nvPr/>
          </p:nvSpPr>
          <p:spPr>
            <a:xfrm>
              <a:off x="0" y="329638"/>
              <a:ext cx="2781300" cy="1231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600" b="1"/>
              </a:pPr>
              <a:r>
                <a:rPr sz="2531"/>
                <a:t>Nyquist</a:t>
              </a:r>
            </a:p>
            <a:p>
              <a:pPr>
                <a:defRPr sz="3600" b="1"/>
              </a:pPr>
              <a:r>
                <a:rPr sz="2531"/>
                <a:t>frequency</a:t>
              </a:r>
            </a:p>
          </p:txBody>
        </p:sp>
      </p:grpSp>
      <p:grpSp>
        <p:nvGrpSpPr>
          <p:cNvPr id="463" name="Group"/>
          <p:cNvGrpSpPr/>
          <p:nvPr/>
        </p:nvGrpSpPr>
        <p:grpSpPr>
          <a:xfrm>
            <a:off x="6346031" y="2596583"/>
            <a:ext cx="3680532" cy="441468"/>
            <a:chOff x="0" y="48019"/>
            <a:chExt cx="5234534" cy="627864"/>
          </a:xfrm>
        </p:grpSpPr>
        <p:sp>
          <p:nvSpPr>
            <p:cNvPr id="461" name="Line"/>
            <p:cNvSpPr/>
            <p:nvPr/>
          </p:nvSpPr>
          <p:spPr>
            <a:xfrm>
              <a:off x="0" y="359833"/>
              <a:ext cx="911358" cy="1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62" name="Duration of recording"/>
            <p:cNvSpPr/>
            <p:nvPr/>
          </p:nvSpPr>
          <p:spPr>
            <a:xfrm>
              <a:off x="1039652" y="48019"/>
              <a:ext cx="4194882" cy="62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2400" dirty="0"/>
                <a:t>Duration of recording</a:t>
              </a:r>
            </a:p>
          </p:txBody>
        </p:sp>
      </p:grpSp>
      <p:grpSp>
        <p:nvGrpSpPr>
          <p:cNvPr id="466" name="Group"/>
          <p:cNvGrpSpPr/>
          <p:nvPr/>
        </p:nvGrpSpPr>
        <p:grpSpPr>
          <a:xfrm>
            <a:off x="6346031" y="3632427"/>
            <a:ext cx="3530475" cy="441468"/>
            <a:chOff x="0" y="48019"/>
            <a:chExt cx="5021118" cy="627864"/>
          </a:xfrm>
        </p:grpSpPr>
        <p:sp>
          <p:nvSpPr>
            <p:cNvPr id="464" name="Line"/>
            <p:cNvSpPr/>
            <p:nvPr/>
          </p:nvSpPr>
          <p:spPr>
            <a:xfrm>
              <a:off x="0" y="368300"/>
              <a:ext cx="911358" cy="0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65" name="Sampling frequency"/>
            <p:cNvSpPr/>
            <p:nvPr/>
          </p:nvSpPr>
          <p:spPr>
            <a:xfrm>
              <a:off x="1045101" y="48019"/>
              <a:ext cx="3976017" cy="62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2400" dirty="0"/>
                <a:t>Sampling frequency</a:t>
              </a:r>
            </a:p>
          </p:txBody>
        </p:sp>
      </p:grpSp>
      <p:sp>
        <p:nvSpPr>
          <p:cNvPr id="467" name="For finer frequency resolution:"/>
          <p:cNvSpPr txBox="1">
            <a:spLocks noGrp="1"/>
          </p:cNvSpPr>
          <p:nvPr>
            <p:ph type="body" sz="quarter" idx="1"/>
          </p:nvPr>
        </p:nvSpPr>
        <p:spPr>
          <a:xfrm>
            <a:off x="841248" y="5134570"/>
            <a:ext cx="6245947" cy="508992"/>
          </a:xfrm>
          <a:prstGeom prst="rect">
            <a:avLst/>
          </a:prstGeom>
        </p:spPr>
        <p:txBody>
          <a:bodyPr>
            <a:noAutofit/>
          </a:bodyPr>
          <a:lstStyle>
            <a:lvl1pPr marL="834571" indent="-517071">
              <a:defRPr sz="3800"/>
            </a:lvl1pPr>
          </a:lstStyle>
          <a:p>
            <a:pPr marL="317500" indent="0">
              <a:buNone/>
            </a:pPr>
            <a:r>
              <a:rPr sz="2800" dirty="0"/>
              <a:t>For finer frequency resolution: </a:t>
            </a:r>
          </a:p>
        </p:txBody>
      </p:sp>
      <p:sp>
        <p:nvSpPr>
          <p:cNvPr id="468" name="Summary"/>
          <p:cNvSpPr/>
          <p:nvPr/>
        </p:nvSpPr>
        <p:spPr>
          <a:xfrm>
            <a:off x="494373" y="1201320"/>
            <a:ext cx="1611018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u="sng"/>
            </a:lvl1pPr>
          </a:lstStyle>
          <a:p>
            <a:r>
              <a:rPr sz="2800" dirty="0"/>
              <a:t>Summary</a:t>
            </a:r>
          </a:p>
        </p:txBody>
      </p:sp>
      <p:sp>
        <p:nvSpPr>
          <p:cNvPr id="469" name="To observe higher frequencies:"/>
          <p:cNvSpPr/>
          <p:nvPr/>
        </p:nvSpPr>
        <p:spPr>
          <a:xfrm>
            <a:off x="1188695" y="5741970"/>
            <a:ext cx="4993611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spcBef>
                <a:spcPts val="1687"/>
              </a:spcBef>
              <a:buSzPct val="125000"/>
              <a:defRPr sz="3800"/>
            </a:pPr>
            <a:r>
              <a:rPr sz="2800" dirty="0"/>
              <a:t>To observe higher frequencies:</a:t>
            </a:r>
          </a:p>
        </p:txBody>
      </p:sp>
      <p:sp>
        <p:nvSpPr>
          <p:cNvPr id="470" name="record more data."/>
          <p:cNvSpPr/>
          <p:nvPr/>
        </p:nvSpPr>
        <p:spPr>
          <a:xfrm>
            <a:off x="7214828" y="5087104"/>
            <a:ext cx="3012043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600"/>
            </a:lvl1pPr>
          </a:lstStyle>
          <a:p>
            <a:r>
              <a:rPr sz="2800" dirty="0"/>
              <a:t>record more data.</a:t>
            </a:r>
          </a:p>
        </p:txBody>
      </p:sp>
      <p:sp>
        <p:nvSpPr>
          <p:cNvPr id="471" name="increase sampling rate."/>
          <p:cNvSpPr/>
          <p:nvPr/>
        </p:nvSpPr>
        <p:spPr>
          <a:xfrm>
            <a:off x="7214828" y="5741969"/>
            <a:ext cx="3677290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2400"/>
              </a:spcBef>
              <a:defRPr sz="3800"/>
            </a:lvl1pPr>
          </a:lstStyle>
          <a:p>
            <a:r>
              <a:rPr sz="2800" dirty="0"/>
              <a:t>increase</a:t>
            </a:r>
            <a:r>
              <a:rPr sz="2672" dirty="0"/>
              <a:t> sampling rate.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67802F-0399-ECB9-85FD-1A91E70555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76518" y="13447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Spectrum: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𝑁𝑄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67802F-0399-ECB9-85FD-1A91E7055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6518" y="13447"/>
                <a:ext cx="10515600" cy="1325563"/>
              </a:xfrm>
              <a:blipFill>
                <a:blip r:embed="rId5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" grpId="0" animBg="1" advAuto="0"/>
      <p:bldP spid="460" grpId="0" animBg="1" advAuto="0"/>
      <p:bldP spid="463" grpId="0" animBg="1" advAuto="0"/>
      <p:bldP spid="466" grpId="0" animBg="1" advAuto="0"/>
      <p:bldP spid="467" grpId="0" build="p" bldLvl="5" animBg="1" advAuto="0"/>
      <p:bldP spid="469" grpId="0" animBg="1" advAuto="0"/>
      <p:bldP spid="470" grpId="0" animBg="1" advAuto="0"/>
      <p:bldP spid="471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BBF-F424-EE0F-D28B-75507050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62" y="116928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6DA15-8DAD-6D6D-36E1-B45448228F0D}"/>
              </a:ext>
            </a:extLst>
          </p:cNvPr>
          <p:cNvSpPr txBox="1"/>
          <p:nvPr/>
        </p:nvSpPr>
        <p:spPr>
          <a:xfrm>
            <a:off x="554637" y="5640600"/>
            <a:ext cx="450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What rhythms dominate?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5E9314-FDCA-2869-4A91-987256470225}"/>
              </a:ext>
            </a:extLst>
          </p:cNvPr>
          <p:cNvGrpSpPr/>
          <p:nvPr/>
        </p:nvGrpSpPr>
        <p:grpSpPr>
          <a:xfrm>
            <a:off x="1271978" y="1427353"/>
            <a:ext cx="8976921" cy="4003293"/>
            <a:chOff x="1271978" y="1217638"/>
            <a:chExt cx="8976921" cy="400329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F172F6-0B87-4551-33B9-C215DB3EC9D2}"/>
                </a:ext>
              </a:extLst>
            </p:cNvPr>
            <p:cNvGrpSpPr/>
            <p:nvPr/>
          </p:nvGrpSpPr>
          <p:grpSpPr>
            <a:xfrm>
              <a:off x="1271978" y="1217638"/>
              <a:ext cx="8976921" cy="3699135"/>
              <a:chOff x="2036476" y="1277599"/>
              <a:chExt cx="8976921" cy="369913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747A7B1-553D-C06C-7A65-A7A98AB79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36476" y="1277599"/>
                <a:ext cx="8636520" cy="3583862"/>
              </a:xfrm>
              <a:prstGeom prst="rect">
                <a:avLst/>
              </a:prstGeom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7FD0CE-9974-D291-622C-812F32D83BE7}"/>
                  </a:ext>
                </a:extLst>
              </p:cNvPr>
              <p:cNvSpPr/>
              <p:nvPr/>
            </p:nvSpPr>
            <p:spPr>
              <a:xfrm>
                <a:off x="2338466" y="4542020"/>
                <a:ext cx="494675" cy="4347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321978-BCC3-16DA-0C86-1A24618B5842}"/>
                  </a:ext>
                </a:extLst>
              </p:cNvPr>
              <p:cNvSpPr/>
              <p:nvPr/>
            </p:nvSpPr>
            <p:spPr>
              <a:xfrm>
                <a:off x="6595672" y="4542020"/>
                <a:ext cx="494675" cy="4347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8BAF759-696E-CB7A-6455-E92409287496}"/>
                  </a:ext>
                </a:extLst>
              </p:cNvPr>
              <p:cNvSpPr/>
              <p:nvPr/>
            </p:nvSpPr>
            <p:spPr>
              <a:xfrm>
                <a:off x="10518722" y="1530968"/>
                <a:ext cx="494675" cy="4347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CB666E-AD4F-CC94-ED78-297F1F5D6CFB}"/>
                </a:ext>
              </a:extLst>
            </p:cNvPr>
            <p:cNvSpPr txBox="1"/>
            <p:nvPr/>
          </p:nvSpPr>
          <p:spPr>
            <a:xfrm>
              <a:off x="4200727" y="4851599"/>
              <a:ext cx="3260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[Schneider et al, Neuron, 2021]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64568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D8EA-655E-30C8-692E-E80ADD5A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92982"/>
            <a:ext cx="10515600" cy="1325563"/>
          </a:xfrm>
        </p:spPr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ADD9-FCCD-EED4-21F6-192FE5CB4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625" y="1628180"/>
            <a:ext cx="9810750" cy="10904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Require a 2 Hz frequency resolution, and to observe rhythms up to 500 Hz. What is the experiment / recording setup?</a:t>
            </a:r>
          </a:p>
        </p:txBody>
      </p:sp>
      <p:pic>
        <p:nvPicPr>
          <p:cNvPr id="4" name="droppedImage.pdf" descr="droppedImage.pdf">
            <a:extLst>
              <a:ext uri="{FF2B5EF4-FFF2-40B4-BE49-F238E27FC236}">
                <a16:creationId xmlns:a16="http://schemas.microsoft.com/office/drawing/2014/main" id="{5522DD72-0EA5-2175-75CF-53B3C1FF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270"/>
          <a:stretch/>
        </p:blipFill>
        <p:spPr>
          <a:xfrm>
            <a:off x="1771932" y="2928258"/>
            <a:ext cx="1286061" cy="154729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" name="droppedImage.pdf" descr="droppedImage.pdf">
            <a:extLst>
              <a:ext uri="{FF2B5EF4-FFF2-40B4-BE49-F238E27FC236}">
                <a16:creationId xmlns:a16="http://schemas.microsoft.com/office/drawing/2014/main" id="{F1E8773D-5D46-80D4-C7BE-05F32651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393"/>
          <a:stretch/>
        </p:blipFill>
        <p:spPr>
          <a:xfrm>
            <a:off x="1463075" y="4475553"/>
            <a:ext cx="1594918" cy="13412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22172157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802F-0399-ECB9-85FD-1A91E705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18" y="13447"/>
            <a:ext cx="10515600" cy="1325563"/>
          </a:xfrm>
        </p:spPr>
        <p:txBody>
          <a:bodyPr/>
          <a:lstStyle/>
          <a:p>
            <a:r>
              <a:rPr lang="en-US" dirty="0"/>
              <a:t>Spectrum: four (important) asides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C22CE-8726-00C8-132B-65959C4ED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625" y="1762075"/>
            <a:ext cx="9810750" cy="4018359"/>
          </a:xfrm>
        </p:spPr>
        <p:txBody>
          <a:bodyPr/>
          <a:lstStyle/>
          <a:p>
            <a:r>
              <a:rPr lang="en-US" dirty="0"/>
              <a:t>Units</a:t>
            </a:r>
          </a:p>
          <a:p>
            <a:r>
              <a:rPr lang="en-US" dirty="0"/>
              <a:t>Scale</a:t>
            </a:r>
          </a:p>
          <a:p>
            <a:r>
              <a:rPr lang="en-US" dirty="0"/>
              <a:t>Tapers</a:t>
            </a:r>
          </a:p>
          <a:p>
            <a:r>
              <a:rPr lang="en-US" dirty="0"/>
              <a:t>Spectrogram</a:t>
            </a:r>
          </a:p>
        </p:txBody>
      </p:sp>
    </p:spTree>
    <p:extLst>
      <p:ext uri="{BB962C8B-B14F-4D97-AF65-F5344CB8AC3E}">
        <p14:creationId xmlns:p14="http://schemas.microsoft.com/office/powerpoint/2010/main" val="176940440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EFF3-0735-FCB8-49CB-0BBAC805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" y="114754"/>
            <a:ext cx="10515600" cy="1325563"/>
          </a:xfrm>
        </p:spPr>
        <p:txBody>
          <a:bodyPr/>
          <a:lstStyle/>
          <a:p>
            <a:r>
              <a:rPr lang="en-US" dirty="0"/>
              <a:t>Spectrum: </a:t>
            </a:r>
            <a:r>
              <a:rPr lang="en-US" u="sng" dirty="0"/>
              <a:t>units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B1EFE-23BA-3182-F9E2-4CAC66AE7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768" y="1258737"/>
            <a:ext cx="9810750" cy="5243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Q. </a:t>
            </a:r>
            <a:r>
              <a:rPr lang="en-US" dirty="0"/>
              <a:t>What are the units of the spectrum?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57B22-189F-0433-DD21-151E6FF96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994" y="1706011"/>
            <a:ext cx="4194550" cy="18579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B49FA6-8947-93BA-5090-C59147E1C483}"/>
                  </a:ext>
                </a:extLst>
              </p:cNvPr>
              <p:cNvSpPr txBox="1"/>
              <p:nvPr/>
            </p:nvSpPr>
            <p:spPr>
              <a:xfrm>
                <a:off x="6193971" y="3468991"/>
                <a:ext cx="943143" cy="1169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B49FA6-8947-93BA-5090-C59147E1C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971" y="3468991"/>
                <a:ext cx="943143" cy="1169038"/>
              </a:xfrm>
              <a:prstGeom prst="rect">
                <a:avLst/>
              </a:prstGeom>
              <a:blipFill>
                <a:blip r:embed="rId3"/>
                <a:stretch>
                  <a:fillRect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1D4A6E-77EE-1B4B-CC8D-5489E60339CF}"/>
                  </a:ext>
                </a:extLst>
              </p:cNvPr>
              <p:cNvSpPr txBox="1"/>
              <p:nvPr/>
            </p:nvSpPr>
            <p:spPr>
              <a:xfrm>
                <a:off x="7209867" y="3761122"/>
                <a:ext cx="13829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1D4A6E-77EE-1B4B-CC8D-5489E6033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867" y="3761122"/>
                <a:ext cx="1382943" cy="584775"/>
              </a:xfrm>
              <a:prstGeom prst="rect">
                <a:avLst/>
              </a:prstGeom>
              <a:blipFill>
                <a:blip r:embed="rId4"/>
                <a:stretch>
                  <a:fillRect r="-3636"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CB8CA-8E31-3C86-BC16-D699A9E21B42}"/>
                  </a:ext>
                </a:extLst>
              </p:cNvPr>
              <p:cNvSpPr txBox="1"/>
              <p:nvPr/>
            </p:nvSpPr>
            <p:spPr>
              <a:xfrm>
                <a:off x="6292269" y="4812055"/>
                <a:ext cx="230793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CB8CA-8E31-3C86-BC16-D699A9E21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269" y="4812055"/>
                <a:ext cx="2307939" cy="584775"/>
              </a:xfrm>
              <a:prstGeom prst="rect">
                <a:avLst/>
              </a:prstGeom>
              <a:blipFill>
                <a:blip r:embed="rId5"/>
                <a:stretch>
                  <a:fillRect b="-2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AE4F58-6FE7-852F-98B2-33D5527F7EB3}"/>
                  </a:ext>
                </a:extLst>
              </p:cNvPr>
              <p:cNvSpPr txBox="1"/>
              <p:nvPr/>
            </p:nvSpPr>
            <p:spPr>
              <a:xfrm>
                <a:off x="6679625" y="5536960"/>
                <a:ext cx="1060483" cy="1169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𝐻𝑧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AE4F58-6FE7-852F-98B2-33D5527F7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625" y="5536960"/>
                <a:ext cx="1060483" cy="1169038"/>
              </a:xfrm>
              <a:prstGeom prst="rect">
                <a:avLst/>
              </a:prstGeom>
              <a:blipFill>
                <a:blip r:embed="rId6"/>
                <a:stretch>
                  <a:fillRect l="-5952" r="-4762" b="-1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3D343703-EB16-A51C-C915-ED9D67C9F0C9}"/>
              </a:ext>
            </a:extLst>
          </p:cNvPr>
          <p:cNvSpPr/>
          <p:nvPr/>
        </p:nvSpPr>
        <p:spPr>
          <a:xfrm>
            <a:off x="6533535" y="5570856"/>
            <a:ext cx="1342104" cy="120504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B5585-97E5-5F58-794C-968CAD886332}"/>
              </a:ext>
            </a:extLst>
          </p:cNvPr>
          <p:cNvSpPr txBox="1"/>
          <p:nvPr/>
        </p:nvSpPr>
        <p:spPr>
          <a:xfrm>
            <a:off x="8087106" y="5911770"/>
            <a:ext cx="4086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“volts squared per Hertz</a:t>
            </a:r>
            <a:r>
              <a:rPr lang="en-US" sz="2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70226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1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C509FC-BE3A-7C6B-EF96-7C7A287F62EC}"/>
              </a:ext>
            </a:extLst>
          </p:cNvPr>
          <p:cNvGrpSpPr/>
          <p:nvPr/>
        </p:nvGrpSpPr>
        <p:grpSpPr>
          <a:xfrm>
            <a:off x="2555439" y="4209548"/>
            <a:ext cx="7983141" cy="2661047"/>
            <a:chOff x="2226827" y="4209548"/>
            <a:chExt cx="7983141" cy="2661047"/>
          </a:xfrm>
        </p:grpSpPr>
        <p:pic>
          <p:nvPicPr>
            <p:cNvPr id="480" name="2.1_power_linear.pdf" descr="2.1_power_linear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6827" y="4209548"/>
              <a:ext cx="7983141" cy="2661047"/>
            </a:xfrm>
            <a:prstGeom prst="rect">
              <a:avLst/>
            </a:prstGeom>
            <a:ln w="12700">
              <a:miter lim="400000"/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A0797A3-5EB3-A267-F053-A0653D66BF58}"/>
                    </a:ext>
                  </a:extLst>
                </p:cNvPr>
                <p:cNvSpPr txBox="1"/>
                <p:nvPr/>
              </p:nvSpPr>
              <p:spPr>
                <a:xfrm rot="16200000">
                  <a:off x="2373322" y="5250230"/>
                  <a:ext cx="144847" cy="1538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A0797A3-5EB3-A267-F053-A0653D66B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373322" y="5250230"/>
                  <a:ext cx="144847" cy="153888"/>
                </a:xfrm>
                <a:prstGeom prst="rect">
                  <a:avLst/>
                </a:prstGeom>
                <a:blipFill>
                  <a:blip r:embed="rId3"/>
                  <a:stretch>
                    <a:fillRect t="-7692" r="-7692"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5" name="A note on scale . . ."/>
          <p:cNvSpPr/>
          <p:nvPr/>
        </p:nvSpPr>
        <p:spPr>
          <a:xfrm>
            <a:off x="560054" y="1336944"/>
            <a:ext cx="3295055" cy="4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2200" dirty="0"/>
              <a:t>A note on scale . . . </a:t>
            </a:r>
          </a:p>
        </p:txBody>
      </p:sp>
      <p:pic>
        <p:nvPicPr>
          <p:cNvPr id="476" name="2.1_power.pdf" descr="2.1_power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747" y="1334373"/>
            <a:ext cx="7986833" cy="266227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9" name="Group"/>
          <p:cNvGrpSpPr/>
          <p:nvPr/>
        </p:nvGrpSpPr>
        <p:grpSpPr>
          <a:xfrm>
            <a:off x="2840830" y="850354"/>
            <a:ext cx="7951189" cy="1007022"/>
            <a:chOff x="0" y="91791"/>
            <a:chExt cx="11308356" cy="1432209"/>
          </a:xfrm>
        </p:grpSpPr>
        <p:sp>
          <p:nvSpPr>
            <p:cNvPr id="477" name="Line"/>
            <p:cNvSpPr/>
            <p:nvPr/>
          </p:nvSpPr>
          <p:spPr>
            <a:xfrm flipV="1">
              <a:off x="0" y="491066"/>
              <a:ext cx="3657600" cy="1032934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78" name="Emphasize lower amplitude signals"/>
            <p:cNvSpPr/>
            <p:nvPr/>
          </p:nvSpPr>
          <p:spPr>
            <a:xfrm>
              <a:off x="3751854" y="91791"/>
              <a:ext cx="7556502" cy="5403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>
              <a:lvl1pPr algn="l"/>
            </a:lstStyle>
            <a:p>
              <a:r>
                <a:rPr sz="2000" dirty="0"/>
                <a:t>Emphasize lower amplitude signals</a:t>
              </a:r>
            </a:p>
          </p:txBody>
        </p:sp>
      </p:grpSp>
      <p:sp>
        <p:nvSpPr>
          <p:cNvPr id="481" name="60 Hz"/>
          <p:cNvSpPr/>
          <p:nvPr/>
        </p:nvSpPr>
        <p:spPr>
          <a:xfrm>
            <a:off x="5041634" y="4462456"/>
            <a:ext cx="674865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60 Hz</a:t>
            </a:r>
          </a:p>
        </p:txBody>
      </p:sp>
      <p:grpSp>
        <p:nvGrpSpPr>
          <p:cNvPr id="484" name="Group"/>
          <p:cNvGrpSpPr/>
          <p:nvPr/>
        </p:nvGrpSpPr>
        <p:grpSpPr>
          <a:xfrm>
            <a:off x="3452540" y="5413636"/>
            <a:ext cx="218100" cy="771368"/>
            <a:chOff x="-1" y="113677"/>
            <a:chExt cx="310186" cy="1097057"/>
          </a:xfrm>
        </p:grpSpPr>
        <p:sp>
          <p:nvSpPr>
            <p:cNvPr id="482" name="Line"/>
            <p:cNvSpPr/>
            <p:nvPr/>
          </p:nvSpPr>
          <p:spPr>
            <a:xfrm flipV="1">
              <a:off x="-1" y="393962"/>
              <a:ext cx="2" cy="816772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483" name="?"/>
            <p:cNvSpPr/>
            <p:nvPr/>
          </p:nvSpPr>
          <p:spPr>
            <a:xfrm>
              <a:off x="25206" y="113677"/>
              <a:ext cx="284979" cy="4965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r>
                <a:t>?</a:t>
              </a:r>
            </a:p>
          </p:txBody>
        </p:sp>
      </p:grpSp>
      <p:sp>
        <p:nvSpPr>
          <p:cNvPr id="485" name="60 Hz"/>
          <p:cNvSpPr/>
          <p:nvPr/>
        </p:nvSpPr>
        <p:spPr>
          <a:xfrm>
            <a:off x="5059063" y="1517609"/>
            <a:ext cx="674865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60 Hz</a:t>
            </a:r>
          </a:p>
        </p:txBody>
      </p:sp>
      <p:sp>
        <p:nvSpPr>
          <p:cNvPr id="486" name="5-8 Hz"/>
          <p:cNvSpPr/>
          <p:nvPr/>
        </p:nvSpPr>
        <p:spPr>
          <a:xfrm>
            <a:off x="3498260" y="1874796"/>
            <a:ext cx="751809" cy="349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dirty="0"/>
              <a:t>5-8 Hz</a:t>
            </a:r>
          </a:p>
        </p:txBody>
      </p:sp>
      <p:grpSp>
        <p:nvGrpSpPr>
          <p:cNvPr id="489" name="Group"/>
          <p:cNvGrpSpPr/>
          <p:nvPr/>
        </p:nvGrpSpPr>
        <p:grpSpPr>
          <a:xfrm>
            <a:off x="2522338" y="1660922"/>
            <a:ext cx="7523432" cy="1294805"/>
            <a:chOff x="0" y="0"/>
            <a:chExt cx="10699991" cy="1841500"/>
          </a:xfrm>
        </p:grpSpPr>
        <p:sp>
          <p:nvSpPr>
            <p:cNvPr id="487" name="Oval"/>
            <p:cNvSpPr/>
            <p:nvPr/>
          </p:nvSpPr>
          <p:spPr>
            <a:xfrm>
              <a:off x="0" y="0"/>
              <a:ext cx="495300" cy="1841500"/>
            </a:xfrm>
            <a:prstGeom prst="ellips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88" name="10 log10(Sxx,f)"/>
            <p:cNvSpPr/>
            <p:nvPr/>
          </p:nvSpPr>
          <p:spPr>
            <a:xfrm>
              <a:off x="8039433" y="433960"/>
              <a:ext cx="2660558" cy="62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>
                  <a:solidFill>
                    <a:srgbClr val="FF4013"/>
                  </a:solidFill>
                </a:defRPr>
              </a:pPr>
              <a:r>
                <a:rPr sz="2400" dirty="0"/>
                <a:t>10 log</a:t>
              </a:r>
              <a:r>
                <a:rPr sz="2400" baseline="-5999" dirty="0"/>
                <a:t>10</a:t>
              </a:r>
              <a:r>
                <a:rPr sz="2400" dirty="0"/>
                <a:t>(</a:t>
              </a:r>
              <a:r>
                <a:rPr sz="2400" dirty="0" err="1"/>
                <a:t>S</a:t>
              </a:r>
              <a:r>
                <a:rPr sz="2400" baseline="-5999" dirty="0" err="1"/>
                <a:t>xx,f</a:t>
              </a:r>
              <a:r>
                <a:rPr sz="2400" dirty="0"/>
                <a:t>)</a:t>
              </a:r>
            </a:p>
          </p:txBody>
        </p:sp>
      </p:grpSp>
      <p:grpSp>
        <p:nvGrpSpPr>
          <p:cNvPr id="492" name="Group"/>
          <p:cNvGrpSpPr/>
          <p:nvPr/>
        </p:nvGrpSpPr>
        <p:grpSpPr>
          <a:xfrm>
            <a:off x="2600088" y="4442079"/>
            <a:ext cx="6331967" cy="1973461"/>
            <a:chOff x="0" y="0"/>
            <a:chExt cx="9005463" cy="2806700"/>
          </a:xfrm>
        </p:grpSpPr>
        <p:sp>
          <p:nvSpPr>
            <p:cNvPr id="490" name="Oval"/>
            <p:cNvSpPr/>
            <p:nvPr/>
          </p:nvSpPr>
          <p:spPr>
            <a:xfrm>
              <a:off x="0" y="0"/>
              <a:ext cx="495300" cy="2806700"/>
            </a:xfrm>
            <a:prstGeom prst="ellipse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0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2109"/>
            </a:p>
          </p:txBody>
        </p:sp>
        <p:sp>
          <p:nvSpPr>
            <p:cNvPr id="491" name="Sxx,f"/>
            <p:cNvSpPr/>
            <p:nvPr/>
          </p:nvSpPr>
          <p:spPr>
            <a:xfrm>
              <a:off x="8155087" y="644919"/>
              <a:ext cx="850376" cy="627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pPr>
                <a:defRPr>
                  <a:solidFill>
                    <a:srgbClr val="FF4013"/>
                  </a:solidFill>
                </a:defRPr>
              </a:pPr>
              <a:r>
                <a:rPr sz="2400" dirty="0" err="1"/>
                <a:t>S</a:t>
              </a:r>
              <a:r>
                <a:rPr sz="2400" baseline="-5999" dirty="0" err="1"/>
                <a:t>xx,f</a:t>
              </a:r>
              <a:endParaRPr sz="2400" baseline="-5999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4F7C97-1BFE-A3B6-FBFA-A0527E56B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18" y="13447"/>
            <a:ext cx="10515600" cy="1325563"/>
          </a:xfrm>
        </p:spPr>
        <p:txBody>
          <a:bodyPr/>
          <a:lstStyle/>
          <a:p>
            <a:r>
              <a:rPr lang="en-US" dirty="0"/>
              <a:t>Spectrum: </a:t>
            </a:r>
            <a:r>
              <a:rPr lang="en-US" u="sng" dirty="0"/>
              <a:t>scale</a:t>
            </a:r>
          </a:p>
        </p:txBody>
      </p:sp>
      <p:sp>
        <p:nvSpPr>
          <p:cNvPr id="473" name="Without the decibel scale . . ."/>
          <p:cNvSpPr/>
          <p:nvPr/>
        </p:nvSpPr>
        <p:spPr>
          <a:xfrm>
            <a:off x="560054" y="3798858"/>
            <a:ext cx="8242102" cy="4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r>
              <a:rPr sz="2200" dirty="0"/>
              <a:t>Without the decibel scale . . 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" grpId="0" animBg="1" advAuto="0"/>
      <p:bldP spid="479" grpId="0" animBg="1" advAuto="0"/>
      <p:bldP spid="481" grpId="0" animBg="1" advAuto="0"/>
      <p:bldP spid="484" grpId="0" animBg="1" advAuto="0"/>
      <p:bldP spid="485" grpId="0" animBg="1" advAuto="0"/>
      <p:bldP spid="486" grpId="0" animBg="1" advAuto="0"/>
      <p:bldP spid="489" grpId="0" animBg="1" advAuto="0"/>
      <p:bldP spid="492" grpId="0" animBg="1" advAuto="0"/>
      <p:bldP spid="473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Doing nothing, we make an implicit taper choice . . ."/>
          <p:cNvSpPr txBox="1">
            <a:spLocks noGrp="1"/>
          </p:cNvSpPr>
          <p:nvPr>
            <p:ph type="body" sz="quarter" idx="1"/>
          </p:nvPr>
        </p:nvSpPr>
        <p:spPr>
          <a:xfrm>
            <a:off x="1720453" y="1035729"/>
            <a:ext cx="9072563" cy="60721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dirty="0"/>
              <a:t>Doing nothing, we make an implicit taper choice . . . </a:t>
            </a:r>
          </a:p>
        </p:txBody>
      </p:sp>
      <p:sp>
        <p:nvSpPr>
          <p:cNvPr id="500" name="What we’re observing:"/>
          <p:cNvSpPr/>
          <p:nvPr/>
        </p:nvSpPr>
        <p:spPr>
          <a:xfrm>
            <a:off x="1665632" y="5860860"/>
            <a:ext cx="3829575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800"/>
              <a:t>What we’re observing:  </a:t>
            </a:r>
          </a:p>
        </p:txBody>
      </p:sp>
      <p:grpSp>
        <p:nvGrpSpPr>
          <p:cNvPr id="511" name="Group"/>
          <p:cNvGrpSpPr/>
          <p:nvPr/>
        </p:nvGrpSpPr>
        <p:grpSpPr>
          <a:xfrm>
            <a:off x="1113234" y="1465125"/>
            <a:ext cx="9969649" cy="3919479"/>
            <a:chOff x="0" y="-5417"/>
            <a:chExt cx="14179055" cy="5574369"/>
          </a:xfrm>
        </p:grpSpPr>
        <p:grpSp>
          <p:nvGrpSpPr>
            <p:cNvPr id="507" name="Group"/>
            <p:cNvGrpSpPr/>
            <p:nvPr/>
          </p:nvGrpSpPr>
          <p:grpSpPr>
            <a:xfrm>
              <a:off x="0" y="-5417"/>
              <a:ext cx="14179055" cy="5574369"/>
              <a:chOff x="0" y="-5417"/>
              <a:chExt cx="14179054" cy="5574368"/>
            </a:xfrm>
          </p:grpSpPr>
          <p:grpSp>
            <p:nvGrpSpPr>
              <p:cNvPr id="503" name="Group"/>
              <p:cNvGrpSpPr/>
              <p:nvPr/>
            </p:nvGrpSpPr>
            <p:grpSpPr>
              <a:xfrm>
                <a:off x="0" y="-5417"/>
                <a:ext cx="14179054" cy="5574368"/>
                <a:chOff x="0" y="-5417"/>
                <a:chExt cx="14179053" cy="5574367"/>
              </a:xfrm>
            </p:grpSpPr>
            <p:pic>
              <p:nvPicPr>
                <p:cNvPr id="501" name="droppedImage.pdf" descr="droppedImage.pdf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69850"/>
                  <a:ext cx="14179053" cy="549910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502" name=". . . Data goes on forever . . ."/>
                <p:cNvSpPr/>
                <p:nvPr/>
              </p:nvSpPr>
              <p:spPr>
                <a:xfrm>
                  <a:off x="4357221" y="-5417"/>
                  <a:ext cx="5448302" cy="5950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35719" tIns="35719" rIns="35719" bIns="35719" numCol="1" anchor="ctr">
                  <a:spAutoFit/>
                </a:bodyPr>
                <a:lstStyle/>
                <a:p>
                  <a:pPr>
                    <a:defRPr sz="3200">
                      <a:solidFill>
                        <a:srgbClr val="000000"/>
                      </a:solidFill>
                    </a:defRPr>
                  </a:pPr>
                  <a:r>
                    <a:rPr sz="2250" b="1"/>
                    <a:t>. . .</a:t>
                  </a:r>
                  <a:r>
                    <a:rPr sz="2250"/>
                    <a:t> Data goes on forever </a:t>
                  </a:r>
                  <a:r>
                    <a:rPr sz="2250" b="1"/>
                    <a:t>. . .</a:t>
                  </a:r>
                </a:p>
              </p:txBody>
            </p:sp>
          </p:grpSp>
          <p:sp>
            <p:nvSpPr>
              <p:cNvPr id="504" name="We get:"/>
              <p:cNvSpPr/>
              <p:nvPr/>
            </p:nvSpPr>
            <p:spPr>
              <a:xfrm>
                <a:off x="3646023" y="3728383"/>
                <a:ext cx="6870700" cy="595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spAutoFit/>
              </a:bodyPr>
              <a:lstStyle>
                <a:lvl1pPr>
                  <a:defRPr sz="32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2250"/>
                  <a:t>We get:</a:t>
                </a:r>
              </a:p>
            </p:txBody>
          </p:sp>
          <p:sp>
            <p:nvSpPr>
              <p:cNvPr id="505" name="0"/>
              <p:cNvSpPr/>
              <p:nvPr/>
            </p:nvSpPr>
            <p:spPr>
              <a:xfrm>
                <a:off x="3068172" y="4496482"/>
                <a:ext cx="218864" cy="37963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>
                    <a:solidFill>
                      <a:srgbClr val="0433FF"/>
                    </a:solidFill>
                  </a:defRPr>
                </a:lvl1pPr>
              </a:lstStyle>
              <a:p>
                <a:r>
                  <a:rPr sz="1266"/>
                  <a:t>0</a:t>
                </a:r>
              </a:p>
            </p:txBody>
          </p:sp>
          <p:sp>
            <p:nvSpPr>
              <p:cNvPr id="506" name="0"/>
              <p:cNvSpPr/>
              <p:nvPr/>
            </p:nvSpPr>
            <p:spPr>
              <a:xfrm>
                <a:off x="10611972" y="4496482"/>
                <a:ext cx="218864" cy="37963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>
                    <a:solidFill>
                      <a:srgbClr val="0433FF"/>
                    </a:solidFill>
                  </a:defRPr>
                </a:lvl1pPr>
              </a:lstStyle>
              <a:p>
                <a:r>
                  <a:rPr sz="1266"/>
                  <a:t>0</a:t>
                </a:r>
              </a:p>
            </p:txBody>
          </p:sp>
        </p:grpSp>
        <p:sp>
          <p:nvSpPr>
            <p:cNvPr id="508" name="But we observe it in a small window"/>
            <p:cNvSpPr/>
            <p:nvPr/>
          </p:nvSpPr>
          <p:spPr>
            <a:xfrm>
              <a:off x="3646021" y="1696382"/>
              <a:ext cx="6870701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spAutoFit/>
            </a:bodyPr>
            <a:lstStyle>
              <a:lvl1pPr>
                <a:defRPr sz="3200">
                  <a:solidFill>
                    <a:srgbClr val="000000"/>
                  </a:solidFill>
                </a:defRPr>
              </a:lvl1pPr>
            </a:lstStyle>
            <a:p>
              <a:r>
                <a:rPr sz="2250"/>
                <a:t>But we observe it in a small window</a:t>
              </a:r>
            </a:p>
          </p:txBody>
        </p:sp>
        <p:sp>
          <p:nvSpPr>
            <p:cNvPr id="509" name="0"/>
            <p:cNvSpPr/>
            <p:nvPr/>
          </p:nvSpPr>
          <p:spPr>
            <a:xfrm>
              <a:off x="3030073" y="3162982"/>
              <a:ext cx="218864" cy="379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rPr sz="1266"/>
                <a:t>0</a:t>
              </a:r>
            </a:p>
          </p:txBody>
        </p:sp>
        <p:sp>
          <p:nvSpPr>
            <p:cNvPr id="510" name="1"/>
            <p:cNvSpPr/>
            <p:nvPr/>
          </p:nvSpPr>
          <p:spPr>
            <a:xfrm>
              <a:off x="8376771" y="2185082"/>
              <a:ext cx="218864" cy="379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rPr sz="1266"/>
                <a:t>1</a:t>
              </a:r>
            </a:p>
          </p:txBody>
        </p:sp>
      </p:grpSp>
      <p:sp>
        <p:nvSpPr>
          <p:cNvPr id="512" name="Rectangle"/>
          <p:cNvSpPr/>
          <p:nvPr/>
        </p:nvSpPr>
        <p:spPr>
          <a:xfrm>
            <a:off x="1282899" y="2687836"/>
            <a:ext cx="9340453" cy="12858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513" name="Rectangle"/>
          <p:cNvSpPr/>
          <p:nvPr/>
        </p:nvSpPr>
        <p:spPr>
          <a:xfrm>
            <a:off x="1720453" y="3991570"/>
            <a:ext cx="9340453" cy="14361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0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109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8E131C-C883-BE45-72EE-7A0DDCF50759}"/>
              </a:ext>
            </a:extLst>
          </p:cNvPr>
          <p:cNvSpPr txBox="1">
            <a:spLocks/>
          </p:cNvSpPr>
          <p:nvPr/>
        </p:nvSpPr>
        <p:spPr>
          <a:xfrm>
            <a:off x="376518" y="134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Spectrum: </a:t>
            </a:r>
            <a:r>
              <a:rPr lang="en-US" u="sng" dirty="0"/>
              <a:t>tapers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A38127-C07A-DDDB-F57D-8FDC975A6AE9}"/>
              </a:ext>
            </a:extLst>
          </p:cNvPr>
          <p:cNvGrpSpPr/>
          <p:nvPr/>
        </p:nvGrpSpPr>
        <p:grpSpPr>
          <a:xfrm>
            <a:off x="5765601" y="5340609"/>
            <a:ext cx="4321969" cy="1347727"/>
            <a:chOff x="5765601" y="5340609"/>
            <a:chExt cx="4321969" cy="1347727"/>
          </a:xfrm>
        </p:grpSpPr>
        <p:grpSp>
          <p:nvGrpSpPr>
            <p:cNvPr id="518" name="Group"/>
            <p:cNvGrpSpPr/>
            <p:nvPr/>
          </p:nvGrpSpPr>
          <p:grpSpPr>
            <a:xfrm>
              <a:off x="5765601" y="5340609"/>
              <a:ext cx="4321969" cy="1347727"/>
              <a:chOff x="0" y="-18118"/>
              <a:chExt cx="6146800" cy="1916768"/>
            </a:xfrm>
          </p:grpSpPr>
          <p:sp>
            <p:nvSpPr>
              <p:cNvPr id="514" name="Rectangle"/>
              <p:cNvSpPr/>
              <p:nvPr/>
            </p:nvSpPr>
            <p:spPr>
              <a:xfrm>
                <a:off x="0" y="577850"/>
                <a:ext cx="6146800" cy="13208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sp>
            <p:nvSpPr>
              <p:cNvPr id="515" name="Signal"/>
              <p:cNvSpPr/>
              <p:nvPr/>
            </p:nvSpPr>
            <p:spPr>
              <a:xfrm>
                <a:off x="864722" y="-18118"/>
                <a:ext cx="1085198" cy="595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sz="2250"/>
                  <a:t>Signal</a:t>
                </a:r>
              </a:p>
            </p:txBody>
          </p:sp>
          <p:sp>
            <p:nvSpPr>
              <p:cNvPr id="516" name="Rectangle taper"/>
              <p:cNvSpPr/>
              <p:nvPr/>
            </p:nvSpPr>
            <p:spPr>
              <a:xfrm>
                <a:off x="3176916" y="-18118"/>
                <a:ext cx="2720838" cy="595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 sz="3200"/>
                </a:lvl1pPr>
              </a:lstStyle>
              <a:p>
                <a:r>
                  <a:rPr sz="2250"/>
                  <a:t>Rectangle taper</a:t>
                </a:r>
              </a:p>
            </p:txBody>
          </p:sp>
          <p:pic>
            <p:nvPicPr>
              <p:cNvPr id="517" name="rectangle_taper.pdf" descr="rectangle_taper.pdf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00" y="590550"/>
                <a:ext cx="5854700" cy="12954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D95913-BD59-C790-1B5D-3FF2D281EB52}"/>
                </a:ext>
              </a:extLst>
            </p:cNvPr>
            <p:cNvSpPr txBox="1"/>
            <p:nvPr/>
          </p:nvSpPr>
          <p:spPr>
            <a:xfrm>
              <a:off x="7533357" y="5978132"/>
              <a:ext cx="3000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" grpId="0" animBg="1" advAuto="0"/>
      <p:bldP spid="500" grpId="0" animBg="1" advAuto="0"/>
      <p:bldP spid="511" grpId="0" animBg="1" advAuto="0"/>
      <p:bldP spid="512" grpId="0" animBg="1" advAuto="0"/>
      <p:bldP spid="512" grpId="1" animBg="1" advAuto="0"/>
      <p:bldP spid="513" grpId="0" animBg="1" advAuto="0"/>
      <p:bldP spid="513" grpId="1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roup"/>
          <p:cNvGrpSpPr/>
          <p:nvPr/>
        </p:nvGrpSpPr>
        <p:grpSpPr>
          <a:xfrm>
            <a:off x="2836664" y="3942457"/>
            <a:ext cx="6777633" cy="2259211"/>
            <a:chOff x="0" y="0"/>
            <a:chExt cx="9639300" cy="3213100"/>
          </a:xfrm>
        </p:grpSpPr>
        <p:pic>
          <p:nvPicPr>
            <p:cNvPr id="520" name="2.8_power_20Hz_blank.pdf" descr="2.8_power_20Hz_blank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639300" cy="3213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23" name="Group"/>
            <p:cNvGrpSpPr/>
            <p:nvPr/>
          </p:nvGrpSpPr>
          <p:grpSpPr>
            <a:xfrm>
              <a:off x="5168900" y="65616"/>
              <a:ext cx="1979692" cy="2404572"/>
              <a:chOff x="0" y="0"/>
              <a:chExt cx="1979692" cy="2404570"/>
            </a:xfrm>
          </p:grpSpPr>
          <p:sp>
            <p:nvSpPr>
              <p:cNvPr id="521" name="Line"/>
              <p:cNvSpPr/>
              <p:nvPr/>
            </p:nvSpPr>
            <p:spPr>
              <a:xfrm flipH="1">
                <a:off x="0" y="0"/>
                <a:ext cx="4233" cy="2404570"/>
              </a:xfrm>
              <a:prstGeom prst="line">
                <a:avLst/>
              </a:prstGeom>
              <a:noFill/>
              <a:ln w="101600" cap="flat">
                <a:solidFill>
                  <a:srgbClr val="0433FF"/>
                </a:solidFill>
                <a:prstDash val="solid"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321457">
                  <a:defRPr sz="12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844"/>
              </a:p>
            </p:txBody>
          </p:sp>
          <p:sp>
            <p:nvSpPr>
              <p:cNvPr id="522" name="Spectrum we want"/>
              <p:cNvSpPr/>
              <p:nvPr/>
            </p:nvSpPr>
            <p:spPr>
              <a:xfrm>
                <a:off x="123730" y="1001865"/>
                <a:ext cx="1855962" cy="37963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35719" tIns="35719" rIns="35719" bIns="35719" numCol="1" anchor="ctr">
                <a:spAutoFit/>
              </a:bodyPr>
              <a:lstStyle>
                <a:lvl1pPr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sz="1266"/>
                  <a:t>Spectrum we want</a:t>
                </a:r>
              </a:p>
            </p:txBody>
          </p:sp>
        </p:grpSp>
      </p:grpSp>
      <p:sp>
        <p:nvSpPr>
          <p:cNvPr id="526" name="The rectangle taper impacts the power spectrum."/>
          <p:cNvSpPr txBox="1">
            <a:spLocks noGrp="1"/>
          </p:cNvSpPr>
          <p:nvPr>
            <p:ph type="body" sz="quarter" idx="1"/>
          </p:nvPr>
        </p:nvSpPr>
        <p:spPr>
          <a:xfrm>
            <a:off x="1693663" y="1270485"/>
            <a:ext cx="8527852" cy="50854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dirty="0"/>
              <a:t>The rectangle taper impacts the power spectrum.</a:t>
            </a:r>
          </a:p>
        </p:txBody>
      </p:sp>
      <p:grpSp>
        <p:nvGrpSpPr>
          <p:cNvPr id="530" name="Group"/>
          <p:cNvGrpSpPr/>
          <p:nvPr/>
        </p:nvGrpSpPr>
        <p:grpSpPr>
          <a:xfrm>
            <a:off x="1750452" y="2009179"/>
            <a:ext cx="8460795" cy="1643063"/>
            <a:chOff x="-168576" y="0"/>
            <a:chExt cx="12033128" cy="2336800"/>
          </a:xfrm>
        </p:grpSpPr>
        <p:sp>
          <p:nvSpPr>
            <p:cNvPr id="527" name="Pure…"/>
            <p:cNvSpPr/>
            <p:nvPr/>
          </p:nvSpPr>
          <p:spPr>
            <a:xfrm>
              <a:off x="-148058" y="135915"/>
              <a:ext cx="1712150" cy="11531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2400" dirty="0"/>
                <a:t>Pure</a:t>
              </a:r>
            </a:p>
            <a:p>
              <a:r>
                <a:rPr sz="2400" dirty="0"/>
                <a:t>sinusoid</a:t>
              </a:r>
            </a:p>
          </p:txBody>
        </p:sp>
        <p:pic>
          <p:nvPicPr>
            <p:cNvPr id="528" name="pure_sinusoid.pdf" descr="pure_sinusoid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1957" y="0"/>
              <a:ext cx="9332595" cy="2336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29" name="at 20 Hz"/>
            <p:cNvSpPr/>
            <p:nvPr/>
          </p:nvSpPr>
          <p:spPr>
            <a:xfrm>
              <a:off x="-168576" y="1228165"/>
              <a:ext cx="1732669" cy="62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2800"/>
              </a:lvl1pPr>
            </a:lstStyle>
            <a:p>
              <a:r>
                <a:rPr sz="2400" dirty="0"/>
                <a:t>at 20 Hz</a:t>
              </a:r>
            </a:p>
          </p:txBody>
        </p:sp>
      </p:grpSp>
      <p:grpSp>
        <p:nvGrpSpPr>
          <p:cNvPr id="533" name="Group"/>
          <p:cNvGrpSpPr/>
          <p:nvPr/>
        </p:nvGrpSpPr>
        <p:grpSpPr>
          <a:xfrm>
            <a:off x="2836664" y="3942457"/>
            <a:ext cx="6777633" cy="2259211"/>
            <a:chOff x="0" y="0"/>
            <a:chExt cx="9639300" cy="3213100"/>
          </a:xfrm>
        </p:grpSpPr>
        <p:pic>
          <p:nvPicPr>
            <p:cNvPr id="531" name="2.8_power_20Hz_rect.pdf" descr="2.8_power_20Hz_rect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9639300" cy="3213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32" name="Rect"/>
            <p:cNvSpPr/>
            <p:nvPr/>
          </p:nvSpPr>
          <p:spPr>
            <a:xfrm>
              <a:off x="1092200" y="359168"/>
              <a:ext cx="1003125" cy="627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0433FF"/>
                  </a:solidFill>
                </a:defRPr>
              </a:lvl1pPr>
            </a:lstStyle>
            <a:p>
              <a:r>
                <a:rPr sz="2400" dirty="0" err="1"/>
                <a:t>Rect</a:t>
              </a:r>
              <a:endParaRPr sz="2400" dirty="0"/>
            </a:p>
          </p:txBody>
        </p:sp>
      </p:grpSp>
      <p:grpSp>
        <p:nvGrpSpPr>
          <p:cNvPr id="537" name="Group"/>
          <p:cNvGrpSpPr/>
          <p:nvPr/>
        </p:nvGrpSpPr>
        <p:grpSpPr>
          <a:xfrm>
            <a:off x="3658195" y="2009011"/>
            <a:ext cx="6563320" cy="1643399"/>
            <a:chOff x="0" y="0"/>
            <a:chExt cx="9334500" cy="2337277"/>
          </a:xfrm>
        </p:grpSpPr>
        <p:pic>
          <p:nvPicPr>
            <p:cNvPr id="534" name="pure_sinusoid.pdf" descr="pure_sinusoid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9334500" cy="23372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35" name="Line"/>
            <p:cNvSpPr/>
            <p:nvPr/>
          </p:nvSpPr>
          <p:spPr>
            <a:xfrm>
              <a:off x="440266" y="207671"/>
              <a:ext cx="16935" cy="795868"/>
            </a:xfrm>
            <a:prstGeom prst="line">
              <a:avLst/>
            </a:prstGeom>
            <a:noFill/>
            <a:ln w="38100" cap="flat">
              <a:solidFill>
                <a:srgbClr val="FF4013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536" name="Line"/>
            <p:cNvSpPr/>
            <p:nvPr/>
          </p:nvSpPr>
          <p:spPr>
            <a:xfrm>
              <a:off x="9258300" y="203438"/>
              <a:ext cx="16934" cy="795868"/>
            </a:xfrm>
            <a:prstGeom prst="line">
              <a:avLst/>
            </a:prstGeom>
            <a:noFill/>
            <a:ln w="38100" cap="flat">
              <a:solidFill>
                <a:srgbClr val="FF4013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  <p:sp>
        <p:nvSpPr>
          <p:cNvPr id="538" name="Sharp peak is “smeared out” . . ."/>
          <p:cNvSpPr/>
          <p:nvPr/>
        </p:nvSpPr>
        <p:spPr>
          <a:xfrm>
            <a:off x="3979664" y="6185064"/>
            <a:ext cx="5307543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800" dirty="0"/>
              <a:t>Sharp peak is “smeared out” . . . </a:t>
            </a:r>
          </a:p>
        </p:txBody>
      </p:sp>
      <p:grpSp>
        <p:nvGrpSpPr>
          <p:cNvPr id="541" name="Group"/>
          <p:cNvGrpSpPr/>
          <p:nvPr/>
        </p:nvGrpSpPr>
        <p:grpSpPr>
          <a:xfrm>
            <a:off x="4878563" y="4193860"/>
            <a:ext cx="3134354" cy="461601"/>
            <a:chOff x="-182070" y="-17099"/>
            <a:chExt cx="4457752" cy="656500"/>
          </a:xfrm>
        </p:grpSpPr>
        <p:sp>
          <p:nvSpPr>
            <p:cNvPr id="539" name="sidelobes"/>
            <p:cNvSpPr/>
            <p:nvPr/>
          </p:nvSpPr>
          <p:spPr>
            <a:xfrm>
              <a:off x="2415344" y="-17099"/>
              <a:ext cx="1860338" cy="656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3600">
                  <a:solidFill>
                    <a:srgbClr val="000000"/>
                  </a:solidFill>
                </a:defRPr>
              </a:lvl1pPr>
            </a:lstStyle>
            <a:p>
              <a:r>
                <a:rPr sz="2531" dirty="0"/>
                <a:t>sidelobes</a:t>
              </a:r>
            </a:p>
          </p:txBody>
        </p:sp>
        <p:sp>
          <p:nvSpPr>
            <p:cNvPr id="540" name="sidelobes"/>
            <p:cNvSpPr/>
            <p:nvPr/>
          </p:nvSpPr>
          <p:spPr>
            <a:xfrm>
              <a:off x="-182070" y="-17099"/>
              <a:ext cx="1860340" cy="656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3600">
                  <a:solidFill>
                    <a:srgbClr val="000000"/>
                  </a:solidFill>
                </a:defRPr>
              </a:lvl1pPr>
            </a:lstStyle>
            <a:p>
              <a:r>
                <a:rPr sz="2531" dirty="0"/>
                <a:t>sidelobes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00E24FEE-BF7B-D92B-D122-224E8367904E}"/>
              </a:ext>
            </a:extLst>
          </p:cNvPr>
          <p:cNvSpPr txBox="1">
            <a:spLocks/>
          </p:cNvSpPr>
          <p:nvPr/>
        </p:nvSpPr>
        <p:spPr>
          <a:xfrm>
            <a:off x="376518" y="243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Spectrum: </a:t>
            </a:r>
            <a:r>
              <a:rPr lang="en-US" u="sng" dirty="0"/>
              <a:t>tapers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" grpId="0" animBg="1" advAuto="0"/>
      <p:bldP spid="526" grpId="0" animBg="1" advAuto="0"/>
      <p:bldP spid="530" grpId="0" animBg="1" advAuto="0"/>
      <p:bldP spid="533" grpId="0" animBg="1" advAuto="0"/>
      <p:bldP spid="537" grpId="0" animBg="1" advAuto="0"/>
      <p:bldP spid="538" grpId="0" animBg="1" advAuto="0"/>
      <p:bldP spid="541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roup"/>
          <p:cNvGrpSpPr/>
          <p:nvPr/>
        </p:nvGrpSpPr>
        <p:grpSpPr>
          <a:xfrm>
            <a:off x="2867918" y="4009430"/>
            <a:ext cx="6482953" cy="2160984"/>
            <a:chOff x="0" y="0"/>
            <a:chExt cx="9220199" cy="3073399"/>
          </a:xfrm>
        </p:grpSpPr>
        <p:pic>
          <p:nvPicPr>
            <p:cNvPr id="543" name="2.8_power_20Hz_rect.pdf" descr="2.8_power_20Hz_rect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220200" cy="3073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4" name="Rect"/>
            <p:cNvSpPr/>
            <p:nvPr/>
          </p:nvSpPr>
          <p:spPr>
            <a:xfrm>
              <a:off x="983745" y="437220"/>
              <a:ext cx="1117074" cy="7329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>
                  <a:solidFill>
                    <a:srgbClr val="0433FF"/>
                  </a:solidFill>
                </a:defRPr>
              </a:lvl1pPr>
            </a:lstStyle>
            <a:p>
              <a:r>
                <a:rPr sz="1266"/>
                <a:t>Rect</a:t>
              </a:r>
            </a:p>
          </p:txBody>
        </p:sp>
      </p:grpSp>
      <p:sp>
        <p:nvSpPr>
          <p:cNvPr id="547" name="Idea:  smooth the sharp edges of rectangle taper."/>
          <p:cNvSpPr txBox="1">
            <a:spLocks noGrp="1"/>
          </p:cNvSpPr>
          <p:nvPr>
            <p:ph type="body" sz="quarter" idx="1"/>
          </p:nvPr>
        </p:nvSpPr>
        <p:spPr>
          <a:xfrm>
            <a:off x="1770211" y="1146166"/>
            <a:ext cx="8313539" cy="6786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u="sng" dirty="0"/>
              <a:t>Idea</a:t>
            </a:r>
            <a:r>
              <a:rPr dirty="0"/>
              <a:t>:  smooth the sharp edges of rectangle taper.</a:t>
            </a:r>
          </a:p>
        </p:txBody>
      </p:sp>
      <p:sp>
        <p:nvSpPr>
          <p:cNvPr id="548" name="Taper reduces the “sidelobes”."/>
          <p:cNvSpPr/>
          <p:nvPr/>
        </p:nvSpPr>
        <p:spPr>
          <a:xfrm>
            <a:off x="1844727" y="6150419"/>
            <a:ext cx="4673011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800" dirty="0"/>
              <a:t>Taper reduces the sidelobes.</a:t>
            </a:r>
          </a:p>
        </p:txBody>
      </p:sp>
      <p:pic>
        <p:nvPicPr>
          <p:cNvPr id="549" name="pure_sinusoid.pdf" descr="pure_sinusoid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735" y="1700116"/>
            <a:ext cx="6563320" cy="16433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2" name="Group"/>
          <p:cNvGrpSpPr/>
          <p:nvPr/>
        </p:nvGrpSpPr>
        <p:grpSpPr>
          <a:xfrm>
            <a:off x="2827735" y="1700116"/>
            <a:ext cx="6563320" cy="1643399"/>
            <a:chOff x="0" y="0"/>
            <a:chExt cx="9334500" cy="2337277"/>
          </a:xfrm>
        </p:grpSpPr>
        <p:pic>
          <p:nvPicPr>
            <p:cNvPr id="550" name="hanning_taper.pdf" descr="hanning_taper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9334500" cy="23372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1" name="Hann Taper"/>
            <p:cNvSpPr/>
            <p:nvPr/>
          </p:nvSpPr>
          <p:spPr>
            <a:xfrm>
              <a:off x="3656545" y="870244"/>
              <a:ext cx="2173405" cy="584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rPr sz="2200" dirty="0"/>
                <a:t>Hann Taper</a:t>
              </a:r>
            </a:p>
          </p:txBody>
        </p:sp>
      </p:grpSp>
      <p:grpSp>
        <p:nvGrpSpPr>
          <p:cNvPr id="556" name="Group"/>
          <p:cNvGrpSpPr/>
          <p:nvPr/>
        </p:nvGrpSpPr>
        <p:grpSpPr>
          <a:xfrm>
            <a:off x="2881839" y="1735465"/>
            <a:ext cx="6561982" cy="1643063"/>
            <a:chOff x="0" y="0"/>
            <a:chExt cx="9332595" cy="2336800"/>
          </a:xfrm>
        </p:grpSpPr>
        <p:pic>
          <p:nvPicPr>
            <p:cNvPr id="553" name="pure_sinusoid_hanning.pdf" descr="pure_sinusoid_hanning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9332595" cy="2336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4" name="Data"/>
            <p:cNvSpPr/>
            <p:nvPr/>
          </p:nvSpPr>
          <p:spPr>
            <a:xfrm>
              <a:off x="7942851" y="1162105"/>
              <a:ext cx="950689" cy="584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0433FF"/>
                  </a:solidFill>
                </a:defRPr>
              </a:lvl1pPr>
            </a:lstStyle>
            <a:p>
              <a:r>
                <a:rPr sz="2200" dirty="0"/>
                <a:t>Data</a:t>
              </a:r>
            </a:p>
          </p:txBody>
        </p:sp>
        <p:sp>
          <p:nvSpPr>
            <p:cNvPr id="555" name="Taper"/>
            <p:cNvSpPr/>
            <p:nvPr/>
          </p:nvSpPr>
          <p:spPr>
            <a:xfrm>
              <a:off x="703548" y="146105"/>
              <a:ext cx="1109091" cy="584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>
                  <a:solidFill>
                    <a:srgbClr val="FF2600"/>
                  </a:solidFill>
                </a:defRPr>
              </a:lvl1pPr>
            </a:lstStyle>
            <a:p>
              <a:r>
                <a:rPr sz="2200" dirty="0"/>
                <a:t>Taper</a:t>
              </a:r>
            </a:p>
          </p:txBody>
        </p:sp>
      </p:grpSp>
      <p:sp>
        <p:nvSpPr>
          <p:cNvPr id="557" name="Compute power spectrum of tapered data."/>
          <p:cNvSpPr/>
          <p:nvPr/>
        </p:nvSpPr>
        <p:spPr>
          <a:xfrm>
            <a:off x="1844727" y="3260747"/>
            <a:ext cx="7108031" cy="678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marL="571500" indent="-571500" algn="l">
              <a:spcBef>
                <a:spcPts val="2400"/>
              </a:spcBef>
              <a:buSzPct val="171000"/>
              <a:buChar char="•"/>
            </a:lvl1pPr>
          </a:lstStyle>
          <a:p>
            <a:pPr marL="0" indent="0">
              <a:buNone/>
            </a:pPr>
            <a:r>
              <a:rPr sz="2800" dirty="0"/>
              <a:t>Compute spectrum of tapered data.</a:t>
            </a:r>
          </a:p>
        </p:txBody>
      </p:sp>
      <p:grpSp>
        <p:nvGrpSpPr>
          <p:cNvPr id="562" name="Group"/>
          <p:cNvGrpSpPr/>
          <p:nvPr/>
        </p:nvGrpSpPr>
        <p:grpSpPr>
          <a:xfrm>
            <a:off x="2872383" y="4009430"/>
            <a:ext cx="6482953" cy="2160984"/>
            <a:chOff x="0" y="0"/>
            <a:chExt cx="9220200" cy="3073400"/>
          </a:xfrm>
        </p:grpSpPr>
        <p:pic>
          <p:nvPicPr>
            <p:cNvPr id="558" name="2.8_power_20Hz_hann.pdf" descr="2.8_power_20Hz_hann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9220200" cy="3073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561" name="Group"/>
            <p:cNvGrpSpPr/>
            <p:nvPr/>
          </p:nvGrpSpPr>
          <p:grpSpPr>
            <a:xfrm>
              <a:off x="992761" y="426918"/>
              <a:ext cx="5917323" cy="722906"/>
              <a:chOff x="-17343" y="0"/>
              <a:chExt cx="5917321" cy="722905"/>
            </a:xfrm>
          </p:grpSpPr>
          <p:sp>
            <p:nvSpPr>
              <p:cNvPr id="559" name="Rect"/>
              <p:cNvSpPr/>
              <p:nvPr/>
            </p:nvSpPr>
            <p:spPr>
              <a:xfrm>
                <a:off x="-17343" y="0"/>
                <a:ext cx="1101708" cy="7229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>
                    <a:solidFill>
                      <a:srgbClr val="0433FF"/>
                    </a:solidFill>
                  </a:defRPr>
                </a:lvl1pPr>
              </a:lstStyle>
              <a:p>
                <a:r>
                  <a:rPr sz="2200" dirty="0" err="1"/>
                  <a:t>Rect</a:t>
                </a:r>
                <a:endParaRPr sz="2200" dirty="0"/>
              </a:p>
            </p:txBody>
          </p:sp>
          <p:sp>
            <p:nvSpPr>
              <p:cNvPr id="560" name="Hann"/>
              <p:cNvSpPr/>
              <p:nvPr/>
            </p:nvSpPr>
            <p:spPr>
              <a:xfrm>
                <a:off x="4637533" y="0"/>
                <a:ext cx="1262445" cy="7229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>
                    <a:solidFill>
                      <a:srgbClr val="FF2600"/>
                    </a:solidFill>
                  </a:defRPr>
                </a:lvl1pPr>
              </a:lstStyle>
              <a:p>
                <a:r>
                  <a:rPr sz="2200" dirty="0"/>
                  <a:t>Hann</a:t>
                </a:r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47F3C045-F62F-4308-D96E-8F991FAA7E67}"/>
              </a:ext>
            </a:extLst>
          </p:cNvPr>
          <p:cNvSpPr txBox="1">
            <a:spLocks/>
          </p:cNvSpPr>
          <p:nvPr/>
        </p:nvSpPr>
        <p:spPr>
          <a:xfrm>
            <a:off x="376518" y="134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Spectrum: </a:t>
            </a:r>
            <a:r>
              <a:rPr lang="en-US" u="sng" dirty="0"/>
              <a:t>tapers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" grpId="0" animBg="1" advAuto="0"/>
      <p:bldP spid="547" grpId="0" animBg="1" advAuto="0"/>
      <p:bldP spid="548" grpId="0" animBg="1" advAuto="0"/>
      <p:bldP spid="549" grpId="0" animBg="1" advAuto="0"/>
      <p:bldP spid="552" grpId="0" animBg="1" advAuto="0"/>
      <p:bldP spid="556" grpId="0" animBg="1" advAuto="0"/>
      <p:bldP spid="557" grpId="0" animBg="1" advAuto="0"/>
      <p:bldP spid="562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d:  Reduced sidelobes reveals a new peak."/>
          <p:cNvSpPr txBox="1">
            <a:spLocks noGrp="1"/>
          </p:cNvSpPr>
          <p:nvPr>
            <p:ph type="body" sz="quarter" idx="1"/>
          </p:nvPr>
        </p:nvSpPr>
        <p:spPr>
          <a:xfrm>
            <a:off x="2595563" y="5258649"/>
            <a:ext cx="8901672" cy="526852"/>
          </a:xfrm>
          <a:prstGeom prst="rect">
            <a:avLst/>
          </a:prstGeom>
        </p:spPr>
        <p:txBody>
          <a:bodyPr>
            <a:noAutofit/>
          </a:bodyPr>
          <a:lstStyle>
            <a:lvl1pPr marL="834571" indent="-517071">
              <a:lnSpc>
                <a:spcPct val="50000"/>
              </a:lnSpc>
              <a:defRPr sz="3800"/>
            </a:lvl1pPr>
          </a:lstStyle>
          <a:p>
            <a:pPr marL="317500" indent="0">
              <a:buNone/>
            </a:pPr>
            <a:r>
              <a:rPr sz="2600" dirty="0"/>
              <a:t>Good:  Reduced sidelobes reveals a new peak.</a:t>
            </a:r>
          </a:p>
        </p:txBody>
      </p:sp>
      <p:grpSp>
        <p:nvGrpSpPr>
          <p:cNvPr id="567" name="Group"/>
          <p:cNvGrpSpPr/>
          <p:nvPr/>
        </p:nvGrpSpPr>
        <p:grpSpPr>
          <a:xfrm>
            <a:off x="2461617" y="2435090"/>
            <a:ext cx="7929563" cy="2643188"/>
            <a:chOff x="0" y="0"/>
            <a:chExt cx="11277600" cy="3759200"/>
          </a:xfrm>
        </p:grpSpPr>
        <p:pic>
          <p:nvPicPr>
            <p:cNvPr id="565" name="2.9_power_1_to_100.pdf" descr="2.9_power_1_to_100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277600" cy="3759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6" name="Rect"/>
            <p:cNvSpPr/>
            <p:nvPr/>
          </p:nvSpPr>
          <p:spPr>
            <a:xfrm>
              <a:off x="1054100" y="120565"/>
              <a:ext cx="756174" cy="533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2800" b="1">
                  <a:solidFill>
                    <a:srgbClr val="0433FF"/>
                  </a:solidFill>
                </a:defRPr>
              </a:lvl1pPr>
            </a:lstStyle>
            <a:p>
              <a:r>
                <a:rPr sz="1969"/>
                <a:t>Rect</a:t>
              </a:r>
            </a:p>
          </p:txBody>
        </p:sp>
      </p:grpSp>
      <p:grpSp>
        <p:nvGrpSpPr>
          <p:cNvPr id="571" name="Group"/>
          <p:cNvGrpSpPr/>
          <p:nvPr/>
        </p:nvGrpSpPr>
        <p:grpSpPr>
          <a:xfrm>
            <a:off x="2461617" y="2435090"/>
            <a:ext cx="7929563" cy="2643188"/>
            <a:chOff x="0" y="0"/>
            <a:chExt cx="11277600" cy="3759200"/>
          </a:xfrm>
        </p:grpSpPr>
        <p:pic>
          <p:nvPicPr>
            <p:cNvPr id="568" name="2.9_power_1_to_100_hann.pdf" descr="2.9_power_1_to_100_hann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1277600" cy="3759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9" name="Rect"/>
            <p:cNvSpPr/>
            <p:nvPr/>
          </p:nvSpPr>
          <p:spPr>
            <a:xfrm>
              <a:off x="1104900" y="82605"/>
              <a:ext cx="973487" cy="584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2800" b="1">
                  <a:solidFill>
                    <a:srgbClr val="0433FF"/>
                  </a:solidFill>
                </a:defRPr>
              </a:lvl1pPr>
            </a:lstStyle>
            <a:p>
              <a:r>
                <a:rPr sz="2200" dirty="0" err="1"/>
                <a:t>Rect</a:t>
              </a:r>
              <a:endParaRPr sz="2200" dirty="0"/>
            </a:p>
          </p:txBody>
        </p:sp>
        <p:sp>
          <p:nvSpPr>
            <p:cNvPr id="570" name="Hann"/>
            <p:cNvSpPr/>
            <p:nvPr/>
          </p:nvSpPr>
          <p:spPr>
            <a:xfrm>
              <a:off x="1955800" y="933505"/>
              <a:ext cx="1107996" cy="5840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2800" b="1">
                  <a:solidFill>
                    <a:srgbClr val="FF2600"/>
                  </a:solidFill>
                </a:defRPr>
              </a:lvl1pPr>
            </a:lstStyle>
            <a:p>
              <a:r>
                <a:rPr sz="2200" dirty="0"/>
                <a:t>Hann</a:t>
              </a:r>
            </a:p>
          </p:txBody>
        </p:sp>
      </p:grpSp>
      <p:pic>
        <p:nvPicPr>
          <p:cNvPr id="572" name="2.9_trace.pdf" descr="2.9_trace.pdf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61617" y="1127927"/>
            <a:ext cx="7929563" cy="1026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2.9_trace_hann.pdf" descr="2.9_trace_hann.pd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461617" y="1154716"/>
            <a:ext cx="7929563" cy="102691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6" name="Group"/>
          <p:cNvGrpSpPr/>
          <p:nvPr/>
        </p:nvGrpSpPr>
        <p:grpSpPr>
          <a:xfrm>
            <a:off x="2741481" y="1203868"/>
            <a:ext cx="7331604" cy="410690"/>
            <a:chOff x="0" y="69906"/>
            <a:chExt cx="10427168" cy="584091"/>
          </a:xfrm>
        </p:grpSpPr>
        <p:sp>
          <p:nvSpPr>
            <p:cNvPr id="574" name="Lost"/>
            <p:cNvSpPr/>
            <p:nvPr/>
          </p:nvSpPr>
          <p:spPr>
            <a:xfrm>
              <a:off x="0" y="69906"/>
              <a:ext cx="952968" cy="5840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b="1">
                  <a:solidFill>
                    <a:srgbClr val="FF2600"/>
                  </a:solidFill>
                </a:defRPr>
              </a:lvl1pPr>
            </a:lstStyle>
            <a:p>
              <a:r>
                <a:rPr sz="2200" dirty="0"/>
                <a:t>Lost</a:t>
              </a:r>
            </a:p>
          </p:txBody>
        </p:sp>
        <p:sp>
          <p:nvSpPr>
            <p:cNvPr id="575" name="Lost"/>
            <p:cNvSpPr/>
            <p:nvPr/>
          </p:nvSpPr>
          <p:spPr>
            <a:xfrm>
              <a:off x="9474200" y="69906"/>
              <a:ext cx="952968" cy="5840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b="1">
                  <a:solidFill>
                    <a:srgbClr val="FF2600"/>
                  </a:solidFill>
                </a:defRPr>
              </a:lvl1pPr>
            </a:lstStyle>
            <a:p>
              <a:r>
                <a:rPr sz="2200" dirty="0"/>
                <a:t>Lost</a:t>
              </a:r>
            </a:p>
          </p:txBody>
        </p:sp>
      </p:grpSp>
      <p:sp>
        <p:nvSpPr>
          <p:cNvPr id="578" name="Ex:"/>
          <p:cNvSpPr/>
          <p:nvPr/>
        </p:nvSpPr>
        <p:spPr>
          <a:xfrm>
            <a:off x="2011643" y="1357663"/>
            <a:ext cx="589906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2800" dirty="0"/>
              <a:t>Ex:</a:t>
            </a:r>
          </a:p>
        </p:txBody>
      </p:sp>
      <p:sp>
        <p:nvSpPr>
          <p:cNvPr id="579" name="Bad:  Broader peaks &amp; lose data at edges."/>
          <p:cNvSpPr/>
          <p:nvPr/>
        </p:nvSpPr>
        <p:spPr>
          <a:xfrm>
            <a:off x="2993298" y="5706893"/>
            <a:ext cx="6576801" cy="29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marL="223234" lvl="1">
              <a:lnSpc>
                <a:spcPct val="50000"/>
              </a:lnSpc>
              <a:spcBef>
                <a:spcPts val="1687"/>
              </a:spcBef>
              <a:buSzPct val="171000"/>
              <a:defRPr sz="3800"/>
            </a:pPr>
            <a:r>
              <a:rPr sz="2600" dirty="0"/>
              <a:t>Bad:  Broader peaks &amp; lose data at edges.</a:t>
            </a:r>
          </a:p>
        </p:txBody>
      </p:sp>
      <p:grpSp>
        <p:nvGrpSpPr>
          <p:cNvPr id="582" name="Group"/>
          <p:cNvGrpSpPr/>
          <p:nvPr/>
        </p:nvGrpSpPr>
        <p:grpSpPr>
          <a:xfrm>
            <a:off x="4128492" y="2967778"/>
            <a:ext cx="2229969" cy="827603"/>
            <a:chOff x="0" y="-17099"/>
            <a:chExt cx="3171509" cy="1177033"/>
          </a:xfrm>
        </p:grpSpPr>
        <p:sp>
          <p:nvSpPr>
            <p:cNvPr id="580" name="Line"/>
            <p:cNvSpPr/>
            <p:nvPr/>
          </p:nvSpPr>
          <p:spPr>
            <a:xfrm flipV="1">
              <a:off x="0" y="452967"/>
              <a:ext cx="1706034" cy="706967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581" name="~12 Hz"/>
            <p:cNvSpPr/>
            <p:nvPr/>
          </p:nvSpPr>
          <p:spPr>
            <a:xfrm>
              <a:off x="1794493" y="-17099"/>
              <a:ext cx="1377016" cy="656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>
              <a:lvl1pPr>
                <a:defRPr sz="3600">
                  <a:solidFill>
                    <a:srgbClr val="000000"/>
                  </a:solidFill>
                </a:defRPr>
              </a:lvl1pPr>
            </a:lstStyle>
            <a:p>
              <a:r>
                <a:rPr sz="2531"/>
                <a:t>~12 Hz</a:t>
              </a:r>
            </a:p>
          </p:txBody>
        </p:sp>
      </p:grpSp>
      <p:sp>
        <p:nvSpPr>
          <p:cNvPr id="583" name="“More lives have been lost looking at the [rectangular tapered spectrum] than by any other action involving time series.” [Tukey 1980]"/>
          <p:cNvSpPr/>
          <p:nvPr/>
        </p:nvSpPr>
        <p:spPr>
          <a:xfrm>
            <a:off x="539484" y="6074257"/>
            <a:ext cx="11484428" cy="749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200"/>
            </a:lvl1pPr>
          </a:lstStyle>
          <a:p>
            <a:r>
              <a:rPr sz="2200" dirty="0"/>
              <a:t>“</a:t>
            </a:r>
            <a:r>
              <a:rPr sz="2200" i="1" dirty="0"/>
              <a:t>More lives have been lost looking at the [rectangular tapered spectrum] than by any other action involving time series.</a:t>
            </a:r>
            <a:r>
              <a:rPr sz="2200" dirty="0"/>
              <a:t>” [Tukey 1980]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182FB-E2D6-1C59-C854-FF36A0C02F18}"/>
              </a:ext>
            </a:extLst>
          </p:cNvPr>
          <p:cNvSpPr txBox="1">
            <a:spLocks/>
          </p:cNvSpPr>
          <p:nvPr/>
        </p:nvSpPr>
        <p:spPr>
          <a:xfrm>
            <a:off x="376518" y="134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Spectrum: </a:t>
            </a:r>
            <a:r>
              <a:rPr lang="en-US" u="sng" dirty="0"/>
              <a:t>tapers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0" build="p" bldLvl="5" animBg="1" advAuto="0"/>
      <p:bldP spid="567" grpId="0" animBg="1" advAuto="0"/>
      <p:bldP spid="571" grpId="0" animBg="1" advAuto="0"/>
      <p:bldP spid="572" grpId="0" animBg="1" advAuto="0"/>
      <p:bldP spid="573" grpId="0" animBg="1" advAuto="0"/>
      <p:bldP spid="576" grpId="0" animBg="1" advAuto="0"/>
      <p:bldP spid="579" grpId="0" animBg="1" advAuto="0"/>
      <p:bldP spid="582" grpId="0" animBg="1" advAuto="0"/>
      <p:bldP spid="583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1DC8-8333-F0A8-DB1E-0E7D4E3C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Spectrum: </a:t>
            </a:r>
            <a:r>
              <a:rPr lang="en-US" u="sng" dirty="0"/>
              <a:t>spectrogram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08202-907E-FCEF-EB1D-2C87834B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968" y="1325563"/>
            <a:ext cx="10842938" cy="100099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Idea</a:t>
            </a:r>
            <a:r>
              <a:rPr lang="en-US" dirty="0"/>
              <a:t>: Divide data into smaller intervals, then compute the spectrum in each interval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E1A89-A66A-504D-D86C-DC86C6CAF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65" y="2326560"/>
            <a:ext cx="10279480" cy="39544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576911-09D3-55A2-3744-F85B9C3B26D4}"/>
              </a:ext>
            </a:extLst>
          </p:cNvPr>
          <p:cNvSpPr/>
          <p:nvPr/>
        </p:nvSpPr>
        <p:spPr>
          <a:xfrm>
            <a:off x="1007365" y="3131127"/>
            <a:ext cx="2096053" cy="3241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59B232-27B2-0ADB-3CD9-416008CCF391}"/>
              </a:ext>
            </a:extLst>
          </p:cNvPr>
          <p:cNvSpPr/>
          <p:nvPr/>
        </p:nvSpPr>
        <p:spPr>
          <a:xfrm>
            <a:off x="3103418" y="3131127"/>
            <a:ext cx="2646218" cy="3089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B81A53-47BE-3E13-4D3E-E7A3105270C8}"/>
              </a:ext>
            </a:extLst>
          </p:cNvPr>
          <p:cNvSpPr/>
          <p:nvPr/>
        </p:nvSpPr>
        <p:spPr>
          <a:xfrm>
            <a:off x="6322033" y="3144982"/>
            <a:ext cx="2646218" cy="3089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134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713B-4CF2-DEE7-3241-CD78DD42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229F-B778-7DF1-D79F-FE23F9A4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153"/>
            <a:ext cx="10515600" cy="1325563"/>
          </a:xfrm>
        </p:spPr>
        <p:txBody>
          <a:bodyPr/>
          <a:lstStyle/>
          <a:p>
            <a:r>
              <a:rPr lang="en-US" dirty="0"/>
              <a:t>Spectrum: </a:t>
            </a:r>
            <a:r>
              <a:rPr lang="en-US" u="sng" dirty="0"/>
              <a:t>spectrogram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BD7D8-FB65-1F30-8D71-3E9ED5B5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97" y="1495660"/>
            <a:ext cx="2337337" cy="10009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Display 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871E7-8AA6-01C4-26AC-32B7C82D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420" y="1761522"/>
            <a:ext cx="7213600" cy="4851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6F24D1-082C-C266-94ED-3B023AA9C837}"/>
              </a:ext>
            </a:extLst>
          </p:cNvPr>
          <p:cNvSpPr txBox="1"/>
          <p:nvPr/>
        </p:nvSpPr>
        <p:spPr>
          <a:xfrm>
            <a:off x="9325020" y="2741513"/>
            <a:ext cx="26408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Usually, color</a:t>
            </a:r>
          </a:p>
          <a:p>
            <a:r>
              <a:rPr lang="en-US" sz="2800" dirty="0"/>
              <a:t>indicates power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0CB6A-98F8-37DC-FB1B-0CBD712FB46D}"/>
              </a:ext>
            </a:extLst>
          </p:cNvPr>
          <p:cNvSpPr/>
          <p:nvPr/>
        </p:nvSpPr>
        <p:spPr>
          <a:xfrm>
            <a:off x="3325006" y="1589989"/>
            <a:ext cx="1123751" cy="4851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ECB5F-1D9B-9B52-7D6B-0BE93E3102F2}"/>
              </a:ext>
            </a:extLst>
          </p:cNvPr>
          <p:cNvSpPr/>
          <p:nvPr/>
        </p:nvSpPr>
        <p:spPr>
          <a:xfrm>
            <a:off x="4461353" y="1434445"/>
            <a:ext cx="1123751" cy="4851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D83C9-D893-7881-F759-925A7FBFF580}"/>
              </a:ext>
            </a:extLst>
          </p:cNvPr>
          <p:cNvSpPr/>
          <p:nvPr/>
        </p:nvSpPr>
        <p:spPr>
          <a:xfrm>
            <a:off x="8096531" y="1518095"/>
            <a:ext cx="1123751" cy="4851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71BB4-1972-F6C6-8686-2C3DE83ABE3F}"/>
              </a:ext>
            </a:extLst>
          </p:cNvPr>
          <p:cNvSpPr txBox="1"/>
          <p:nvPr/>
        </p:nvSpPr>
        <p:spPr>
          <a:xfrm>
            <a:off x="4963478" y="1111358"/>
            <a:ext cx="226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spectrogram</a:t>
            </a:r>
          </a:p>
        </p:txBody>
      </p:sp>
    </p:spTree>
    <p:extLst>
      <p:ext uri="{BB962C8B-B14F-4D97-AF65-F5344CB8AC3E}">
        <p14:creationId xmlns:p14="http://schemas.microsoft.com/office/powerpoint/2010/main" val="186637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  <p:bldP spid="5" grpId="0" animBg="1"/>
      <p:bldP spid="9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2FF359-5B99-909D-243E-0CCC1025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130651"/>
            <a:ext cx="8728364" cy="55728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C241615-8A1B-5046-50EF-D2F8CFAB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153"/>
            <a:ext cx="10515600" cy="1325563"/>
          </a:xfrm>
        </p:spPr>
        <p:txBody>
          <a:bodyPr/>
          <a:lstStyle/>
          <a:p>
            <a:r>
              <a:rPr lang="en-US" dirty="0"/>
              <a:t>Spectrum: </a:t>
            </a:r>
            <a:r>
              <a:rPr lang="en-US" u="sng" dirty="0"/>
              <a:t>spectrogram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FDE05-5CD8-3EBA-8FA6-7C01DC053426}"/>
              </a:ext>
            </a:extLst>
          </p:cNvPr>
          <p:cNvSpPr txBox="1"/>
          <p:nvPr/>
        </p:nvSpPr>
        <p:spPr>
          <a:xfrm>
            <a:off x="6740082" y="6334185"/>
            <a:ext cx="4340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[Shi et al, Epilepsy &amp; </a:t>
            </a:r>
            <a:r>
              <a:rPr lang="en-US" dirty="0" err="1"/>
              <a:t>Behav</a:t>
            </a:r>
            <a:r>
              <a:rPr lang="en-US" dirty="0"/>
              <a:t> Reports, 2022]</a:t>
            </a:r>
          </a:p>
        </p:txBody>
      </p:sp>
    </p:spTree>
    <p:extLst>
      <p:ext uri="{BB962C8B-B14F-4D97-AF65-F5344CB8AC3E}">
        <p14:creationId xmlns:p14="http://schemas.microsoft.com/office/powerpoint/2010/main" val="222004411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F9C5D0-730A-5A98-3FAB-FCFE1D2391E6}"/>
              </a:ext>
            </a:extLst>
          </p:cNvPr>
          <p:cNvSpPr txBox="1">
            <a:spLocks/>
          </p:cNvSpPr>
          <p:nvPr/>
        </p:nvSpPr>
        <p:spPr>
          <a:xfrm>
            <a:off x="0" y="431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Spectrum: spectrogram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4CA24D-FB73-3759-E945-92529367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98" y="1124017"/>
            <a:ext cx="7772400" cy="952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2BA59A-5B79-BDE4-B69E-79532752B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698" y="2077002"/>
            <a:ext cx="6756400" cy="838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A2194-15EE-164D-C888-CFD7827E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398" y="2825750"/>
            <a:ext cx="6616700" cy="1206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DFFD33-ABC3-3706-D43E-6649D82F0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98" y="4176156"/>
            <a:ext cx="7162800" cy="101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FAA0F-4718-8AA2-FB54-FF247CD1B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487" y="5336062"/>
            <a:ext cx="7772400" cy="91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060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FB6859-EAC8-53C2-159A-F5F5828B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47" y="1446647"/>
            <a:ext cx="4204626" cy="18623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D13A687-0EA6-0C71-40CA-0B5D19A17A02}"/>
              </a:ext>
            </a:extLst>
          </p:cNvPr>
          <p:cNvSpPr txBox="1">
            <a:spLocks/>
          </p:cNvSpPr>
          <p:nvPr/>
        </p:nvSpPr>
        <p:spPr>
          <a:xfrm>
            <a:off x="376518" y="134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Spectrum: </a:t>
            </a:r>
            <a:r>
              <a:rPr lang="en-US" u="sng" dirty="0"/>
              <a:t>summary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BCC29E-3C20-C409-9CB2-FAB1FE96B982}"/>
              </a:ext>
            </a:extLst>
          </p:cNvPr>
          <p:cNvGrpSpPr/>
          <p:nvPr/>
        </p:nvGrpSpPr>
        <p:grpSpPr>
          <a:xfrm>
            <a:off x="5378801" y="1334453"/>
            <a:ext cx="6813199" cy="2186381"/>
            <a:chOff x="5458049" y="1068915"/>
            <a:chExt cx="6813199" cy="218638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69F2DE0-898B-D847-B317-BED52E9A2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049" y="1068915"/>
              <a:ext cx="6671266" cy="218638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89476D-9F02-C7E6-6B1D-02B926599807}"/>
                </a:ext>
              </a:extLst>
            </p:cNvPr>
            <p:cNvSpPr txBox="1"/>
            <p:nvPr/>
          </p:nvSpPr>
          <p:spPr>
            <a:xfrm>
              <a:off x="7542379" y="1235871"/>
              <a:ext cx="47288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Data as a function of time index 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5F59397-EC4C-6890-CF8F-F63FAF5C8114}"/>
                </a:ext>
              </a:extLst>
            </p:cNvPr>
            <p:cNvSpPr/>
            <p:nvPr/>
          </p:nvSpPr>
          <p:spPr>
            <a:xfrm>
              <a:off x="7665573" y="1748895"/>
              <a:ext cx="612795" cy="842725"/>
            </a:xfrm>
            <a:prstGeom prst="rect">
              <a:avLst/>
            </a:prstGeom>
            <a:noFill/>
            <a:ln w="101600">
              <a:solidFill>
                <a:srgbClr val="FF0000">
                  <a:alpha val="2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2771ED-BDD6-FDAB-A946-9FA9A03ECB8B}"/>
                </a:ext>
              </a:extLst>
            </p:cNvPr>
            <p:cNvSpPr/>
            <p:nvPr/>
          </p:nvSpPr>
          <p:spPr>
            <a:xfrm>
              <a:off x="8278367" y="1755818"/>
              <a:ext cx="3337561" cy="842725"/>
            </a:xfrm>
            <a:prstGeom prst="rect">
              <a:avLst/>
            </a:prstGeom>
            <a:noFill/>
            <a:ln w="101600">
              <a:solidFill>
                <a:schemeClr val="accent1">
                  <a:alpha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E65CD1C-2AAA-773F-F1F9-143AA82A5B9B}"/>
                    </a:ext>
                  </a:extLst>
                </p:cNvPr>
                <p:cNvSpPr txBox="1"/>
                <p:nvPr/>
              </p:nvSpPr>
              <p:spPr>
                <a:xfrm>
                  <a:off x="8305219" y="2697386"/>
                  <a:ext cx="3826753" cy="4914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accent1"/>
                      </a:solidFill>
                    </a:rPr>
                    <a:t>Sinusoids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sz="2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E65CD1C-2AAA-773F-F1F9-143AA82A5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219" y="2697386"/>
                  <a:ext cx="3826753" cy="491417"/>
                </a:xfrm>
                <a:prstGeom prst="rect">
                  <a:avLst/>
                </a:prstGeom>
                <a:blipFill>
                  <a:blip r:embed="rId5"/>
                  <a:stretch>
                    <a:fillRect l="-2318" t="-10000" b="-1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">
            <a:extLst>
              <a:ext uri="{FF2B5EF4-FFF2-40B4-BE49-F238E27FC236}">
                <a16:creationId xmlns:a16="http://schemas.microsoft.com/office/drawing/2014/main" id="{F8574FB9-141C-5016-4AEB-F04D889F4BA0}"/>
              </a:ext>
            </a:extLst>
          </p:cNvPr>
          <p:cNvGrpSpPr/>
          <p:nvPr/>
        </p:nvGrpSpPr>
        <p:grpSpPr>
          <a:xfrm>
            <a:off x="845526" y="3741090"/>
            <a:ext cx="4134447" cy="1547293"/>
            <a:chOff x="0" y="0"/>
            <a:chExt cx="5880102" cy="2200592"/>
          </a:xfrm>
        </p:grpSpPr>
        <p:grpSp>
          <p:nvGrpSpPr>
            <p:cNvPr id="3" name="Group">
              <a:extLst>
                <a:ext uri="{FF2B5EF4-FFF2-40B4-BE49-F238E27FC236}">
                  <a16:creationId xmlns:a16="http://schemas.microsoft.com/office/drawing/2014/main" id="{4D1DA963-60E8-E1B1-D893-7C513E8D55A3}"/>
                </a:ext>
              </a:extLst>
            </p:cNvPr>
            <p:cNvGrpSpPr/>
            <p:nvPr/>
          </p:nvGrpSpPr>
          <p:grpSpPr>
            <a:xfrm>
              <a:off x="2964317" y="0"/>
              <a:ext cx="2915786" cy="2200593"/>
              <a:chOff x="0" y="0"/>
              <a:chExt cx="2915784" cy="2200592"/>
            </a:xfrm>
          </p:grpSpPr>
          <p:sp>
            <p:nvSpPr>
              <p:cNvPr id="6" name="Rectangle">
                <a:extLst>
                  <a:ext uri="{FF2B5EF4-FFF2-40B4-BE49-F238E27FC236}">
                    <a16:creationId xmlns:a16="http://schemas.microsoft.com/office/drawing/2014/main" id="{5C6BC233-AE10-A2EE-BE75-6037EF77B397}"/>
                  </a:ext>
                </a:extLst>
              </p:cNvPr>
              <p:cNvSpPr/>
              <p:nvPr/>
            </p:nvSpPr>
            <p:spPr>
              <a:xfrm>
                <a:off x="76542" y="153084"/>
                <a:ext cx="2755524" cy="191355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7" name="droppedImage.pdf" descr="droppedImage.pdf">
                <a:extLst>
                  <a:ext uri="{FF2B5EF4-FFF2-40B4-BE49-F238E27FC236}">
                    <a16:creationId xmlns:a16="http://schemas.microsoft.com/office/drawing/2014/main" id="{3C26E254-4563-914C-F17A-4F3A97C9B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2915785" cy="220059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" name="Frequency resolution">
              <a:extLst>
                <a:ext uri="{FF2B5EF4-FFF2-40B4-BE49-F238E27FC236}">
                  <a16:creationId xmlns:a16="http://schemas.microsoft.com/office/drawing/2014/main" id="{0026F22C-9927-420F-A99B-5A68D177BBD0}"/>
                </a:ext>
              </a:extLst>
            </p:cNvPr>
            <p:cNvSpPr/>
            <p:nvPr/>
          </p:nvSpPr>
          <p:spPr>
            <a:xfrm>
              <a:off x="0" y="487956"/>
              <a:ext cx="2774656" cy="122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600" b="1"/>
              </a:lvl1pPr>
            </a:lstStyle>
            <a:p>
              <a:r>
                <a:rPr sz="2531" dirty="0"/>
                <a:t>Frequency resolution</a:t>
              </a:r>
            </a:p>
          </p:txBody>
        </p:sp>
      </p:grpSp>
      <p:grpSp>
        <p:nvGrpSpPr>
          <p:cNvPr id="8" name="Group">
            <a:extLst>
              <a:ext uri="{FF2B5EF4-FFF2-40B4-BE49-F238E27FC236}">
                <a16:creationId xmlns:a16="http://schemas.microsoft.com/office/drawing/2014/main" id="{16602B98-81E8-97D2-8D5C-F64B27086D9D}"/>
              </a:ext>
            </a:extLst>
          </p:cNvPr>
          <p:cNvGrpSpPr/>
          <p:nvPr/>
        </p:nvGrpSpPr>
        <p:grpSpPr>
          <a:xfrm>
            <a:off x="6287656" y="3947183"/>
            <a:ext cx="4249292" cy="1341198"/>
            <a:chOff x="0" y="0"/>
            <a:chExt cx="6043437" cy="1907481"/>
          </a:xfrm>
        </p:grpSpPr>
        <p:grpSp>
          <p:nvGrpSpPr>
            <p:cNvPr id="9" name="Group">
              <a:extLst>
                <a:ext uri="{FF2B5EF4-FFF2-40B4-BE49-F238E27FC236}">
                  <a16:creationId xmlns:a16="http://schemas.microsoft.com/office/drawing/2014/main" id="{DC9E39F5-917B-E34C-0502-69D220F99E59}"/>
                </a:ext>
              </a:extLst>
            </p:cNvPr>
            <p:cNvGrpSpPr/>
            <p:nvPr/>
          </p:nvGrpSpPr>
          <p:grpSpPr>
            <a:xfrm>
              <a:off x="2830836" y="0"/>
              <a:ext cx="3212602" cy="1907482"/>
              <a:chOff x="0" y="0"/>
              <a:chExt cx="3212600" cy="1907481"/>
            </a:xfrm>
          </p:grpSpPr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A282EB00-5F1A-6CA9-1A9E-EF5EB994D0CC}"/>
                  </a:ext>
                </a:extLst>
              </p:cNvPr>
              <p:cNvSpPr/>
              <p:nvPr/>
            </p:nvSpPr>
            <p:spPr>
              <a:xfrm>
                <a:off x="179335" y="138577"/>
                <a:ext cx="2804162" cy="163032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18" name="droppedImage.pdf" descr="droppedImage.pdf">
                <a:extLst>
                  <a:ext uri="{FF2B5EF4-FFF2-40B4-BE49-F238E27FC236}">
                    <a16:creationId xmlns:a16="http://schemas.microsoft.com/office/drawing/2014/main" id="{C1451199-3758-4B08-E558-79BB911B9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3212601" cy="190748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6" name="Nyquist…">
              <a:extLst>
                <a:ext uri="{FF2B5EF4-FFF2-40B4-BE49-F238E27FC236}">
                  <a16:creationId xmlns:a16="http://schemas.microsoft.com/office/drawing/2014/main" id="{642DF7C1-1219-2656-C8CF-A554B299D081}"/>
                </a:ext>
              </a:extLst>
            </p:cNvPr>
            <p:cNvSpPr/>
            <p:nvPr/>
          </p:nvSpPr>
          <p:spPr>
            <a:xfrm>
              <a:off x="0" y="329638"/>
              <a:ext cx="2781300" cy="1231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600" b="1"/>
              </a:pPr>
              <a:r>
                <a:rPr sz="2531" dirty="0"/>
                <a:t>Nyquist</a:t>
              </a:r>
            </a:p>
            <a:p>
              <a:pPr>
                <a:defRPr sz="3600" b="1"/>
              </a:pPr>
              <a:r>
                <a:rPr sz="2531" dirty="0"/>
                <a:t>frequency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A5563C8-19A7-EA9E-C571-C7FFD0EC9059}"/>
              </a:ext>
            </a:extLst>
          </p:cNvPr>
          <p:cNvSpPr txBox="1"/>
          <p:nvPr/>
        </p:nvSpPr>
        <p:spPr>
          <a:xfrm>
            <a:off x="3546764" y="2493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89219A-3591-6DF4-6DDC-10E3B456E7D1}"/>
              </a:ext>
            </a:extLst>
          </p:cNvPr>
          <p:cNvSpPr txBox="1"/>
          <p:nvPr/>
        </p:nvSpPr>
        <p:spPr>
          <a:xfrm>
            <a:off x="775347" y="5731251"/>
            <a:ext cx="6209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Units, decibel scale, tapers, spectrograms, ...</a:t>
            </a:r>
          </a:p>
        </p:txBody>
      </p:sp>
    </p:spTree>
    <p:extLst>
      <p:ext uri="{BB962C8B-B14F-4D97-AF65-F5344CB8AC3E}">
        <p14:creationId xmlns:p14="http://schemas.microsoft.com/office/powerpoint/2010/main" val="524975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  <p:bldP spid="8" grpId="0" animBg="1" advAuto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66E6-AAD5-3FD2-06FD-378DE8D4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2" y="206099"/>
            <a:ext cx="10515600" cy="1325563"/>
          </a:xfrm>
        </p:spPr>
        <p:txBody>
          <a:bodyPr/>
          <a:lstStyle/>
          <a:p>
            <a:r>
              <a:rPr lang="en-US" dirty="0"/>
              <a:t>Spectrum </a:t>
            </a:r>
            <a:r>
              <a:rPr lang="en-US" dirty="0" err="1"/>
              <a:t>practicals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13B42-2654-D80D-EDDC-AE905F70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2" y="2106320"/>
            <a:ext cx="11689976" cy="264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01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1320</Words>
  <Application>Microsoft Macintosh PowerPoint</Application>
  <PresentationFormat>Widescreen</PresentationFormat>
  <Paragraphs>296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Wingdings</vt:lpstr>
      <vt:lpstr>Office Theme</vt:lpstr>
      <vt:lpstr>Rhythms</vt:lpstr>
      <vt:lpstr>Today</vt:lpstr>
      <vt:lpstr>Data is not continuous</vt:lpstr>
      <vt:lpstr>Data is not continuous</vt:lpstr>
      <vt:lpstr>Discrete time Fourier transform</vt:lpstr>
      <vt:lpstr>Discrete time Fourier transform</vt:lpstr>
      <vt:lpstr>Discrete time Fourier transform</vt:lpstr>
      <vt:lpstr>Discrete time Fourier transform</vt:lpstr>
      <vt:lpstr>Spectrum: idea</vt:lpstr>
      <vt:lpstr>Discrete time Fourier transform</vt:lpstr>
      <vt:lpstr>Spectrum: definition</vt:lpstr>
      <vt:lpstr>Spectrum</vt:lpstr>
      <vt:lpstr>Frequencies</vt:lpstr>
      <vt:lpstr>Frequencies</vt:lpstr>
      <vt:lpstr>Frequencies</vt:lpstr>
      <vt:lpstr>Frequencies</vt:lpstr>
      <vt:lpstr>Frequencies</vt:lpstr>
      <vt:lpstr>Spectrum: df</vt:lpstr>
      <vt:lpstr>Spectrum: df</vt:lpstr>
      <vt:lpstr>Spectrum: F_NQ</vt:lpstr>
      <vt:lpstr>Spectrum: 〖df,  F〗_NQ</vt:lpstr>
      <vt:lpstr>Example</vt:lpstr>
      <vt:lpstr>Quiz</vt:lpstr>
      <vt:lpstr>Spectrum: four (important) asides</vt:lpstr>
      <vt:lpstr>Spectrum: units</vt:lpstr>
      <vt:lpstr>Spectrum: scale</vt:lpstr>
      <vt:lpstr>PowerPoint Presentation</vt:lpstr>
      <vt:lpstr>PowerPoint Presentation</vt:lpstr>
      <vt:lpstr>PowerPoint Presentation</vt:lpstr>
      <vt:lpstr>PowerPoint Presentation</vt:lpstr>
      <vt:lpstr>Spectrum: spectrogram</vt:lpstr>
      <vt:lpstr>Spectrum: spectrogram</vt:lpstr>
      <vt:lpstr>Spectrum: spectrogram</vt:lpstr>
      <vt:lpstr>PowerPoint Presentation</vt:lpstr>
      <vt:lpstr>PowerPoint Presentation</vt:lpstr>
      <vt:lpstr>Spectrum practicals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Kramer, Mark</dc:creator>
  <cp:lastModifiedBy>Kramer, Mark</cp:lastModifiedBy>
  <cp:revision>145</cp:revision>
  <dcterms:created xsi:type="dcterms:W3CDTF">2024-10-21T17:21:04Z</dcterms:created>
  <dcterms:modified xsi:type="dcterms:W3CDTF">2026-10-15T14:35:38Z</dcterms:modified>
</cp:coreProperties>
</file>