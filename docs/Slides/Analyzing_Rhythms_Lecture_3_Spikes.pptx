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305" r:id="rId4"/>
    <p:sldId id="260" r:id="rId5"/>
    <p:sldId id="334" r:id="rId6"/>
    <p:sldId id="335" r:id="rId7"/>
    <p:sldId id="336" r:id="rId8"/>
    <p:sldId id="338" r:id="rId9"/>
    <p:sldId id="339" r:id="rId10"/>
    <p:sldId id="340" r:id="rId11"/>
    <p:sldId id="341" r:id="rId12"/>
    <p:sldId id="342" r:id="rId13"/>
    <p:sldId id="343" r:id="rId14"/>
    <p:sldId id="344" r:id="rId15"/>
    <p:sldId id="345" r:id="rId16"/>
    <p:sldId id="346" r:id="rId17"/>
    <p:sldId id="348" r:id="rId18"/>
    <p:sldId id="355" r:id="rId19"/>
    <p:sldId id="347" r:id="rId20"/>
    <p:sldId id="349" r:id="rId21"/>
    <p:sldId id="350" r:id="rId22"/>
    <p:sldId id="352" r:id="rId23"/>
    <p:sldId id="353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483"/>
    <p:restoredTop sz="94608"/>
  </p:normalViewPr>
  <p:slideViewPr>
    <p:cSldViewPr snapToGrid="0">
      <p:cViewPr>
        <p:scale>
          <a:sx n="125" d="100"/>
          <a:sy n="125" d="100"/>
        </p:scale>
        <p:origin x="320" y="2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483071-18F5-2F47-99FE-808A82663442}" type="datetimeFigureOut">
              <a:rPr lang="en-US" smtClean="0"/>
              <a:t>11/7/24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46246B-C494-6649-BF7E-AFDD4A56CB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15214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BA352A-7B58-3945-AD7B-4A77F7DBB22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90303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397B4-A448-0844-02DF-38210EDB79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0037E8-8210-0798-8CC7-F96163CB1C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32FA8F-CA37-3F4D-F4D9-0B736BC9AD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A791A-827A-2841-BCED-EC8004CAE979}" type="datetimeFigureOut">
              <a:rPr lang="en-US" smtClean="0"/>
              <a:t>11/7/24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683726-7BF0-6E80-05E5-F19FA29B01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5F7BDE-A1C7-1BF6-3130-CD12FE2E8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44911-8E1B-A34E-903A-E6703C02E6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42650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EA1639-7190-8909-4A5E-3E99BEBACF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6871" y="0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997027-3068-D75B-453A-4199C3CE6B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98588"/>
            <a:ext cx="10515600" cy="49847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F77540-AF4E-E201-93AA-759EFD4E84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A791A-827A-2841-BCED-EC8004CAE979}" type="datetimeFigureOut">
              <a:rPr lang="en-US" smtClean="0"/>
              <a:t>11/7/24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30CBD6-7C48-E6F4-210C-4675DB90E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D4CB01-3201-BE9D-EE77-A812B362D1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44911-8E1B-A34E-903A-E6703C02E6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18575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77A870-E27D-F49F-07AD-9F6C76C899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832501-B77C-6766-ACF8-9CD6800D08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106163-A364-9638-E760-DB0F87057A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A791A-827A-2841-BCED-EC8004CAE979}" type="datetimeFigureOut">
              <a:rPr lang="en-US" smtClean="0"/>
              <a:t>11/7/24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92488F-32D2-4EAD-A235-D80F761E5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0682BD-110D-3E49-E839-5E6C0E4E3D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44911-8E1B-A34E-903A-E6703C02E6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6867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696AA8-7E2D-E97C-6C06-0C4FB9B0B5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014FBC-1C36-217C-E7C2-62EE04F61AE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30CAEF-7CE0-91D1-0E44-95CFF3BB53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24FB7A-08AB-8738-FF22-AE5DD802B3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A791A-827A-2841-BCED-EC8004CAE979}" type="datetimeFigureOut">
              <a:rPr lang="en-US" smtClean="0"/>
              <a:t>11/7/24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1BB897-F06D-4BBA-9456-AF96455D95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DE115E-5658-6ECE-49F4-FD57795E13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44911-8E1B-A34E-903A-E6703C02E6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27926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E55567-9A61-FD1B-CB46-D52DD43DAD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816AF9-F761-1C06-A60A-792C9257DF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154FCA-A1BB-173B-4D97-20812E3B88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11C7AAC-DC6F-0B7A-21EC-47C1FD9DFD5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1DF3070-0871-A686-A7DD-F95185E254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372B939-97EA-3774-957D-BB7E59555A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A791A-827A-2841-BCED-EC8004CAE979}" type="datetimeFigureOut">
              <a:rPr lang="en-US" smtClean="0"/>
              <a:t>11/7/24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F37259D-53F7-7274-F0FD-4B0BC0F4FC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F778958-4A40-5EA3-3821-A1BADBDC45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44911-8E1B-A34E-903A-E6703C02E6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91498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DE207B-1168-4AB5-559A-C6514401D8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1668872-AFB6-2865-130C-A2847576E5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A791A-827A-2841-BCED-EC8004CAE979}" type="datetimeFigureOut">
              <a:rPr lang="en-US" smtClean="0"/>
              <a:t>11/7/24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8B5DF73-C60B-8F7B-6008-1886B77E94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F81CFC9-5C87-A8D5-0287-8CF181CB27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44911-8E1B-A34E-903A-E6703C02E6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91338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73EE3BC-3E5D-740C-E064-5C5CB1FB00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A791A-827A-2841-BCED-EC8004CAE979}" type="datetimeFigureOut">
              <a:rPr lang="en-US" smtClean="0"/>
              <a:t>11/7/24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9012039-6111-35AF-DB1E-EB1CAD10E1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058C9A-3AEB-E26F-C3B6-C77CF63072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44911-8E1B-A34E-903A-E6703C02E6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51877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63C97E-B115-7144-9D7E-9B469B844B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9756AF-D04D-A8F5-B0B8-372BFB01E2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212DB5-C754-63C1-EB74-DB6C6666BF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DA5A8F-1025-BC7C-B25E-D5727BC61C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A791A-827A-2841-BCED-EC8004CAE979}" type="datetimeFigureOut">
              <a:rPr lang="en-US" smtClean="0"/>
              <a:t>11/7/24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911BA0-33C4-0F73-EC52-2DDBB26A97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6DC555-DB89-B5AB-92BC-844DB661E8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44911-8E1B-A34E-903A-E6703C02E6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92134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A11BC6-E31A-06C6-81DA-F36E1BCBDE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CE7FF27-7372-21A7-F98D-B876FC9E6C7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1BA1E8-EAED-3EB8-376D-98E216F89C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BFE130-ACD0-3BD6-1DA4-F507921BDE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A791A-827A-2841-BCED-EC8004CAE979}" type="datetimeFigureOut">
              <a:rPr lang="en-US" smtClean="0"/>
              <a:t>11/7/24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2BAD80-D172-1E3C-D94D-CFFEC91D0F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6D4E56-6101-02BA-973C-2AFA88E03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44911-8E1B-A34E-903A-E6703C02E6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25920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C8DC07-0E6F-73C4-6E33-FA61059A88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326DD8-3FEB-DE6B-6F64-B28EF95BBF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76E16E-9D38-5D81-90C6-5CD66D5115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A791A-827A-2841-BCED-EC8004CAE979}" type="datetimeFigureOut">
              <a:rPr lang="en-US" smtClean="0"/>
              <a:t>11/7/24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7A3A0A-1887-A5ED-2F17-35D5461914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F63C1B-8C3F-7842-EB8E-5BCE31CE61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44911-8E1B-A34E-903A-E6703C02E6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46067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5DF286-B5CD-175A-1CC0-3278BC1998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9EA4BCE-DA2A-5323-5AE2-282D9681C3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313819-0D01-7210-1567-8E7B088D8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A791A-827A-2841-BCED-EC8004CAE979}" type="datetimeFigureOut">
              <a:rPr lang="en-US" smtClean="0"/>
              <a:t>11/7/24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B21588-3FC7-D711-2EF1-A70D3A4AC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43BDBF-E1C3-CDC1-5CD6-1CB20F0807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44911-8E1B-A34E-903A-E6703C02E6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63953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CD5FCE3-9D70-5C40-47DC-BB56B4FABC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DED25F-E933-547B-2A7B-A43365869C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537354-F6E2-C709-0018-5BB269EB138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05A791A-827A-2841-BCED-EC8004CAE979}" type="datetimeFigureOut">
              <a:rPr lang="en-US" smtClean="0"/>
              <a:t>11/7/24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0323AC-BFC7-3121-C2C7-536A02B8A2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6E124F-6D54-C3E0-A207-39524C623F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E44911-8E1B-A34E-903A-E6703C02E6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09505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0.png"/><Relationship Id="rId7" Type="http://schemas.openxmlformats.org/officeDocument/2006/relationships/image" Target="../media/image130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0.png"/><Relationship Id="rId7" Type="http://schemas.openxmlformats.org/officeDocument/2006/relationships/image" Target="../media/image24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1.png"/><Relationship Id="rId2" Type="http://schemas.openxmlformats.org/officeDocument/2006/relationships/image" Target="../media/image25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0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image" Target="../media/image270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30.png"/><Relationship Id="rId7" Type="http://schemas.openxmlformats.org/officeDocument/2006/relationships/image" Target="../media/image290.png"/><Relationship Id="rId12" Type="http://schemas.openxmlformats.org/officeDocument/2006/relationships/image" Target="../media/image38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11" Type="http://schemas.openxmlformats.org/officeDocument/2006/relationships/image" Target="../media/image37.png"/><Relationship Id="rId5" Type="http://schemas.openxmlformats.org/officeDocument/2006/relationships/image" Target="../media/image32.png"/><Relationship Id="rId10" Type="http://schemas.openxmlformats.org/officeDocument/2006/relationships/image" Target="../media/image36.png"/><Relationship Id="rId4" Type="http://schemas.openxmlformats.org/officeDocument/2006/relationships/image" Target="../media/image31.png"/><Relationship Id="rId9" Type="http://schemas.openxmlformats.org/officeDocument/2006/relationships/image" Target="../media/image3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image" Target="../media/image45.png"/><Relationship Id="rId7" Type="http://schemas.openxmlformats.org/officeDocument/2006/relationships/image" Target="../media/image49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8.png"/><Relationship Id="rId5" Type="http://schemas.openxmlformats.org/officeDocument/2006/relationships/image" Target="../media/image440.png"/><Relationship Id="rId10" Type="http://schemas.openxmlformats.org/officeDocument/2006/relationships/image" Target="../media/image52.png"/><Relationship Id="rId4" Type="http://schemas.openxmlformats.org/officeDocument/2006/relationships/image" Target="../media/image46.png"/><Relationship Id="rId9" Type="http://schemas.openxmlformats.org/officeDocument/2006/relationships/image" Target="../media/image5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7" Type="http://schemas.openxmlformats.org/officeDocument/2006/relationships/image" Target="../media/image57.png"/><Relationship Id="rId2" Type="http://schemas.openxmlformats.org/officeDocument/2006/relationships/image" Target="../media/image5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6.png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1.png"/><Relationship Id="rId4" Type="http://schemas.openxmlformats.org/officeDocument/2006/relationships/image" Target="../media/image6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4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png"/><Relationship Id="rId7" Type="http://schemas.openxmlformats.org/officeDocument/2006/relationships/image" Target="../media/image67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6.png"/><Relationship Id="rId5" Type="http://schemas.openxmlformats.org/officeDocument/2006/relationships/image" Target="../media/image42.png"/><Relationship Id="rId9" Type="http://schemas.openxmlformats.org/officeDocument/2006/relationships/image" Target="../media/image69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0.png"/><Relationship Id="rId2" Type="http://schemas.openxmlformats.org/officeDocument/2006/relationships/image" Target="../media/image66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81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69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0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0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0BED457-04A4-2CB8-A0F0-462C620CFDF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/>
              <a:t>Analyzing Rhythms (Part 3)</a:t>
            </a:r>
          </a:p>
          <a:p>
            <a:r>
              <a:rPr lang="en-US" dirty="0"/>
              <a:t>Instructor: Mark Kramer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F5D652-273B-4F7F-7902-C6C9A629D9B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Rhythms</a:t>
            </a:r>
          </a:p>
        </p:txBody>
      </p:sp>
    </p:spTree>
    <p:extLst>
      <p:ext uri="{BB962C8B-B14F-4D97-AF65-F5344CB8AC3E}">
        <p14:creationId xmlns:p14="http://schemas.microsoft.com/office/powerpoint/2010/main" val="39032555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22B064-5C48-406B-AFB7-ABB3FCA02C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Today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ECCBB2-5A72-803A-6120-9086EA97E0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Rhythms from spike trains</a:t>
            </a:r>
          </a:p>
        </p:txBody>
      </p:sp>
    </p:spTree>
    <p:extLst>
      <p:ext uri="{BB962C8B-B14F-4D97-AF65-F5344CB8AC3E}">
        <p14:creationId xmlns:p14="http://schemas.microsoft.com/office/powerpoint/2010/main" val="23341394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78AEFD1-3906-7D4B-F549-499A5431BE0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1930"/>
          <a:stretch/>
        </p:blipFill>
        <p:spPr>
          <a:xfrm>
            <a:off x="6563732" y="1454170"/>
            <a:ext cx="1311867" cy="2070100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93291DFB-EE1D-5F1D-8068-B50D1FD79A6C}"/>
              </a:ext>
            </a:extLst>
          </p:cNvPr>
          <p:cNvGrpSpPr/>
          <p:nvPr/>
        </p:nvGrpSpPr>
        <p:grpSpPr>
          <a:xfrm>
            <a:off x="4279710" y="1462941"/>
            <a:ext cx="2174009" cy="2070100"/>
            <a:chOff x="3284864" y="1942191"/>
            <a:chExt cx="2174009" cy="2070100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0F3EEDCF-5175-50EA-7862-741C8DF3ECA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r="71930"/>
            <a:stretch/>
          </p:blipFill>
          <p:spPr>
            <a:xfrm>
              <a:off x="3284864" y="1942191"/>
              <a:ext cx="1311867" cy="2070100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882A5D77-66A3-ABD5-9250-2849B738C235}"/>
                </a:ext>
              </a:extLst>
            </p:cNvPr>
            <p:cNvSpPr txBox="1"/>
            <p:nvPr/>
          </p:nvSpPr>
          <p:spPr>
            <a:xfrm>
              <a:off x="4706744" y="2474096"/>
              <a:ext cx="752129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6000" dirty="0"/>
                <a:t>~ </a:t>
              </a: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A989122-70D8-8540-85DE-C683D4251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024" y="40966"/>
            <a:ext cx="10515600" cy="1325563"/>
          </a:xfrm>
        </p:spPr>
        <p:txBody>
          <a:bodyPr/>
          <a:lstStyle/>
          <a:p>
            <a:r>
              <a:rPr lang="en-US" dirty="0"/>
              <a:t>Review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E54B76E-4DDC-2224-DA57-E76DF0CB508D}"/>
              </a:ext>
            </a:extLst>
          </p:cNvPr>
          <p:cNvSpPr txBox="1"/>
          <p:nvPr/>
        </p:nvSpPr>
        <p:spPr>
          <a:xfrm>
            <a:off x="322129" y="1235586"/>
            <a:ext cx="210666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spectrum </a:t>
            </a:r>
            <a:r>
              <a:rPr lang="en-US" sz="2800" dirty="0">
                <a:sym typeface="Wingdings" pitchFamily="2" charset="2"/>
              </a:rPr>
              <a:t></a:t>
            </a:r>
            <a:endParaRPr lang="en-US" sz="2800" dirty="0"/>
          </a:p>
        </p:txBody>
      </p:sp>
      <p:grpSp>
        <p:nvGrpSpPr>
          <p:cNvPr id="32" name="Group">
            <a:extLst>
              <a:ext uri="{FF2B5EF4-FFF2-40B4-BE49-F238E27FC236}">
                <a16:creationId xmlns:a16="http://schemas.microsoft.com/office/drawing/2014/main" id="{D285EC49-F88F-4254-894B-3F2F7EE75B58}"/>
              </a:ext>
            </a:extLst>
          </p:cNvPr>
          <p:cNvGrpSpPr/>
          <p:nvPr/>
        </p:nvGrpSpPr>
        <p:grpSpPr>
          <a:xfrm>
            <a:off x="1305810" y="3307067"/>
            <a:ext cx="4134447" cy="1547293"/>
            <a:chOff x="0" y="0"/>
            <a:chExt cx="5880102" cy="2200592"/>
          </a:xfrm>
        </p:grpSpPr>
        <p:grpSp>
          <p:nvGrpSpPr>
            <p:cNvPr id="33" name="Group">
              <a:extLst>
                <a:ext uri="{FF2B5EF4-FFF2-40B4-BE49-F238E27FC236}">
                  <a16:creationId xmlns:a16="http://schemas.microsoft.com/office/drawing/2014/main" id="{19E1B4FB-26FC-556C-107D-E282A020C0C1}"/>
                </a:ext>
              </a:extLst>
            </p:cNvPr>
            <p:cNvGrpSpPr/>
            <p:nvPr/>
          </p:nvGrpSpPr>
          <p:grpSpPr>
            <a:xfrm>
              <a:off x="2964317" y="0"/>
              <a:ext cx="2915786" cy="2200593"/>
              <a:chOff x="0" y="0"/>
              <a:chExt cx="2915784" cy="2200592"/>
            </a:xfrm>
          </p:grpSpPr>
          <p:sp>
            <p:nvSpPr>
              <p:cNvPr id="35" name="Rectangle">
                <a:extLst>
                  <a:ext uri="{FF2B5EF4-FFF2-40B4-BE49-F238E27FC236}">
                    <a16:creationId xmlns:a16="http://schemas.microsoft.com/office/drawing/2014/main" id="{A235D909-6C04-13D3-5288-A9F8D3E4D078}"/>
                  </a:ext>
                </a:extLst>
              </p:cNvPr>
              <p:cNvSpPr/>
              <p:nvPr/>
            </p:nvSpPr>
            <p:spPr>
              <a:xfrm>
                <a:off x="76542" y="153084"/>
                <a:ext cx="2755524" cy="1913558"/>
              </a:xfrm>
              <a:prstGeom prst="rect">
                <a:avLst/>
              </a:pr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35719" tIns="35719" rIns="35719" bIns="35719" numCol="1" anchor="ctr">
                <a:noAutofit/>
              </a:bodyPr>
              <a:lstStyle/>
              <a:p>
                <a:pPr>
                  <a:defRPr sz="3000"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sz="2109"/>
              </a:p>
            </p:txBody>
          </p:sp>
          <p:pic>
            <p:nvPicPr>
              <p:cNvPr id="36" name="droppedImage.pdf" descr="droppedImage.pdf">
                <a:extLst>
                  <a:ext uri="{FF2B5EF4-FFF2-40B4-BE49-F238E27FC236}">
                    <a16:creationId xmlns:a16="http://schemas.microsoft.com/office/drawing/2014/main" id="{DE4C2A79-2263-E816-D513-C1FC92B0043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0" y="0"/>
                <a:ext cx="2915785" cy="2200593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</p:grpSp>
        <p:sp>
          <p:nvSpPr>
            <p:cNvPr id="34" name="Frequency resolution">
              <a:extLst>
                <a:ext uri="{FF2B5EF4-FFF2-40B4-BE49-F238E27FC236}">
                  <a16:creationId xmlns:a16="http://schemas.microsoft.com/office/drawing/2014/main" id="{8C97CC51-CDB3-116A-999B-C378FD1C6D07}"/>
                </a:ext>
              </a:extLst>
            </p:cNvPr>
            <p:cNvSpPr/>
            <p:nvPr/>
          </p:nvSpPr>
          <p:spPr>
            <a:xfrm>
              <a:off x="0" y="487956"/>
              <a:ext cx="2774656" cy="122467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>
                <a:defRPr sz="3600" b="1"/>
              </a:lvl1pPr>
            </a:lstStyle>
            <a:p>
              <a:r>
                <a:rPr sz="2531" dirty="0"/>
                <a:t>Frequency resolution</a:t>
              </a:r>
            </a:p>
          </p:txBody>
        </p:sp>
      </p:grpSp>
      <p:grpSp>
        <p:nvGrpSpPr>
          <p:cNvPr id="37" name="Group">
            <a:extLst>
              <a:ext uri="{FF2B5EF4-FFF2-40B4-BE49-F238E27FC236}">
                <a16:creationId xmlns:a16="http://schemas.microsoft.com/office/drawing/2014/main" id="{E0231DB0-9497-5306-3375-8C5695958616}"/>
              </a:ext>
            </a:extLst>
          </p:cNvPr>
          <p:cNvGrpSpPr/>
          <p:nvPr/>
        </p:nvGrpSpPr>
        <p:grpSpPr>
          <a:xfrm>
            <a:off x="1360630" y="5075501"/>
            <a:ext cx="4249292" cy="1341198"/>
            <a:chOff x="0" y="0"/>
            <a:chExt cx="6043437" cy="1907481"/>
          </a:xfrm>
        </p:grpSpPr>
        <p:grpSp>
          <p:nvGrpSpPr>
            <p:cNvPr id="38" name="Group">
              <a:extLst>
                <a:ext uri="{FF2B5EF4-FFF2-40B4-BE49-F238E27FC236}">
                  <a16:creationId xmlns:a16="http://schemas.microsoft.com/office/drawing/2014/main" id="{9EFC69D7-8D3B-A1B8-C526-9E83A1E8F327}"/>
                </a:ext>
              </a:extLst>
            </p:cNvPr>
            <p:cNvGrpSpPr/>
            <p:nvPr/>
          </p:nvGrpSpPr>
          <p:grpSpPr>
            <a:xfrm>
              <a:off x="2830836" y="0"/>
              <a:ext cx="3212602" cy="1907482"/>
              <a:chOff x="0" y="0"/>
              <a:chExt cx="3212600" cy="1907481"/>
            </a:xfrm>
          </p:grpSpPr>
          <p:sp>
            <p:nvSpPr>
              <p:cNvPr id="40" name="Rectangle">
                <a:extLst>
                  <a:ext uri="{FF2B5EF4-FFF2-40B4-BE49-F238E27FC236}">
                    <a16:creationId xmlns:a16="http://schemas.microsoft.com/office/drawing/2014/main" id="{4C816CDB-A6B8-BCD5-FECD-2F8F59F3F4DE}"/>
                  </a:ext>
                </a:extLst>
              </p:cNvPr>
              <p:cNvSpPr/>
              <p:nvPr/>
            </p:nvSpPr>
            <p:spPr>
              <a:xfrm>
                <a:off x="179335" y="138577"/>
                <a:ext cx="2804162" cy="1630325"/>
              </a:xfrm>
              <a:prstGeom prst="rect">
                <a:avLst/>
              </a:pr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35719" tIns="35719" rIns="35719" bIns="35719" numCol="1" anchor="ctr">
                <a:noAutofit/>
              </a:bodyPr>
              <a:lstStyle/>
              <a:p>
                <a:pPr>
                  <a:defRPr sz="3000"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sz="2109"/>
              </a:p>
            </p:txBody>
          </p:sp>
          <p:pic>
            <p:nvPicPr>
              <p:cNvPr id="41" name="droppedImage.pdf" descr="droppedImage.pdf">
                <a:extLst>
                  <a:ext uri="{FF2B5EF4-FFF2-40B4-BE49-F238E27FC236}">
                    <a16:creationId xmlns:a16="http://schemas.microsoft.com/office/drawing/2014/main" id="{96D14732-F872-114C-9ED3-105ABB2B2B5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0" y="0"/>
                <a:ext cx="3212601" cy="1907482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</p:grpSp>
        <p:sp>
          <p:nvSpPr>
            <p:cNvPr id="39" name="Nyquist…">
              <a:extLst>
                <a:ext uri="{FF2B5EF4-FFF2-40B4-BE49-F238E27FC236}">
                  <a16:creationId xmlns:a16="http://schemas.microsoft.com/office/drawing/2014/main" id="{03EEF687-8243-32C8-EDB3-0D28533B59D0}"/>
                </a:ext>
              </a:extLst>
            </p:cNvPr>
            <p:cNvSpPr/>
            <p:nvPr/>
          </p:nvSpPr>
          <p:spPr>
            <a:xfrm>
              <a:off x="0" y="329638"/>
              <a:ext cx="2781300" cy="12319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/>
            <a:p>
              <a:pPr>
                <a:defRPr sz="3600" b="1"/>
              </a:pPr>
              <a:r>
                <a:rPr sz="2531"/>
                <a:t>Nyquist</a:t>
              </a:r>
            </a:p>
            <a:p>
              <a:pPr>
                <a:defRPr sz="3600" b="1"/>
              </a:pPr>
              <a:r>
                <a:rPr sz="2531"/>
                <a:t>frequency</a:t>
              </a:r>
            </a:p>
          </p:txBody>
        </p:sp>
      </p:grpSp>
      <p:grpSp>
        <p:nvGrpSpPr>
          <p:cNvPr id="42" name="Group">
            <a:extLst>
              <a:ext uri="{FF2B5EF4-FFF2-40B4-BE49-F238E27FC236}">
                <a16:creationId xmlns:a16="http://schemas.microsoft.com/office/drawing/2014/main" id="{07CD8AE3-1796-A23C-FA8C-A237F2DDBF24}"/>
              </a:ext>
            </a:extLst>
          </p:cNvPr>
          <p:cNvGrpSpPr/>
          <p:nvPr/>
        </p:nvGrpSpPr>
        <p:grpSpPr>
          <a:xfrm>
            <a:off x="5385887" y="4199307"/>
            <a:ext cx="3680532" cy="441468"/>
            <a:chOff x="0" y="48019"/>
            <a:chExt cx="5234534" cy="627864"/>
          </a:xfrm>
        </p:grpSpPr>
        <p:sp>
          <p:nvSpPr>
            <p:cNvPr id="43" name="Line">
              <a:extLst>
                <a:ext uri="{FF2B5EF4-FFF2-40B4-BE49-F238E27FC236}">
                  <a16:creationId xmlns:a16="http://schemas.microsoft.com/office/drawing/2014/main" id="{C6D82548-1097-B513-90A6-EDF476EFFAB7}"/>
                </a:ext>
              </a:extLst>
            </p:cNvPr>
            <p:cNvSpPr/>
            <p:nvPr/>
          </p:nvSpPr>
          <p:spPr>
            <a:xfrm>
              <a:off x="0" y="359833"/>
              <a:ext cx="911358" cy="1"/>
            </a:xfrm>
            <a:prstGeom prst="line">
              <a:avLst/>
            </a:prstGeom>
            <a:noFill/>
            <a:ln w="50800" cap="flat">
              <a:solidFill>
                <a:srgbClr val="FF4013"/>
              </a:solidFill>
              <a:prstDash val="solid"/>
              <a:miter lim="400000"/>
              <a:headEnd type="stealth" w="med" len="med"/>
            </a:ln>
            <a:effectLst/>
          </p:spPr>
          <p:txBody>
            <a:bodyPr wrap="square" lIns="35719" tIns="35719" rIns="35719" bIns="35719" numCol="1" anchor="ctr">
              <a:noAutofit/>
            </a:bodyPr>
            <a:lstStyle/>
            <a:p>
              <a:pPr defTabSz="321457"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  <a:endParaRPr sz="844" dirty="0"/>
            </a:p>
          </p:txBody>
        </p:sp>
        <p:sp>
          <p:nvSpPr>
            <p:cNvPr id="44" name="Duration of recording">
              <a:extLst>
                <a:ext uri="{FF2B5EF4-FFF2-40B4-BE49-F238E27FC236}">
                  <a16:creationId xmlns:a16="http://schemas.microsoft.com/office/drawing/2014/main" id="{0B3005FA-467B-4158-C93C-BC789B5191DB}"/>
                </a:ext>
              </a:extLst>
            </p:cNvPr>
            <p:cNvSpPr/>
            <p:nvPr/>
          </p:nvSpPr>
          <p:spPr>
            <a:xfrm>
              <a:off x="1039652" y="48019"/>
              <a:ext cx="4194882" cy="62786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35719" tIns="35719" rIns="35719" bIns="35719" numCol="1" anchor="ctr">
              <a:spAutoFit/>
            </a:bodyPr>
            <a:lstStyle/>
            <a:p>
              <a:r>
                <a:rPr sz="2400" dirty="0"/>
                <a:t>Duration of recording</a:t>
              </a:r>
            </a:p>
          </p:txBody>
        </p:sp>
      </p:grpSp>
      <p:grpSp>
        <p:nvGrpSpPr>
          <p:cNvPr id="45" name="Group">
            <a:extLst>
              <a:ext uri="{FF2B5EF4-FFF2-40B4-BE49-F238E27FC236}">
                <a16:creationId xmlns:a16="http://schemas.microsoft.com/office/drawing/2014/main" id="{9A7AFBD2-2060-8732-1F60-CBB2B18DFE1C}"/>
              </a:ext>
            </a:extLst>
          </p:cNvPr>
          <p:cNvGrpSpPr/>
          <p:nvPr/>
        </p:nvGrpSpPr>
        <p:grpSpPr>
          <a:xfrm>
            <a:off x="5385887" y="5235151"/>
            <a:ext cx="3530475" cy="441468"/>
            <a:chOff x="0" y="48019"/>
            <a:chExt cx="5021118" cy="627864"/>
          </a:xfrm>
        </p:grpSpPr>
        <p:sp>
          <p:nvSpPr>
            <p:cNvPr id="46" name="Line">
              <a:extLst>
                <a:ext uri="{FF2B5EF4-FFF2-40B4-BE49-F238E27FC236}">
                  <a16:creationId xmlns:a16="http://schemas.microsoft.com/office/drawing/2014/main" id="{899D57C8-2B94-2F5D-6F83-EFAF00022464}"/>
                </a:ext>
              </a:extLst>
            </p:cNvPr>
            <p:cNvSpPr/>
            <p:nvPr/>
          </p:nvSpPr>
          <p:spPr>
            <a:xfrm>
              <a:off x="0" y="368300"/>
              <a:ext cx="911358" cy="0"/>
            </a:xfrm>
            <a:prstGeom prst="line">
              <a:avLst/>
            </a:prstGeom>
            <a:noFill/>
            <a:ln w="50800" cap="flat">
              <a:solidFill>
                <a:srgbClr val="FF4013"/>
              </a:solidFill>
              <a:prstDash val="solid"/>
              <a:miter lim="400000"/>
              <a:headEnd type="stealth" w="med" len="med"/>
            </a:ln>
            <a:effectLst/>
          </p:spPr>
          <p:txBody>
            <a:bodyPr wrap="square" lIns="35719" tIns="35719" rIns="35719" bIns="35719" numCol="1" anchor="ctr">
              <a:noAutofit/>
            </a:bodyPr>
            <a:lstStyle/>
            <a:p>
              <a:pPr defTabSz="321457"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  <a:endParaRPr sz="844"/>
            </a:p>
          </p:txBody>
        </p:sp>
        <p:sp>
          <p:nvSpPr>
            <p:cNvPr id="47" name="Sampling frequency">
              <a:extLst>
                <a:ext uri="{FF2B5EF4-FFF2-40B4-BE49-F238E27FC236}">
                  <a16:creationId xmlns:a16="http://schemas.microsoft.com/office/drawing/2014/main" id="{2811ED6C-745A-3338-C191-BE1DDBEEAE9A}"/>
                </a:ext>
              </a:extLst>
            </p:cNvPr>
            <p:cNvSpPr/>
            <p:nvPr/>
          </p:nvSpPr>
          <p:spPr>
            <a:xfrm>
              <a:off x="1045101" y="48019"/>
              <a:ext cx="3976017" cy="62786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35719" tIns="35719" rIns="35719" bIns="35719" numCol="1" anchor="ctr">
              <a:spAutoFit/>
            </a:bodyPr>
            <a:lstStyle/>
            <a:p>
              <a:r>
                <a:rPr sz="2400" dirty="0"/>
                <a:t>Sampling frequency</a:t>
              </a:r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40ADFCCB-D92D-8655-3169-99204313E125}"/>
              </a:ext>
            </a:extLst>
          </p:cNvPr>
          <p:cNvSpPr txBox="1"/>
          <p:nvPr/>
        </p:nvSpPr>
        <p:spPr>
          <a:xfrm>
            <a:off x="2428796" y="1235586"/>
            <a:ext cx="614615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  <a:sym typeface="Wingdings" pitchFamily="2" charset="2"/>
              </a:rPr>
              <a:t>which rhythms dominate a signal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13662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 advAuto="0"/>
      <p:bldP spid="37" grpId="0" animBg="1" advAuto="0"/>
      <p:bldP spid="42" grpId="0" animBg="1" advAuto="0"/>
      <p:bldP spid="45" grpId="0" animBg="1" advAuto="0"/>
      <p:bldP spid="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AEE8AD7D-49C2-E143-B8B6-1A7E9FA969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024" y="40966"/>
            <a:ext cx="10515600" cy="1325563"/>
          </a:xfrm>
        </p:spPr>
        <p:txBody>
          <a:bodyPr/>
          <a:lstStyle/>
          <a:p>
            <a:r>
              <a:rPr lang="en-US" dirty="0"/>
              <a:t>Today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00F703E-A9B6-63AA-FA21-BEAE4E8BB82E}"/>
              </a:ext>
            </a:extLst>
          </p:cNvPr>
          <p:cNvSpPr txBox="1"/>
          <p:nvPr/>
        </p:nvSpPr>
        <p:spPr>
          <a:xfrm>
            <a:off x="892156" y="1563615"/>
            <a:ext cx="117634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u="sng" dirty="0"/>
              <a:t>spikes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C212064-B02F-9FF0-FFD5-DC856BDA62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8454" y="1217391"/>
            <a:ext cx="7772400" cy="1102296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6ACA6BCE-6596-5C51-84A6-26A449E43E3D}"/>
              </a:ext>
            </a:extLst>
          </p:cNvPr>
          <p:cNvGrpSpPr/>
          <p:nvPr/>
        </p:nvGrpSpPr>
        <p:grpSpPr>
          <a:xfrm>
            <a:off x="3297382" y="2241241"/>
            <a:ext cx="2454630" cy="769441"/>
            <a:chOff x="3297382" y="2241241"/>
            <a:chExt cx="2454630" cy="769441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3217CD66-4B52-08D9-61CB-F7FF3E8E21C7}"/>
                </a:ext>
              </a:extLst>
            </p:cNvPr>
            <p:cNvCxnSpPr>
              <a:cxnSpLocks/>
            </p:cNvCxnSpPr>
            <p:nvPr/>
          </p:nvCxnSpPr>
          <p:spPr>
            <a:xfrm>
              <a:off x="3297382" y="2594263"/>
              <a:ext cx="0" cy="346364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8E12C45A-64AE-F418-909C-1B5D77E698E4}"/>
                </a:ext>
              </a:extLst>
            </p:cNvPr>
            <p:cNvCxnSpPr>
              <a:cxnSpLocks/>
            </p:cNvCxnSpPr>
            <p:nvPr/>
          </p:nvCxnSpPr>
          <p:spPr>
            <a:xfrm>
              <a:off x="3463636" y="2594263"/>
              <a:ext cx="0" cy="346364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643E8DF6-D3F3-9BD5-45E1-4E5F2AEEF362}"/>
                </a:ext>
              </a:extLst>
            </p:cNvPr>
            <p:cNvCxnSpPr>
              <a:cxnSpLocks/>
            </p:cNvCxnSpPr>
            <p:nvPr/>
          </p:nvCxnSpPr>
          <p:spPr>
            <a:xfrm>
              <a:off x="3603781" y="2594263"/>
              <a:ext cx="0" cy="346364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FB23CFAB-097D-39F3-D15F-ED037A4CD434}"/>
                </a:ext>
              </a:extLst>
            </p:cNvPr>
            <p:cNvCxnSpPr>
              <a:cxnSpLocks/>
            </p:cNvCxnSpPr>
            <p:nvPr/>
          </p:nvCxnSpPr>
          <p:spPr>
            <a:xfrm>
              <a:off x="4003964" y="2594263"/>
              <a:ext cx="0" cy="346364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67B5DC11-D6A3-BD15-C9B3-F6030B693BE9}"/>
                </a:ext>
              </a:extLst>
            </p:cNvPr>
            <p:cNvCxnSpPr>
              <a:cxnSpLocks/>
            </p:cNvCxnSpPr>
            <p:nvPr/>
          </p:nvCxnSpPr>
          <p:spPr>
            <a:xfrm>
              <a:off x="4100945" y="2594263"/>
              <a:ext cx="0" cy="346364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25BD2D15-AE83-5A23-3829-09012CD7D5E8}"/>
                </a:ext>
              </a:extLst>
            </p:cNvPr>
            <p:cNvCxnSpPr>
              <a:cxnSpLocks/>
            </p:cNvCxnSpPr>
            <p:nvPr/>
          </p:nvCxnSpPr>
          <p:spPr>
            <a:xfrm>
              <a:off x="4220452" y="2594263"/>
              <a:ext cx="0" cy="346364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FC00AB60-7C24-8E03-C702-97D7FE1A2523}"/>
                </a:ext>
              </a:extLst>
            </p:cNvPr>
            <p:cNvCxnSpPr>
              <a:cxnSpLocks/>
            </p:cNvCxnSpPr>
            <p:nvPr/>
          </p:nvCxnSpPr>
          <p:spPr>
            <a:xfrm>
              <a:off x="4545658" y="2594263"/>
              <a:ext cx="0" cy="346364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A612D423-E288-E593-5327-F6D1C4E9A03D}"/>
                </a:ext>
              </a:extLst>
            </p:cNvPr>
            <p:cNvCxnSpPr>
              <a:cxnSpLocks/>
            </p:cNvCxnSpPr>
            <p:nvPr/>
          </p:nvCxnSpPr>
          <p:spPr>
            <a:xfrm>
              <a:off x="4643301" y="2594263"/>
              <a:ext cx="0" cy="346364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2251962C-69CF-9CFF-BA8A-1FA3C7EAC600}"/>
                </a:ext>
              </a:extLst>
            </p:cNvPr>
            <p:cNvSpPr txBox="1"/>
            <p:nvPr/>
          </p:nvSpPr>
          <p:spPr>
            <a:xfrm>
              <a:off x="5081636" y="2241241"/>
              <a:ext cx="670376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400" dirty="0"/>
                <a:t>...</a:t>
              </a:r>
            </a:p>
          </p:txBody>
        </p: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497EABEB-00DC-B5BE-304F-557545EBE5BE}"/>
              </a:ext>
            </a:extLst>
          </p:cNvPr>
          <p:cNvSpPr txBox="1"/>
          <p:nvPr/>
        </p:nvSpPr>
        <p:spPr>
          <a:xfrm>
            <a:off x="2677319" y="3168452"/>
            <a:ext cx="26532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00001110001110110000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76706BD-D962-BFCE-75D9-6CAD61BB5532}"/>
              </a:ext>
            </a:extLst>
          </p:cNvPr>
          <p:cNvSpPr txBox="1"/>
          <p:nvPr/>
        </p:nvSpPr>
        <p:spPr>
          <a:xfrm>
            <a:off x="783615" y="3986579"/>
            <a:ext cx="130195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Define: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EE4B05F4-CEA3-6A99-FCED-2E062029348A}"/>
              </a:ext>
            </a:extLst>
          </p:cNvPr>
          <p:cNvGrpSpPr/>
          <p:nvPr/>
        </p:nvGrpSpPr>
        <p:grpSpPr>
          <a:xfrm>
            <a:off x="979704" y="4943042"/>
            <a:ext cx="1683403" cy="830997"/>
            <a:chOff x="979704" y="4943042"/>
            <a:chExt cx="1683403" cy="83099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2806A75B-F941-2D40-839A-A67AC8892B3B}"/>
                    </a:ext>
                  </a:extLst>
                </p:cNvPr>
                <p:cNvSpPr txBox="1"/>
                <p:nvPr/>
              </p:nvSpPr>
              <p:spPr>
                <a:xfrm>
                  <a:off x="979704" y="5127411"/>
                  <a:ext cx="1393843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𝑑𝑛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r>
                    <a:rPr lang="en-US" sz="2800" dirty="0"/>
                    <a:t> = </a:t>
                  </a:r>
                </a:p>
              </p:txBody>
            </p:sp>
          </mc:Choice>
          <mc:Fallback xmlns="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2806A75B-F941-2D40-839A-A67AC8892B3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9704" y="5127411"/>
                  <a:ext cx="1393843" cy="523220"/>
                </a:xfrm>
                <a:prstGeom prst="rect">
                  <a:avLst/>
                </a:prstGeom>
                <a:blipFill>
                  <a:blip r:embed="rId3"/>
                  <a:stretch>
                    <a:fillRect l="-3636" t="-11905" r="-8182" b="-33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9FA3C41A-C3F2-B299-F70D-1608AC947A63}"/>
                </a:ext>
              </a:extLst>
            </p:cNvPr>
            <p:cNvSpPr txBox="1"/>
            <p:nvPr/>
          </p:nvSpPr>
          <p:spPr>
            <a:xfrm>
              <a:off x="2297301" y="4943042"/>
              <a:ext cx="365806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800" dirty="0"/>
                <a:t>{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E9EF1E35-A66E-BFFC-9BC2-7924144CC6D6}"/>
                  </a:ext>
                </a:extLst>
              </p:cNvPr>
              <p:cNvSpPr txBox="1"/>
              <p:nvPr/>
            </p:nvSpPr>
            <p:spPr>
              <a:xfrm>
                <a:off x="2677319" y="4835320"/>
                <a:ext cx="7162538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/>
                  <a:t>1 when a spike occurs in small time interval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Δ</m:t>
                    </m:r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E9EF1E35-A66E-BFFC-9BC2-7924144CC6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77319" y="4835320"/>
                <a:ext cx="7162538" cy="523220"/>
              </a:xfrm>
              <a:prstGeom prst="rect">
                <a:avLst/>
              </a:prstGeom>
              <a:blipFill>
                <a:blip r:embed="rId4"/>
                <a:stretch>
                  <a:fillRect l="-1770" t="-11905"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TextBox 29">
            <a:extLst>
              <a:ext uri="{FF2B5EF4-FFF2-40B4-BE49-F238E27FC236}">
                <a16:creationId xmlns:a16="http://schemas.microsoft.com/office/drawing/2014/main" id="{B2DD8417-D498-6D74-0161-0B6C314A8E98}"/>
              </a:ext>
            </a:extLst>
          </p:cNvPr>
          <p:cNvSpPr txBox="1"/>
          <p:nvPr/>
        </p:nvSpPr>
        <p:spPr>
          <a:xfrm>
            <a:off x="2677319" y="5465294"/>
            <a:ext cx="198387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0 otherwise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82BACC10-CEC0-7268-9910-9C630C117D77}"/>
              </a:ext>
            </a:extLst>
          </p:cNvPr>
          <p:cNvGrpSpPr/>
          <p:nvPr/>
        </p:nvGrpSpPr>
        <p:grpSpPr>
          <a:xfrm>
            <a:off x="1188405" y="2321105"/>
            <a:ext cx="10822364" cy="691763"/>
            <a:chOff x="1194619" y="4563550"/>
            <a:chExt cx="10822364" cy="69176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C062DA8E-F57A-4C19-3C82-54416B9C51D8}"/>
                    </a:ext>
                  </a:extLst>
                </p:cNvPr>
                <p:cNvSpPr txBox="1"/>
                <p:nvPr/>
              </p:nvSpPr>
              <p:spPr>
                <a:xfrm>
                  <a:off x="7376225" y="4732093"/>
                  <a:ext cx="4640758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800" dirty="0"/>
                    <a:t>Divide time into small bins, </a:t>
                  </a:r>
                  <a14:m>
                    <m:oMath xmlns:m="http://schemas.openxmlformats.org/officeDocument/2006/math">
                      <m:r>
                        <a:rPr lang="en-US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</m:oMath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C062DA8E-F57A-4C19-3C82-54416B9C51D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76225" y="4732093"/>
                  <a:ext cx="4640758" cy="523220"/>
                </a:xfrm>
                <a:prstGeom prst="rect">
                  <a:avLst/>
                </a:prstGeom>
                <a:blipFill>
                  <a:blip r:embed="rId5"/>
                  <a:stretch>
                    <a:fillRect l="-2732" t="-9302" b="-3255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42A6667-A1A6-2506-FB2A-FA5809AD8BC8}"/>
                </a:ext>
              </a:extLst>
            </p:cNvPr>
            <p:cNvGrpSpPr/>
            <p:nvPr/>
          </p:nvGrpSpPr>
          <p:grpSpPr>
            <a:xfrm>
              <a:off x="1194619" y="4563550"/>
              <a:ext cx="10545097" cy="124649"/>
              <a:chOff x="1194619" y="4563550"/>
              <a:chExt cx="10545097" cy="124649"/>
            </a:xfrm>
          </p:grpSpPr>
          <p:cxnSp>
            <p:nvCxnSpPr>
              <p:cNvPr id="10" name="Straight Connector 9">
                <a:extLst>
                  <a:ext uri="{FF2B5EF4-FFF2-40B4-BE49-F238E27FC236}">
                    <a16:creationId xmlns:a16="http://schemas.microsoft.com/office/drawing/2014/main" id="{FA47E3DA-DB22-7C92-E384-792AC05DA6AF}"/>
                  </a:ext>
                </a:extLst>
              </p:cNvPr>
              <p:cNvCxnSpPr/>
              <p:nvPr/>
            </p:nvCxnSpPr>
            <p:spPr>
              <a:xfrm>
                <a:off x="1194619" y="4688199"/>
                <a:ext cx="10545097" cy="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5AAC017E-0F5A-473E-1A01-79F155AB604E}"/>
                  </a:ext>
                </a:extLst>
              </p:cNvPr>
              <p:cNvGrpSpPr/>
              <p:nvPr/>
            </p:nvGrpSpPr>
            <p:grpSpPr>
              <a:xfrm>
                <a:off x="1194619" y="4571999"/>
                <a:ext cx="4215616" cy="116200"/>
                <a:chOff x="1194619" y="4571999"/>
                <a:chExt cx="4215616" cy="116200"/>
              </a:xfrm>
            </p:grpSpPr>
            <p:cxnSp>
              <p:nvCxnSpPr>
                <p:cNvPr id="75" name="Straight Connector 74">
                  <a:extLst>
                    <a:ext uri="{FF2B5EF4-FFF2-40B4-BE49-F238E27FC236}">
                      <a16:creationId xmlns:a16="http://schemas.microsoft.com/office/drawing/2014/main" id="{09DEFFB0-BF10-BE87-1C1C-10A9D7DC372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194619" y="4572000"/>
                  <a:ext cx="0" cy="116199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6" name="Straight Connector 75">
                  <a:extLst>
                    <a:ext uri="{FF2B5EF4-FFF2-40B4-BE49-F238E27FC236}">
                      <a16:creationId xmlns:a16="http://schemas.microsoft.com/office/drawing/2014/main" id="{B0710D00-BD00-67C8-E08A-5885131E89E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330607" y="4572000"/>
                  <a:ext cx="0" cy="116199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7" name="Straight Connector 76">
                  <a:extLst>
                    <a:ext uri="{FF2B5EF4-FFF2-40B4-BE49-F238E27FC236}">
                      <a16:creationId xmlns:a16="http://schemas.microsoft.com/office/drawing/2014/main" id="{4AFF19F1-BC2D-C2D0-2F84-D635B678F51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466595" y="4572000"/>
                  <a:ext cx="0" cy="116199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8" name="Straight Connector 77">
                  <a:extLst>
                    <a:ext uri="{FF2B5EF4-FFF2-40B4-BE49-F238E27FC236}">
                      <a16:creationId xmlns:a16="http://schemas.microsoft.com/office/drawing/2014/main" id="{8241C1DA-BAC8-D621-CCFA-37E91E759A9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602583" y="4572000"/>
                  <a:ext cx="0" cy="116199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9" name="Straight Connector 78">
                  <a:extLst>
                    <a:ext uri="{FF2B5EF4-FFF2-40B4-BE49-F238E27FC236}">
                      <a16:creationId xmlns:a16="http://schemas.microsoft.com/office/drawing/2014/main" id="{AFC5645A-3F5C-57FB-7DB2-38D1148E237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738571" y="4572000"/>
                  <a:ext cx="0" cy="116199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0" name="Straight Connector 79">
                  <a:extLst>
                    <a:ext uri="{FF2B5EF4-FFF2-40B4-BE49-F238E27FC236}">
                      <a16:creationId xmlns:a16="http://schemas.microsoft.com/office/drawing/2014/main" id="{C9F725FD-6C13-6F67-E08E-2FFDB64B27A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874559" y="4572000"/>
                  <a:ext cx="0" cy="116199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1" name="Straight Connector 80">
                  <a:extLst>
                    <a:ext uri="{FF2B5EF4-FFF2-40B4-BE49-F238E27FC236}">
                      <a16:creationId xmlns:a16="http://schemas.microsoft.com/office/drawing/2014/main" id="{BCC26607-6843-67B5-C5AE-2CFFFE5BF40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010547" y="4572000"/>
                  <a:ext cx="0" cy="116199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2" name="Straight Connector 81">
                  <a:extLst>
                    <a:ext uri="{FF2B5EF4-FFF2-40B4-BE49-F238E27FC236}">
                      <a16:creationId xmlns:a16="http://schemas.microsoft.com/office/drawing/2014/main" id="{0CB2BE29-12F7-BEF6-0B5C-C5A4E3F22C1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146535" y="4572000"/>
                  <a:ext cx="0" cy="116199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3" name="Straight Connector 82">
                  <a:extLst>
                    <a:ext uri="{FF2B5EF4-FFF2-40B4-BE49-F238E27FC236}">
                      <a16:creationId xmlns:a16="http://schemas.microsoft.com/office/drawing/2014/main" id="{96C0F161-3D38-B6BC-ADB1-AF0CEA66C4B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282523" y="4572000"/>
                  <a:ext cx="0" cy="116199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4" name="Straight Connector 83">
                  <a:extLst>
                    <a:ext uri="{FF2B5EF4-FFF2-40B4-BE49-F238E27FC236}">
                      <a16:creationId xmlns:a16="http://schemas.microsoft.com/office/drawing/2014/main" id="{4934578E-26AF-D916-FAF7-DAFEE4CBAF5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418511" y="4572000"/>
                  <a:ext cx="0" cy="116199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5" name="Straight Connector 84">
                  <a:extLst>
                    <a:ext uri="{FF2B5EF4-FFF2-40B4-BE49-F238E27FC236}">
                      <a16:creationId xmlns:a16="http://schemas.microsoft.com/office/drawing/2014/main" id="{5F8CE2B8-B218-2B82-B381-CAFE8B45809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554499" y="4572000"/>
                  <a:ext cx="0" cy="116199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6" name="Straight Connector 85">
                  <a:extLst>
                    <a:ext uri="{FF2B5EF4-FFF2-40B4-BE49-F238E27FC236}">
                      <a16:creationId xmlns:a16="http://schemas.microsoft.com/office/drawing/2014/main" id="{735E3221-7E30-4A3B-C3E0-F8D184F90A2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690487" y="4572000"/>
                  <a:ext cx="0" cy="116199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7" name="Straight Connector 86">
                  <a:extLst>
                    <a:ext uri="{FF2B5EF4-FFF2-40B4-BE49-F238E27FC236}">
                      <a16:creationId xmlns:a16="http://schemas.microsoft.com/office/drawing/2014/main" id="{417FC53C-CDB0-9A04-690B-CA14DA84C94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826475" y="4572000"/>
                  <a:ext cx="0" cy="116199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8" name="Straight Connector 87">
                  <a:extLst>
                    <a:ext uri="{FF2B5EF4-FFF2-40B4-BE49-F238E27FC236}">
                      <a16:creationId xmlns:a16="http://schemas.microsoft.com/office/drawing/2014/main" id="{A367D4C6-E244-3681-74E2-F0690421FA3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962463" y="4572000"/>
                  <a:ext cx="0" cy="116199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9" name="Straight Connector 88">
                  <a:extLst>
                    <a:ext uri="{FF2B5EF4-FFF2-40B4-BE49-F238E27FC236}">
                      <a16:creationId xmlns:a16="http://schemas.microsoft.com/office/drawing/2014/main" id="{9DD1D4A7-0C53-7549-6A5C-7DA4B0F09EC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098451" y="4572000"/>
                  <a:ext cx="0" cy="116199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0" name="Straight Connector 89">
                  <a:extLst>
                    <a:ext uri="{FF2B5EF4-FFF2-40B4-BE49-F238E27FC236}">
                      <a16:creationId xmlns:a16="http://schemas.microsoft.com/office/drawing/2014/main" id="{1CD5D2C6-C70F-72C4-374B-38A093F10F9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234435" y="4572000"/>
                  <a:ext cx="0" cy="116199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91" name="Group 90">
                  <a:extLst>
                    <a:ext uri="{FF2B5EF4-FFF2-40B4-BE49-F238E27FC236}">
                      <a16:creationId xmlns:a16="http://schemas.microsoft.com/office/drawing/2014/main" id="{0107B72E-1732-8439-BE14-7C8AE48EB6CD}"/>
                    </a:ext>
                  </a:extLst>
                </p:cNvPr>
                <p:cNvGrpSpPr/>
                <p:nvPr/>
              </p:nvGrpSpPr>
              <p:grpSpPr>
                <a:xfrm>
                  <a:off x="3370419" y="4571999"/>
                  <a:ext cx="2039816" cy="116199"/>
                  <a:chOff x="1347019" y="4724400"/>
                  <a:chExt cx="2039816" cy="116199"/>
                </a:xfrm>
              </p:grpSpPr>
              <p:cxnSp>
                <p:nvCxnSpPr>
                  <p:cNvPr id="92" name="Straight Connector 91">
                    <a:extLst>
                      <a:ext uri="{FF2B5EF4-FFF2-40B4-BE49-F238E27FC236}">
                        <a16:creationId xmlns:a16="http://schemas.microsoft.com/office/drawing/2014/main" id="{6623431C-1F19-0E6A-FE96-FB0482FDF93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347019" y="4724400"/>
                    <a:ext cx="0" cy="116199"/>
                  </a:xfrm>
                  <a:prstGeom prst="line">
                    <a:avLst/>
                  </a:prstGeom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3" name="Straight Connector 92">
                    <a:extLst>
                      <a:ext uri="{FF2B5EF4-FFF2-40B4-BE49-F238E27FC236}">
                        <a16:creationId xmlns:a16="http://schemas.microsoft.com/office/drawing/2014/main" id="{2E599F94-034B-7260-0DF9-3D50B2048B3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483007" y="4724400"/>
                    <a:ext cx="0" cy="116199"/>
                  </a:xfrm>
                  <a:prstGeom prst="line">
                    <a:avLst/>
                  </a:prstGeom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4" name="Straight Connector 93">
                    <a:extLst>
                      <a:ext uri="{FF2B5EF4-FFF2-40B4-BE49-F238E27FC236}">
                        <a16:creationId xmlns:a16="http://schemas.microsoft.com/office/drawing/2014/main" id="{2022F874-A9C3-B23C-B5EA-ED31BFDDDAA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618995" y="4724400"/>
                    <a:ext cx="0" cy="116199"/>
                  </a:xfrm>
                  <a:prstGeom prst="line">
                    <a:avLst/>
                  </a:prstGeom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5" name="Straight Connector 94">
                    <a:extLst>
                      <a:ext uri="{FF2B5EF4-FFF2-40B4-BE49-F238E27FC236}">
                        <a16:creationId xmlns:a16="http://schemas.microsoft.com/office/drawing/2014/main" id="{8ED205CF-825E-120D-F5B2-FC2A6005907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754983" y="4724400"/>
                    <a:ext cx="0" cy="116199"/>
                  </a:xfrm>
                  <a:prstGeom prst="line">
                    <a:avLst/>
                  </a:prstGeom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6" name="Straight Connector 95">
                    <a:extLst>
                      <a:ext uri="{FF2B5EF4-FFF2-40B4-BE49-F238E27FC236}">
                        <a16:creationId xmlns:a16="http://schemas.microsoft.com/office/drawing/2014/main" id="{D6488844-8378-094D-D188-DA228555910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890971" y="4724400"/>
                    <a:ext cx="0" cy="116199"/>
                  </a:xfrm>
                  <a:prstGeom prst="line">
                    <a:avLst/>
                  </a:prstGeom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7" name="Straight Connector 96">
                    <a:extLst>
                      <a:ext uri="{FF2B5EF4-FFF2-40B4-BE49-F238E27FC236}">
                        <a16:creationId xmlns:a16="http://schemas.microsoft.com/office/drawing/2014/main" id="{1C9A7F20-E748-C974-8438-235C60E989C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026959" y="4724400"/>
                    <a:ext cx="0" cy="116199"/>
                  </a:xfrm>
                  <a:prstGeom prst="line">
                    <a:avLst/>
                  </a:prstGeom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8" name="Straight Connector 97">
                    <a:extLst>
                      <a:ext uri="{FF2B5EF4-FFF2-40B4-BE49-F238E27FC236}">
                        <a16:creationId xmlns:a16="http://schemas.microsoft.com/office/drawing/2014/main" id="{C547D7A6-7E25-EB6C-28B8-F5764E78B99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162947" y="4724400"/>
                    <a:ext cx="0" cy="116199"/>
                  </a:xfrm>
                  <a:prstGeom prst="line">
                    <a:avLst/>
                  </a:prstGeom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9" name="Straight Connector 98">
                    <a:extLst>
                      <a:ext uri="{FF2B5EF4-FFF2-40B4-BE49-F238E27FC236}">
                        <a16:creationId xmlns:a16="http://schemas.microsoft.com/office/drawing/2014/main" id="{5055CEFC-FD61-58BB-B446-50162B80BDB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298935" y="4724400"/>
                    <a:ext cx="0" cy="116199"/>
                  </a:xfrm>
                  <a:prstGeom prst="line">
                    <a:avLst/>
                  </a:prstGeom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0" name="Straight Connector 99">
                    <a:extLst>
                      <a:ext uri="{FF2B5EF4-FFF2-40B4-BE49-F238E27FC236}">
                        <a16:creationId xmlns:a16="http://schemas.microsoft.com/office/drawing/2014/main" id="{E14E37EF-A202-B747-DCBE-B362BAA6C57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434923" y="4724400"/>
                    <a:ext cx="0" cy="116199"/>
                  </a:xfrm>
                  <a:prstGeom prst="line">
                    <a:avLst/>
                  </a:prstGeom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1" name="Straight Connector 100">
                    <a:extLst>
                      <a:ext uri="{FF2B5EF4-FFF2-40B4-BE49-F238E27FC236}">
                        <a16:creationId xmlns:a16="http://schemas.microsoft.com/office/drawing/2014/main" id="{897020D5-ADEA-BE8B-6DD5-F76D1C2CE7B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570911" y="4724400"/>
                    <a:ext cx="0" cy="116199"/>
                  </a:xfrm>
                  <a:prstGeom prst="line">
                    <a:avLst/>
                  </a:prstGeom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2" name="Straight Connector 101">
                    <a:extLst>
                      <a:ext uri="{FF2B5EF4-FFF2-40B4-BE49-F238E27FC236}">
                        <a16:creationId xmlns:a16="http://schemas.microsoft.com/office/drawing/2014/main" id="{18D1A7C2-86B2-FD47-D003-4F981BB9B80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706899" y="4724400"/>
                    <a:ext cx="0" cy="116199"/>
                  </a:xfrm>
                  <a:prstGeom prst="line">
                    <a:avLst/>
                  </a:prstGeom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3" name="Straight Connector 102">
                    <a:extLst>
                      <a:ext uri="{FF2B5EF4-FFF2-40B4-BE49-F238E27FC236}">
                        <a16:creationId xmlns:a16="http://schemas.microsoft.com/office/drawing/2014/main" id="{941F65A5-9E7F-D1C2-07E4-B3E554272FB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842887" y="4724400"/>
                    <a:ext cx="0" cy="116199"/>
                  </a:xfrm>
                  <a:prstGeom prst="line">
                    <a:avLst/>
                  </a:prstGeom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4" name="Straight Connector 103">
                    <a:extLst>
                      <a:ext uri="{FF2B5EF4-FFF2-40B4-BE49-F238E27FC236}">
                        <a16:creationId xmlns:a16="http://schemas.microsoft.com/office/drawing/2014/main" id="{F062D84D-3C4A-12E7-CCBA-23816905D87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978875" y="4724400"/>
                    <a:ext cx="0" cy="116199"/>
                  </a:xfrm>
                  <a:prstGeom prst="line">
                    <a:avLst/>
                  </a:prstGeom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5" name="Straight Connector 104">
                    <a:extLst>
                      <a:ext uri="{FF2B5EF4-FFF2-40B4-BE49-F238E27FC236}">
                        <a16:creationId xmlns:a16="http://schemas.microsoft.com/office/drawing/2014/main" id="{CE53C8A0-0E34-0355-34BB-5AC08043672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114863" y="4724400"/>
                    <a:ext cx="0" cy="116199"/>
                  </a:xfrm>
                  <a:prstGeom prst="line">
                    <a:avLst/>
                  </a:prstGeom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6" name="Straight Connector 105">
                    <a:extLst>
                      <a:ext uri="{FF2B5EF4-FFF2-40B4-BE49-F238E27FC236}">
                        <a16:creationId xmlns:a16="http://schemas.microsoft.com/office/drawing/2014/main" id="{56C56DFA-FC42-A64D-7D01-364FE60F17D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250851" y="4724400"/>
                    <a:ext cx="0" cy="116199"/>
                  </a:xfrm>
                  <a:prstGeom prst="line">
                    <a:avLst/>
                  </a:prstGeom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7" name="Straight Connector 106">
                    <a:extLst>
                      <a:ext uri="{FF2B5EF4-FFF2-40B4-BE49-F238E27FC236}">
                        <a16:creationId xmlns:a16="http://schemas.microsoft.com/office/drawing/2014/main" id="{465FA725-E320-1C1A-6553-90EB7A287ED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386835" y="4724400"/>
                    <a:ext cx="0" cy="116199"/>
                  </a:xfrm>
                  <a:prstGeom prst="line">
                    <a:avLst/>
                  </a:prstGeom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898EB00E-3759-9734-3174-70178D11217D}"/>
                  </a:ext>
                </a:extLst>
              </p:cNvPr>
              <p:cNvGrpSpPr/>
              <p:nvPr/>
            </p:nvGrpSpPr>
            <p:grpSpPr>
              <a:xfrm>
                <a:off x="5544671" y="4563550"/>
                <a:ext cx="4215616" cy="116200"/>
                <a:chOff x="1194619" y="4571999"/>
                <a:chExt cx="4215616" cy="116200"/>
              </a:xfrm>
            </p:grpSpPr>
            <p:cxnSp>
              <p:nvCxnSpPr>
                <p:cNvPr id="42" name="Straight Connector 41">
                  <a:extLst>
                    <a:ext uri="{FF2B5EF4-FFF2-40B4-BE49-F238E27FC236}">
                      <a16:creationId xmlns:a16="http://schemas.microsoft.com/office/drawing/2014/main" id="{BBCC8D08-CB95-0723-898B-6F1E8433EF4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194619" y="4572000"/>
                  <a:ext cx="0" cy="116199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" name="Straight Connector 42">
                  <a:extLst>
                    <a:ext uri="{FF2B5EF4-FFF2-40B4-BE49-F238E27FC236}">
                      <a16:creationId xmlns:a16="http://schemas.microsoft.com/office/drawing/2014/main" id="{C1631E88-D4FF-9B8A-A03E-59BC8D459E8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330607" y="4572000"/>
                  <a:ext cx="0" cy="116199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4" name="Straight Connector 43">
                  <a:extLst>
                    <a:ext uri="{FF2B5EF4-FFF2-40B4-BE49-F238E27FC236}">
                      <a16:creationId xmlns:a16="http://schemas.microsoft.com/office/drawing/2014/main" id="{E814BB3D-B807-CB98-4F43-5627D2A2327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466595" y="4572000"/>
                  <a:ext cx="0" cy="116199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" name="Straight Connector 44">
                  <a:extLst>
                    <a:ext uri="{FF2B5EF4-FFF2-40B4-BE49-F238E27FC236}">
                      <a16:creationId xmlns:a16="http://schemas.microsoft.com/office/drawing/2014/main" id="{CCFC86D3-668C-B89A-314C-FE888CDFB7D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602583" y="4572000"/>
                  <a:ext cx="0" cy="116199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6" name="Straight Connector 45">
                  <a:extLst>
                    <a:ext uri="{FF2B5EF4-FFF2-40B4-BE49-F238E27FC236}">
                      <a16:creationId xmlns:a16="http://schemas.microsoft.com/office/drawing/2014/main" id="{1E20990C-5493-1134-1855-5BE8EFB0C46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738571" y="4572000"/>
                  <a:ext cx="0" cy="116199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7" name="Straight Connector 46">
                  <a:extLst>
                    <a:ext uri="{FF2B5EF4-FFF2-40B4-BE49-F238E27FC236}">
                      <a16:creationId xmlns:a16="http://schemas.microsoft.com/office/drawing/2014/main" id="{2A7CB025-218B-9A3D-AFD4-6F6E17A54FB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874559" y="4572000"/>
                  <a:ext cx="0" cy="116199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8" name="Straight Connector 47">
                  <a:extLst>
                    <a:ext uri="{FF2B5EF4-FFF2-40B4-BE49-F238E27FC236}">
                      <a16:creationId xmlns:a16="http://schemas.microsoft.com/office/drawing/2014/main" id="{51A7B1B7-4FAF-39C7-6098-C292FE90B68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010547" y="4572000"/>
                  <a:ext cx="0" cy="116199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9" name="Straight Connector 48">
                  <a:extLst>
                    <a:ext uri="{FF2B5EF4-FFF2-40B4-BE49-F238E27FC236}">
                      <a16:creationId xmlns:a16="http://schemas.microsoft.com/office/drawing/2014/main" id="{41F73128-D91C-9266-B049-D142E8C2E7B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146535" y="4572000"/>
                  <a:ext cx="0" cy="116199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0" name="Straight Connector 49">
                  <a:extLst>
                    <a:ext uri="{FF2B5EF4-FFF2-40B4-BE49-F238E27FC236}">
                      <a16:creationId xmlns:a16="http://schemas.microsoft.com/office/drawing/2014/main" id="{9235AA35-E57A-4AC9-16D0-4235A0FE1E0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282523" y="4572000"/>
                  <a:ext cx="0" cy="116199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1" name="Straight Connector 50">
                  <a:extLst>
                    <a:ext uri="{FF2B5EF4-FFF2-40B4-BE49-F238E27FC236}">
                      <a16:creationId xmlns:a16="http://schemas.microsoft.com/office/drawing/2014/main" id="{0BF2456F-78AA-F44D-75CA-6A52DBD6CD0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418511" y="4572000"/>
                  <a:ext cx="0" cy="116199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2" name="Straight Connector 51">
                  <a:extLst>
                    <a:ext uri="{FF2B5EF4-FFF2-40B4-BE49-F238E27FC236}">
                      <a16:creationId xmlns:a16="http://schemas.microsoft.com/office/drawing/2014/main" id="{51B384A7-1FC8-6307-992B-3B2C5F6190F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554499" y="4572000"/>
                  <a:ext cx="0" cy="116199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3" name="Straight Connector 52">
                  <a:extLst>
                    <a:ext uri="{FF2B5EF4-FFF2-40B4-BE49-F238E27FC236}">
                      <a16:creationId xmlns:a16="http://schemas.microsoft.com/office/drawing/2014/main" id="{B967C73F-99E6-98D8-1D17-9BB41972047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690487" y="4572000"/>
                  <a:ext cx="0" cy="116199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" name="Straight Connector 53">
                  <a:extLst>
                    <a:ext uri="{FF2B5EF4-FFF2-40B4-BE49-F238E27FC236}">
                      <a16:creationId xmlns:a16="http://schemas.microsoft.com/office/drawing/2014/main" id="{37CBE778-A7B0-8DC0-22C1-45613619B0B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826475" y="4572000"/>
                  <a:ext cx="0" cy="116199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Straight Connector 54">
                  <a:extLst>
                    <a:ext uri="{FF2B5EF4-FFF2-40B4-BE49-F238E27FC236}">
                      <a16:creationId xmlns:a16="http://schemas.microsoft.com/office/drawing/2014/main" id="{72BD4CA2-9C58-644E-D551-EC8FC6171EC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962463" y="4572000"/>
                  <a:ext cx="0" cy="116199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Straight Connector 55">
                  <a:extLst>
                    <a:ext uri="{FF2B5EF4-FFF2-40B4-BE49-F238E27FC236}">
                      <a16:creationId xmlns:a16="http://schemas.microsoft.com/office/drawing/2014/main" id="{C5218CD1-9C3A-EB79-E8DB-81F72383EA8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098451" y="4572000"/>
                  <a:ext cx="0" cy="116199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Straight Connector 56">
                  <a:extLst>
                    <a:ext uri="{FF2B5EF4-FFF2-40B4-BE49-F238E27FC236}">
                      <a16:creationId xmlns:a16="http://schemas.microsoft.com/office/drawing/2014/main" id="{2687058E-5473-EB4F-B64C-C36D7DD7C1D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234435" y="4572000"/>
                  <a:ext cx="0" cy="116199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58" name="Group 57">
                  <a:extLst>
                    <a:ext uri="{FF2B5EF4-FFF2-40B4-BE49-F238E27FC236}">
                      <a16:creationId xmlns:a16="http://schemas.microsoft.com/office/drawing/2014/main" id="{DB303053-4118-D0A7-CCC7-E87888224809}"/>
                    </a:ext>
                  </a:extLst>
                </p:cNvPr>
                <p:cNvGrpSpPr/>
                <p:nvPr/>
              </p:nvGrpSpPr>
              <p:grpSpPr>
                <a:xfrm>
                  <a:off x="3370419" y="4571999"/>
                  <a:ext cx="2039816" cy="116199"/>
                  <a:chOff x="1347019" y="4724400"/>
                  <a:chExt cx="2039816" cy="116199"/>
                </a:xfrm>
              </p:grpSpPr>
              <p:cxnSp>
                <p:nvCxnSpPr>
                  <p:cNvPr id="59" name="Straight Connector 58">
                    <a:extLst>
                      <a:ext uri="{FF2B5EF4-FFF2-40B4-BE49-F238E27FC236}">
                        <a16:creationId xmlns:a16="http://schemas.microsoft.com/office/drawing/2014/main" id="{BF8A992C-E460-B46A-0B29-45D0E57571D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347019" y="4724400"/>
                    <a:ext cx="0" cy="116199"/>
                  </a:xfrm>
                  <a:prstGeom prst="line">
                    <a:avLst/>
                  </a:prstGeom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0" name="Straight Connector 59">
                    <a:extLst>
                      <a:ext uri="{FF2B5EF4-FFF2-40B4-BE49-F238E27FC236}">
                        <a16:creationId xmlns:a16="http://schemas.microsoft.com/office/drawing/2014/main" id="{B311B392-0F13-4FCB-6746-D1E2B4AC45D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483007" y="4724400"/>
                    <a:ext cx="0" cy="116199"/>
                  </a:xfrm>
                  <a:prstGeom prst="line">
                    <a:avLst/>
                  </a:prstGeom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1" name="Straight Connector 60">
                    <a:extLst>
                      <a:ext uri="{FF2B5EF4-FFF2-40B4-BE49-F238E27FC236}">
                        <a16:creationId xmlns:a16="http://schemas.microsoft.com/office/drawing/2014/main" id="{A8F36ED1-F90C-FCA1-64E3-D0FC08EF679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618995" y="4724400"/>
                    <a:ext cx="0" cy="116199"/>
                  </a:xfrm>
                  <a:prstGeom prst="line">
                    <a:avLst/>
                  </a:prstGeom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2" name="Straight Connector 61">
                    <a:extLst>
                      <a:ext uri="{FF2B5EF4-FFF2-40B4-BE49-F238E27FC236}">
                        <a16:creationId xmlns:a16="http://schemas.microsoft.com/office/drawing/2014/main" id="{6BC82C94-B237-5CD1-3AB9-37506BC6D3D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754983" y="4724400"/>
                    <a:ext cx="0" cy="116199"/>
                  </a:xfrm>
                  <a:prstGeom prst="line">
                    <a:avLst/>
                  </a:prstGeom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3" name="Straight Connector 62">
                    <a:extLst>
                      <a:ext uri="{FF2B5EF4-FFF2-40B4-BE49-F238E27FC236}">
                        <a16:creationId xmlns:a16="http://schemas.microsoft.com/office/drawing/2014/main" id="{13910E17-B743-D565-76DE-E797B68FFC8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890971" y="4724400"/>
                    <a:ext cx="0" cy="116199"/>
                  </a:xfrm>
                  <a:prstGeom prst="line">
                    <a:avLst/>
                  </a:prstGeom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4" name="Straight Connector 63">
                    <a:extLst>
                      <a:ext uri="{FF2B5EF4-FFF2-40B4-BE49-F238E27FC236}">
                        <a16:creationId xmlns:a16="http://schemas.microsoft.com/office/drawing/2014/main" id="{CBD0481C-0BA6-FEEC-9882-44FA54391E4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026959" y="4724400"/>
                    <a:ext cx="0" cy="116199"/>
                  </a:xfrm>
                  <a:prstGeom prst="line">
                    <a:avLst/>
                  </a:prstGeom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5" name="Straight Connector 64">
                    <a:extLst>
                      <a:ext uri="{FF2B5EF4-FFF2-40B4-BE49-F238E27FC236}">
                        <a16:creationId xmlns:a16="http://schemas.microsoft.com/office/drawing/2014/main" id="{E8668BDD-CDAA-1397-B79D-6C31F72BE6C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162947" y="4724400"/>
                    <a:ext cx="0" cy="116199"/>
                  </a:xfrm>
                  <a:prstGeom prst="line">
                    <a:avLst/>
                  </a:prstGeom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6" name="Straight Connector 65">
                    <a:extLst>
                      <a:ext uri="{FF2B5EF4-FFF2-40B4-BE49-F238E27FC236}">
                        <a16:creationId xmlns:a16="http://schemas.microsoft.com/office/drawing/2014/main" id="{BF7ABD7E-09E2-C2FF-D3F6-C2E17E77747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298935" y="4724400"/>
                    <a:ext cx="0" cy="116199"/>
                  </a:xfrm>
                  <a:prstGeom prst="line">
                    <a:avLst/>
                  </a:prstGeom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7" name="Straight Connector 66">
                    <a:extLst>
                      <a:ext uri="{FF2B5EF4-FFF2-40B4-BE49-F238E27FC236}">
                        <a16:creationId xmlns:a16="http://schemas.microsoft.com/office/drawing/2014/main" id="{D716706C-6F09-4546-30E4-7438829B0B9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434923" y="4724400"/>
                    <a:ext cx="0" cy="116199"/>
                  </a:xfrm>
                  <a:prstGeom prst="line">
                    <a:avLst/>
                  </a:prstGeom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8" name="Straight Connector 67">
                    <a:extLst>
                      <a:ext uri="{FF2B5EF4-FFF2-40B4-BE49-F238E27FC236}">
                        <a16:creationId xmlns:a16="http://schemas.microsoft.com/office/drawing/2014/main" id="{F2D38D96-F281-FA62-8243-F9998A1D560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570911" y="4724400"/>
                    <a:ext cx="0" cy="116199"/>
                  </a:xfrm>
                  <a:prstGeom prst="line">
                    <a:avLst/>
                  </a:prstGeom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9" name="Straight Connector 68">
                    <a:extLst>
                      <a:ext uri="{FF2B5EF4-FFF2-40B4-BE49-F238E27FC236}">
                        <a16:creationId xmlns:a16="http://schemas.microsoft.com/office/drawing/2014/main" id="{DA07CCBD-13C5-5084-DDF0-0F635CBF438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706899" y="4724400"/>
                    <a:ext cx="0" cy="116199"/>
                  </a:xfrm>
                  <a:prstGeom prst="line">
                    <a:avLst/>
                  </a:prstGeom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0" name="Straight Connector 69">
                    <a:extLst>
                      <a:ext uri="{FF2B5EF4-FFF2-40B4-BE49-F238E27FC236}">
                        <a16:creationId xmlns:a16="http://schemas.microsoft.com/office/drawing/2014/main" id="{A7538561-AD38-5365-3F56-FB4D5DBD4D6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842887" y="4724400"/>
                    <a:ext cx="0" cy="116199"/>
                  </a:xfrm>
                  <a:prstGeom prst="line">
                    <a:avLst/>
                  </a:prstGeom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1" name="Straight Connector 70">
                    <a:extLst>
                      <a:ext uri="{FF2B5EF4-FFF2-40B4-BE49-F238E27FC236}">
                        <a16:creationId xmlns:a16="http://schemas.microsoft.com/office/drawing/2014/main" id="{5B97828D-F11E-4D16-7DFA-D32F7D122EB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978875" y="4724400"/>
                    <a:ext cx="0" cy="116199"/>
                  </a:xfrm>
                  <a:prstGeom prst="line">
                    <a:avLst/>
                  </a:prstGeom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2" name="Straight Connector 71">
                    <a:extLst>
                      <a:ext uri="{FF2B5EF4-FFF2-40B4-BE49-F238E27FC236}">
                        <a16:creationId xmlns:a16="http://schemas.microsoft.com/office/drawing/2014/main" id="{717A1609-BAAF-18BC-322C-2C1E87B0636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114863" y="4724400"/>
                    <a:ext cx="0" cy="116199"/>
                  </a:xfrm>
                  <a:prstGeom prst="line">
                    <a:avLst/>
                  </a:prstGeom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3" name="Straight Connector 72">
                    <a:extLst>
                      <a:ext uri="{FF2B5EF4-FFF2-40B4-BE49-F238E27FC236}">
                        <a16:creationId xmlns:a16="http://schemas.microsoft.com/office/drawing/2014/main" id="{541E3BE0-D12A-C157-3370-5F20B62FA0C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250851" y="4724400"/>
                    <a:ext cx="0" cy="116199"/>
                  </a:xfrm>
                  <a:prstGeom prst="line">
                    <a:avLst/>
                  </a:prstGeom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4" name="Straight Connector 73">
                    <a:extLst>
                      <a:ext uri="{FF2B5EF4-FFF2-40B4-BE49-F238E27FC236}">
                        <a16:creationId xmlns:a16="http://schemas.microsoft.com/office/drawing/2014/main" id="{3478882E-68D1-AB2A-4EF2-E36AD3E799F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386835" y="4724400"/>
                    <a:ext cx="0" cy="116199"/>
                  </a:xfrm>
                  <a:prstGeom prst="line">
                    <a:avLst/>
                  </a:prstGeom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0588ABC8-24BC-3449-1B9A-21E757C2952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905198" y="4563550"/>
                <a:ext cx="0" cy="116199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7BD7337C-9FEC-701D-2843-48E23274172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041186" y="4563550"/>
                <a:ext cx="0" cy="116199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CC0B0B0D-0F39-8875-069E-80A3AB553CF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177174" y="4563550"/>
                <a:ext cx="0" cy="116199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>
                <a:extLst>
                  <a:ext uri="{FF2B5EF4-FFF2-40B4-BE49-F238E27FC236}">
                    <a16:creationId xmlns:a16="http://schemas.microsoft.com/office/drawing/2014/main" id="{5EEAA4AE-4418-057C-5837-AEC57875E6C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313162" y="4563550"/>
                <a:ext cx="0" cy="116199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>
                <a:extLst>
                  <a:ext uri="{FF2B5EF4-FFF2-40B4-BE49-F238E27FC236}">
                    <a16:creationId xmlns:a16="http://schemas.microsoft.com/office/drawing/2014/main" id="{C212D674-4641-FA5F-A791-2E560E3975E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449150" y="4563550"/>
                <a:ext cx="0" cy="116199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>
                <a:extLst>
                  <a:ext uri="{FF2B5EF4-FFF2-40B4-BE49-F238E27FC236}">
                    <a16:creationId xmlns:a16="http://schemas.microsoft.com/office/drawing/2014/main" id="{93892984-0CB6-0C5A-75B5-31DA0766DC6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585138" y="4563550"/>
                <a:ext cx="0" cy="116199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0C345E97-6D97-9E2E-D716-9C3A2514007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721126" y="4563550"/>
                <a:ext cx="0" cy="116199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3CB341CF-1856-037C-D986-2A99FD5CCF9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857114" y="4563550"/>
                <a:ext cx="0" cy="116199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057D0377-E6BC-35D5-418A-A643A588D5D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993102" y="4563550"/>
                <a:ext cx="0" cy="116199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1DC1F487-7162-AC57-9EE7-C1F468B3C8A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129090" y="4563550"/>
                <a:ext cx="0" cy="116199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Connector 37">
                <a:extLst>
                  <a:ext uri="{FF2B5EF4-FFF2-40B4-BE49-F238E27FC236}">
                    <a16:creationId xmlns:a16="http://schemas.microsoft.com/office/drawing/2014/main" id="{D9CF27B2-B702-9DEC-E68D-7D8126C5ADD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265078" y="4563550"/>
                <a:ext cx="0" cy="116199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35E876BD-439C-A21A-55CC-CE12F14A0D0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401066" y="4563550"/>
                <a:ext cx="0" cy="116199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Connector 39">
                <a:extLst>
                  <a:ext uri="{FF2B5EF4-FFF2-40B4-BE49-F238E27FC236}">
                    <a16:creationId xmlns:a16="http://schemas.microsoft.com/office/drawing/2014/main" id="{612565A9-53AB-13E5-E8E0-480E00CB33C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537054" y="4563550"/>
                <a:ext cx="0" cy="116199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Straight Connector 40">
                <a:extLst>
                  <a:ext uri="{FF2B5EF4-FFF2-40B4-BE49-F238E27FC236}">
                    <a16:creationId xmlns:a16="http://schemas.microsoft.com/office/drawing/2014/main" id="{370FF2AE-D9D1-7BEA-1B79-DB56C8DA33C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673042" y="4563550"/>
                <a:ext cx="0" cy="116199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08" name="TextBox 107">
            <a:extLst>
              <a:ext uri="{FF2B5EF4-FFF2-40B4-BE49-F238E27FC236}">
                <a16:creationId xmlns:a16="http://schemas.microsoft.com/office/drawing/2014/main" id="{3DAE7667-A6F7-B8A4-ABC7-42B2B6D1A960}"/>
              </a:ext>
            </a:extLst>
          </p:cNvPr>
          <p:cNvSpPr txBox="1"/>
          <p:nvPr/>
        </p:nvSpPr>
        <p:spPr>
          <a:xfrm>
            <a:off x="203535" y="2738320"/>
            <a:ext cx="200625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indicate spikes</a:t>
            </a:r>
          </a:p>
        </p:txBody>
      </p:sp>
    </p:spTree>
    <p:extLst>
      <p:ext uri="{BB962C8B-B14F-4D97-AF65-F5344CB8AC3E}">
        <p14:creationId xmlns:p14="http://schemas.microsoft.com/office/powerpoint/2010/main" val="12289322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27" grpId="0"/>
      <p:bldP spid="29" grpId="0"/>
      <p:bldP spid="10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27A981-4710-7A90-677D-FB78FA564A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Why?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E48A30B-B494-DC8A-B250-5772C62C417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325563"/>
                <a:ext cx="10515600" cy="1325563"/>
              </a:xfrm>
            </p:spPr>
            <p:txBody>
              <a:bodyPr>
                <a:noAutofit/>
              </a:bodyPr>
              <a:lstStyle/>
              <a:p>
                <a:r>
                  <a:rPr lang="en-US" b="1" dirty="0"/>
                  <a:t>Q: </a:t>
                </a:r>
                <a:r>
                  <a:rPr lang="en-US" dirty="0"/>
                  <a:t>Why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𝑑𝑛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?</a:t>
                </a:r>
              </a:p>
              <a:p>
                <a:endParaRPr lang="en-US" sz="1200" dirty="0"/>
              </a:p>
              <a:p>
                <a:r>
                  <a:rPr lang="en-US" b="1" dirty="0"/>
                  <a:t>A: </a:t>
                </a:r>
                <a:r>
                  <a:rPr lang="en-US" dirty="0"/>
                  <a:t>Consider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𝑛</m:t>
                    </m:r>
                    <m:d>
                      <m:d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en-US" sz="2800" dirty="0"/>
                  <a:t> = the number of spikes that occur from 0 to t. 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E48A30B-B494-DC8A-B250-5772C62C417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325563"/>
                <a:ext cx="10515600" cy="1325563"/>
              </a:xfrm>
              <a:blipFill>
                <a:blip r:embed="rId2"/>
                <a:stretch>
                  <a:fillRect l="-1206" t="-7619" b="-104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" name="Group 10">
            <a:extLst>
              <a:ext uri="{FF2B5EF4-FFF2-40B4-BE49-F238E27FC236}">
                <a16:creationId xmlns:a16="http://schemas.microsoft.com/office/drawing/2014/main" id="{C53BEB1D-C578-8386-A5E7-3F5A79A8467D}"/>
              </a:ext>
            </a:extLst>
          </p:cNvPr>
          <p:cNvGrpSpPr/>
          <p:nvPr/>
        </p:nvGrpSpPr>
        <p:grpSpPr>
          <a:xfrm>
            <a:off x="624058" y="2979981"/>
            <a:ext cx="6454555" cy="3486150"/>
            <a:chOff x="3062711" y="3086100"/>
            <a:chExt cx="6454555" cy="3486150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55E49A2B-FFBC-5F78-573C-E94DA06DB59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062711" y="3086100"/>
              <a:ext cx="6454555" cy="3486150"/>
            </a:xfrm>
            <a:prstGeom prst="rect">
              <a:avLst/>
            </a:prstGeom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8EE57BDE-46A6-6215-20FD-147A8D29A774}"/>
                </a:ext>
              </a:extLst>
            </p:cNvPr>
            <p:cNvSpPr/>
            <p:nvPr/>
          </p:nvSpPr>
          <p:spPr>
            <a:xfrm>
              <a:off x="4953000" y="5391150"/>
              <a:ext cx="342900" cy="5334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645FDCE4-96A0-F777-9EB8-AE11C128409D}"/>
                </a:ext>
              </a:extLst>
            </p:cNvPr>
            <p:cNvSpPr/>
            <p:nvPr/>
          </p:nvSpPr>
          <p:spPr>
            <a:xfrm>
              <a:off x="5867400" y="4829175"/>
              <a:ext cx="342900" cy="5334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955032D5-8EF4-ACF8-7251-255CB9788655}"/>
                </a:ext>
              </a:extLst>
            </p:cNvPr>
            <p:cNvSpPr/>
            <p:nvPr/>
          </p:nvSpPr>
          <p:spPr>
            <a:xfrm>
              <a:off x="6289988" y="4363974"/>
              <a:ext cx="342900" cy="5334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E28DEFB5-98D2-8247-1C67-39A83523C47B}"/>
              </a:ext>
            </a:extLst>
          </p:cNvPr>
          <p:cNvSpPr txBox="1"/>
          <p:nvPr/>
        </p:nvSpPr>
        <p:spPr>
          <a:xfrm>
            <a:off x="1789539" y="4558869"/>
            <a:ext cx="33534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B6AF654-D83B-4670-142D-1EE2A557B42E}"/>
              </a:ext>
            </a:extLst>
          </p:cNvPr>
          <p:cNvSpPr txBox="1"/>
          <p:nvPr/>
        </p:nvSpPr>
        <p:spPr>
          <a:xfrm>
            <a:off x="1814533" y="5066297"/>
            <a:ext cx="33534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FBC9186-C0F0-E94E-CAAB-03FA9BF69391}"/>
              </a:ext>
            </a:extLst>
          </p:cNvPr>
          <p:cNvSpPr txBox="1"/>
          <p:nvPr/>
        </p:nvSpPr>
        <p:spPr>
          <a:xfrm>
            <a:off x="1814533" y="4051441"/>
            <a:ext cx="33534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F4E192E4-4772-9A32-85D5-9D5A733AB42F}"/>
                  </a:ext>
                </a:extLst>
              </p:cNvPr>
              <p:cNvSpPr txBox="1"/>
              <p:nvPr/>
            </p:nvSpPr>
            <p:spPr>
              <a:xfrm>
                <a:off x="6743331" y="3574386"/>
                <a:ext cx="5230021" cy="138499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𝑑𝑛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800" dirty="0"/>
                  <a:t> is the change in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800" dirty="0"/>
              </a:p>
              <a:p>
                <a:endParaRPr lang="en-US" sz="2800" dirty="0"/>
              </a:p>
              <a:p>
                <a:r>
                  <a:rPr lang="en-US" sz="2800" dirty="0"/>
                  <a:t>Either 0 or 1 when a spike occurs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F4E192E4-4772-9A32-85D5-9D5A733AB4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43331" y="3574386"/>
                <a:ext cx="5230021" cy="1384995"/>
              </a:xfrm>
              <a:prstGeom prst="rect">
                <a:avLst/>
              </a:prstGeom>
              <a:blipFill>
                <a:blip r:embed="rId4"/>
                <a:stretch>
                  <a:fillRect l="-2421" t="-4545" r="-1453" b="-118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230248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8" grpId="0"/>
      <p:bldP spid="9" grpId="0"/>
      <p:bldP spid="1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oup 26">
            <a:extLst>
              <a:ext uri="{FF2B5EF4-FFF2-40B4-BE49-F238E27FC236}">
                <a16:creationId xmlns:a16="http://schemas.microsoft.com/office/drawing/2014/main" id="{A56A0225-86C8-C3EF-A83D-6C3C565D1466}"/>
              </a:ext>
            </a:extLst>
          </p:cNvPr>
          <p:cNvGrpSpPr/>
          <p:nvPr/>
        </p:nvGrpSpPr>
        <p:grpSpPr>
          <a:xfrm>
            <a:off x="4989747" y="3528627"/>
            <a:ext cx="4508564" cy="2731466"/>
            <a:chOff x="4989747" y="3528627"/>
            <a:chExt cx="4508564" cy="2731466"/>
          </a:xfrm>
        </p:grpSpPr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A7DC5F20-0D21-5CC5-B730-C372E802FCB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989747" y="3528627"/>
              <a:ext cx="4508564" cy="2731466"/>
            </a:xfrm>
            <a:prstGeom prst="rect">
              <a:avLst/>
            </a:prstGeom>
          </p:spPr>
        </p:pic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D6C76CD7-DC42-91C8-541B-476778BBD03A}"/>
                </a:ext>
              </a:extLst>
            </p:cNvPr>
            <p:cNvSpPr txBox="1"/>
            <p:nvPr/>
          </p:nvSpPr>
          <p:spPr>
            <a:xfrm>
              <a:off x="6280258" y="3868933"/>
              <a:ext cx="7097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spike</a:t>
              </a: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78A7A2E3-2169-69EE-3946-74C838362E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Subtract the mean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929E2E-307C-91BC-9565-17CC471292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Define: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 useBgFill="1">
            <p:nvSpPr>
              <p:cNvPr id="4" name="TextBox 3">
                <a:extLst>
                  <a:ext uri="{FF2B5EF4-FFF2-40B4-BE49-F238E27FC236}">
                    <a16:creationId xmlns:a16="http://schemas.microsoft.com/office/drawing/2014/main" id="{CA17B779-D19B-E853-D5B5-83A1AB20678E}"/>
                  </a:ext>
                </a:extLst>
              </p:cNvPr>
              <p:cNvSpPr txBox="1"/>
              <p:nvPr/>
            </p:nvSpPr>
            <p:spPr>
              <a:xfrm>
                <a:off x="2494173" y="1373843"/>
                <a:ext cx="3358933" cy="523220"/>
              </a:xfrm>
              <a:prstGeom prst="rect">
                <a:avLst/>
              </a:prstGeom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800" b="0" i="0" smtClean="0">
                        <a:latin typeface="Cambria Math" panose="02040503050406030204" pitchFamily="18" charset="0"/>
                      </a:rPr>
                      <m:t>d</m:t>
                    </m:r>
                    <m:acc>
                      <m:accPr>
                        <m:chr m:val="̅"/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en-US" sz="2800" b="0" i="0" smtClean="0">
                            <a:latin typeface="Cambria Math" panose="02040503050406030204" pitchFamily="18" charset="0"/>
                          </a:rPr>
                          <m:t>n</m:t>
                        </m:r>
                      </m:e>
                    </m:acc>
                    <m:r>
                      <m:rPr>
                        <m:nor/>
                      </m:rPr>
                      <a:rPr lang="en-US" sz="2800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US" sz="2800" b="0" i="0" smtClean="0">
                        <a:latin typeface="Cambria Math" panose="02040503050406030204" pitchFamily="18" charset="0"/>
                      </a:rPr>
                      <m:t>t</m:t>
                    </m:r>
                    <m:r>
                      <m:rPr>
                        <m:nor/>
                      </m:rPr>
                      <a:rPr lang="en-US" sz="2800" b="0" i="0" smtClean="0">
                        <a:latin typeface="Cambria Math" panose="02040503050406030204" pitchFamily="18" charset="0"/>
                      </a:rPr>
                      <m:t>) = </m:t>
                    </m:r>
                    <m:r>
                      <m:rPr>
                        <m:nor/>
                      </m:rPr>
                      <a:rPr lang="en-US" sz="2800" b="0" i="0" smtClean="0">
                        <a:latin typeface="Cambria Math" panose="02040503050406030204" pitchFamily="18" charset="0"/>
                      </a:rPr>
                      <m:t>dn</m:t>
                    </m:r>
                    <m:r>
                      <m:rPr>
                        <m:nor/>
                      </m:rPr>
                      <a:rPr lang="en-US" sz="2800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US" sz="2800" b="0" i="0" smtClean="0">
                        <a:latin typeface="Cambria Math" panose="02040503050406030204" pitchFamily="18" charset="0"/>
                      </a:rPr>
                      <m:t>t</m:t>
                    </m:r>
                    <m:r>
                      <m:rPr>
                        <m:nor/>
                      </m:rPr>
                      <a:rPr lang="en-US" sz="2800" b="0" i="0" smtClean="0">
                        <a:latin typeface="Cambria Math" panose="02040503050406030204" pitchFamily="18" charset="0"/>
                      </a:rPr>
                      <m:t>) 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–</m:t>
                    </m:r>
                    <m:r>
                      <m:rPr>
                        <m:nor/>
                      </m:rPr>
                      <a:rPr lang="en-US" sz="2800" b="0" i="0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λ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𝑜</m:t>
                        </m:r>
                      </m:sub>
                    </m:sSub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m:rPr>
                        <m:nor/>
                      </m:rPr>
                      <a:rPr lang="en-US" sz="2800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800" dirty="0"/>
                  <a:t> </a:t>
                </a:r>
              </a:p>
            </p:txBody>
          </p:sp>
        </mc:Choice>
        <mc:Fallback xmlns="">
          <p:sp useBgFill="1">
            <p:nvSpPr>
              <p:cNvPr id="4" name="TextBox 3">
                <a:extLst>
                  <a:ext uri="{FF2B5EF4-FFF2-40B4-BE49-F238E27FC236}">
                    <a16:creationId xmlns:a16="http://schemas.microsoft.com/office/drawing/2014/main" id="{CA17B779-D19B-E853-D5B5-83A1AB2067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94173" y="1373843"/>
                <a:ext cx="3358933" cy="523220"/>
              </a:xfrm>
              <a:prstGeom prst="rect">
                <a:avLst/>
              </a:prstGeom>
              <a:blipFill>
                <a:blip r:embed="rId3"/>
                <a:stretch>
                  <a:fillRect l="-1132" b="-21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Group 5">
            <a:extLst>
              <a:ext uri="{FF2B5EF4-FFF2-40B4-BE49-F238E27FC236}">
                <a16:creationId xmlns:a16="http://schemas.microsoft.com/office/drawing/2014/main" id="{14DE28A8-27D5-34EB-6C78-79141EA20C70}"/>
              </a:ext>
            </a:extLst>
          </p:cNvPr>
          <p:cNvGrpSpPr/>
          <p:nvPr/>
        </p:nvGrpSpPr>
        <p:grpSpPr>
          <a:xfrm>
            <a:off x="2494173" y="2064731"/>
            <a:ext cx="8491975" cy="539867"/>
            <a:chOff x="2494173" y="2064731"/>
            <a:chExt cx="8491975" cy="539867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B9C3AE28-E1E4-59C5-B8CC-82D5297F3AD6}"/>
                </a:ext>
              </a:extLst>
            </p:cNvPr>
            <p:cNvSpPr txBox="1"/>
            <p:nvPr/>
          </p:nvSpPr>
          <p:spPr>
            <a:xfrm>
              <a:off x="2494173" y="2064731"/>
              <a:ext cx="1207254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where 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B2C554EB-C0F8-061C-0518-A814FD7E47DD}"/>
                    </a:ext>
                  </a:extLst>
                </p:cNvPr>
                <p:cNvSpPr txBox="1"/>
                <p:nvPr/>
              </p:nvSpPr>
              <p:spPr>
                <a:xfrm>
                  <a:off x="4890148" y="2081378"/>
                  <a:ext cx="6096000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λ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</m:oMath>
                  </a14:m>
                  <a:r>
                    <a:rPr lang="en-US" sz="2800" dirty="0"/>
                    <a:t> = mean spike rate</a:t>
                  </a:r>
                </a:p>
              </p:txBody>
            </p:sp>
          </mc:Choice>
          <mc:Fallback xmlns="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B2C554EB-C0F8-061C-0518-A814FD7E47D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90148" y="2081378"/>
                  <a:ext cx="6096000" cy="523220"/>
                </a:xfrm>
                <a:prstGeom prst="rect">
                  <a:avLst/>
                </a:prstGeom>
                <a:blipFill>
                  <a:blip r:embed="rId4"/>
                  <a:stretch>
                    <a:fillRect l="-416" t="-11905" b="-33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F750387-9C4F-7493-695E-497E956683C2}"/>
                  </a:ext>
                </a:extLst>
              </p:cNvPr>
              <p:cNvSpPr txBox="1"/>
              <p:nvPr/>
            </p:nvSpPr>
            <p:spPr>
              <a:xfrm>
                <a:off x="5347390" y="2857201"/>
                <a:ext cx="1597725" cy="85549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400" dirty="0"/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3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3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34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sz="3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sz="34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den>
                    </m:f>
                  </m:oMath>
                </a14:m>
                <a:endParaRPr lang="en-US" sz="34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F750387-9C4F-7493-695E-497E956683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47390" y="2857201"/>
                <a:ext cx="1597725" cy="855491"/>
              </a:xfrm>
              <a:prstGeom prst="rect">
                <a:avLst/>
              </a:prstGeom>
              <a:blipFill>
                <a:blip r:embed="rId5"/>
                <a:stretch>
                  <a:fillRect l="-10236" b="-117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C32CDCD-F974-E513-057E-7CBACDA20BB5}"/>
                  </a:ext>
                </a:extLst>
              </p:cNvPr>
              <p:cNvSpPr txBox="1"/>
              <p:nvPr/>
            </p:nvSpPr>
            <p:spPr>
              <a:xfrm>
                <a:off x="1453843" y="2990540"/>
                <a:ext cx="3535904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/>
                  <a:t>estimate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λ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𝑜</m:t>
                        </m:r>
                      </m:sub>
                    </m:sSub>
                  </m:oMath>
                </a14:m>
                <a:r>
                  <a:rPr lang="en-US" sz="2800" dirty="0"/>
                  <a:t> from data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C32CDCD-F974-E513-057E-7CBACDA20B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53843" y="2990540"/>
                <a:ext cx="3535904" cy="523220"/>
              </a:xfrm>
              <a:prstGeom prst="rect">
                <a:avLst/>
              </a:prstGeom>
              <a:blipFill>
                <a:blip r:embed="rId6"/>
                <a:stretch>
                  <a:fillRect l="-3571" t="-11905" r="-2500"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110F1CC-6E85-80CC-655B-DEC2E66A39F7}"/>
                  </a:ext>
                </a:extLst>
              </p:cNvPr>
              <p:cNvSpPr txBox="1"/>
              <p:nvPr/>
            </p:nvSpPr>
            <p:spPr>
              <a:xfrm>
                <a:off x="844119" y="4253403"/>
                <a:ext cx="6100996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</m:oMath>
                </a14:m>
                <a:r>
                  <a:rPr lang="en-US" sz="2800" dirty="0"/>
                  <a:t> = time bin</a:t>
                </a: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110F1CC-6E85-80CC-655B-DEC2E66A39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4119" y="4253403"/>
                <a:ext cx="6100996" cy="523220"/>
              </a:xfrm>
              <a:prstGeom prst="rect">
                <a:avLst/>
              </a:prstGeom>
              <a:blipFill>
                <a:blip r:embed="rId7"/>
                <a:stretch>
                  <a:fillRect l="-624" t="-14286" b="-309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41DD305A-7078-A56C-6C78-9055BB7BAA83}"/>
              </a:ext>
            </a:extLst>
          </p:cNvPr>
          <p:cNvSpPr txBox="1"/>
          <p:nvPr/>
        </p:nvSpPr>
        <p:spPr>
          <a:xfrm>
            <a:off x="2762548" y="4236756"/>
            <a:ext cx="187775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(e.g., 1 </a:t>
            </a:r>
            <a:r>
              <a:rPr lang="en-US" sz="2800" dirty="0" err="1"/>
              <a:t>ms</a:t>
            </a:r>
            <a:r>
              <a:rPr lang="en-US" sz="2800" dirty="0"/>
              <a:t>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C83CDA5-740A-5C32-1CD6-D0C220C5135E}"/>
              </a:ext>
            </a:extLst>
          </p:cNvPr>
          <p:cNvSpPr txBox="1"/>
          <p:nvPr/>
        </p:nvSpPr>
        <p:spPr>
          <a:xfrm>
            <a:off x="6635131" y="4853041"/>
            <a:ext cx="3689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u="sng" dirty="0"/>
              <a:t>at most </a:t>
            </a:r>
            <a:r>
              <a:rPr lang="en-US" sz="2800" dirty="0"/>
              <a:t>1 spike in a bin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5C6DA458-D597-9A5B-7BEC-ADE67A23B859}"/>
                  </a:ext>
                </a:extLst>
              </p:cNvPr>
              <p:cNvSpPr txBox="1"/>
              <p:nvPr/>
            </p:nvSpPr>
            <p:spPr>
              <a:xfrm>
                <a:off x="362703" y="6082594"/>
                <a:ext cx="1026826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λ</m:t>
                          </m:r>
                        </m:e>
                        <m:sub>
                          <m:r>
                            <a:rPr 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  <m:r>
                        <a:rPr lang="en-US" sz="28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5C6DA458-D597-9A5B-7BEC-ADE67A23B8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2703" y="6082594"/>
                <a:ext cx="1026826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extBox 20">
            <a:extLst>
              <a:ext uri="{FF2B5EF4-FFF2-40B4-BE49-F238E27FC236}">
                <a16:creationId xmlns:a16="http://schemas.microsoft.com/office/drawing/2014/main" id="{5BBCE446-788B-3320-AF75-5877761FFD3B}"/>
              </a:ext>
            </a:extLst>
          </p:cNvPr>
          <p:cNvSpPr txBox="1"/>
          <p:nvPr/>
        </p:nvSpPr>
        <p:spPr>
          <a:xfrm>
            <a:off x="1116390" y="6099885"/>
            <a:ext cx="754751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= expected number of spikes in a single time bin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0EF19C19-0B7A-2EA3-912A-842A8BBFF367}"/>
              </a:ext>
            </a:extLst>
          </p:cNvPr>
          <p:cNvGrpSpPr/>
          <p:nvPr/>
        </p:nvGrpSpPr>
        <p:grpSpPr>
          <a:xfrm>
            <a:off x="6480561" y="2805002"/>
            <a:ext cx="5711439" cy="523220"/>
            <a:chOff x="6480561" y="2805002"/>
            <a:chExt cx="5711439" cy="523220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28F5E59E-9FF4-3AC6-5755-6494A756621E}"/>
                </a:ext>
              </a:extLst>
            </p:cNvPr>
            <p:cNvSpPr txBox="1"/>
            <p:nvPr/>
          </p:nvSpPr>
          <p:spPr>
            <a:xfrm>
              <a:off x="6751215" y="2805002"/>
              <a:ext cx="5440785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number of spikes after total time T</a:t>
              </a:r>
            </a:p>
          </p:txBody>
        </p:sp>
        <p:sp>
          <p:nvSpPr>
            <p:cNvPr id="22" name="Line">
              <a:extLst>
                <a:ext uri="{FF2B5EF4-FFF2-40B4-BE49-F238E27FC236}">
                  <a16:creationId xmlns:a16="http://schemas.microsoft.com/office/drawing/2014/main" id="{5FB71583-FFA1-E28B-0A6E-065276944E0D}"/>
                </a:ext>
              </a:extLst>
            </p:cNvPr>
            <p:cNvSpPr/>
            <p:nvPr/>
          </p:nvSpPr>
          <p:spPr>
            <a:xfrm>
              <a:off x="6480561" y="3082123"/>
              <a:ext cx="330954" cy="0"/>
            </a:xfrm>
            <a:prstGeom prst="line">
              <a:avLst/>
            </a:prstGeom>
            <a:noFill/>
            <a:ln w="50800" cap="flat">
              <a:solidFill>
                <a:srgbClr val="FF4013"/>
              </a:solidFill>
              <a:prstDash val="solid"/>
              <a:miter lim="400000"/>
              <a:headEnd type="stealth" w="med" len="med"/>
            </a:ln>
            <a:effectLst/>
          </p:spPr>
          <p:txBody>
            <a:bodyPr wrap="square" lIns="35719" tIns="35719" rIns="35719" bIns="35719" numCol="1" anchor="ctr">
              <a:noAutofit/>
            </a:bodyPr>
            <a:lstStyle/>
            <a:p>
              <a:pPr defTabSz="321457"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  <a:endParaRPr sz="844" dirty="0"/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0818C230-29BB-1227-BBCA-2AD115ADD2FC}"/>
              </a:ext>
            </a:extLst>
          </p:cNvPr>
          <p:cNvGrpSpPr/>
          <p:nvPr/>
        </p:nvGrpSpPr>
        <p:grpSpPr>
          <a:xfrm>
            <a:off x="6480561" y="3272551"/>
            <a:ext cx="1999274" cy="523220"/>
            <a:chOff x="6480561" y="3272551"/>
            <a:chExt cx="1999274" cy="523220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7C59D4C6-F8F3-3036-39AB-EC66EEB62071}"/>
                </a:ext>
              </a:extLst>
            </p:cNvPr>
            <p:cNvSpPr txBox="1"/>
            <p:nvPr/>
          </p:nvSpPr>
          <p:spPr>
            <a:xfrm>
              <a:off x="6815533" y="3272551"/>
              <a:ext cx="166430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total time</a:t>
              </a:r>
            </a:p>
          </p:txBody>
        </p:sp>
        <p:sp>
          <p:nvSpPr>
            <p:cNvPr id="23" name="Line">
              <a:extLst>
                <a:ext uri="{FF2B5EF4-FFF2-40B4-BE49-F238E27FC236}">
                  <a16:creationId xmlns:a16="http://schemas.microsoft.com/office/drawing/2014/main" id="{DD793E5B-F652-FF44-F69B-A8848F08B698}"/>
                </a:ext>
              </a:extLst>
            </p:cNvPr>
            <p:cNvSpPr/>
            <p:nvPr/>
          </p:nvSpPr>
          <p:spPr>
            <a:xfrm>
              <a:off x="6480561" y="3539091"/>
              <a:ext cx="330954" cy="0"/>
            </a:xfrm>
            <a:prstGeom prst="line">
              <a:avLst/>
            </a:prstGeom>
            <a:noFill/>
            <a:ln w="50800" cap="flat">
              <a:solidFill>
                <a:srgbClr val="FF4013"/>
              </a:solidFill>
              <a:prstDash val="solid"/>
              <a:miter lim="400000"/>
              <a:headEnd type="stealth" w="med" len="med"/>
            </a:ln>
            <a:effectLst/>
          </p:spPr>
          <p:txBody>
            <a:bodyPr wrap="square" lIns="35719" tIns="35719" rIns="35719" bIns="35719" numCol="1" anchor="ctr">
              <a:noAutofit/>
            </a:bodyPr>
            <a:lstStyle/>
            <a:p>
              <a:pPr defTabSz="321457"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  <a:endParaRPr sz="844" dirty="0"/>
            </a:p>
          </p:txBody>
        </p:sp>
      </p:grpSp>
    </p:spTree>
    <p:extLst>
      <p:ext uri="{BB962C8B-B14F-4D97-AF65-F5344CB8AC3E}">
        <p14:creationId xmlns:p14="http://schemas.microsoft.com/office/powerpoint/2010/main" val="32325856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8" grpId="0"/>
      <p:bldP spid="11" grpId="0"/>
      <p:bldP spid="15" grpId="0"/>
      <p:bldP spid="16" grpId="0"/>
      <p:bldP spid="18" grpId="0"/>
      <p:bldP spid="20" grpId="0"/>
      <p:bldP spid="2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A2E69C-7D67-F917-A18E-D0B146D5B8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Autocovariance (spike train)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6677806-413F-6A88-7EE6-70D3F035745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86871" y="1325563"/>
                <a:ext cx="10515600" cy="498475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Given a spike occurred at time t, how likely is another spike at t+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𝜏</m:t>
                    </m:r>
                  </m:oMath>
                </a14:m>
                <a:r>
                  <a:rPr lang="en-US" dirty="0"/>
                  <a:t> ?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6677806-413F-6A88-7EE6-70D3F035745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86871" y="1325563"/>
                <a:ext cx="10515600" cy="498475"/>
              </a:xfrm>
              <a:blipFill>
                <a:blip r:embed="rId2"/>
                <a:stretch>
                  <a:fillRect l="-1206" t="-20000" b="-3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AE00D7C9-A804-1A23-A91E-D56E004B1355}"/>
              </a:ext>
            </a:extLst>
          </p:cNvPr>
          <p:cNvSpPr txBox="1"/>
          <p:nvPr/>
        </p:nvSpPr>
        <p:spPr>
          <a:xfrm>
            <a:off x="286871" y="2158584"/>
            <a:ext cx="998337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u="sng" dirty="0"/>
              <a:t>Idea</a:t>
            </a:r>
            <a:r>
              <a:rPr lang="en-US" sz="2800" dirty="0"/>
              <a:t>: Compare spike train to a shifted version of itself ... match?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1D23E1D-623B-7487-2504-5FABC21EE4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5475" y="5178565"/>
            <a:ext cx="2273300" cy="762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3A86532-B971-84EB-BE14-16A658C0F2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8775" y="5033963"/>
            <a:ext cx="6007374" cy="158656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E1FB51F-D53C-8685-AB8D-BEC9DDAB34F5}"/>
              </a:ext>
            </a:extLst>
          </p:cNvPr>
          <p:cNvSpPr txBox="1"/>
          <p:nvPr/>
        </p:nvSpPr>
        <p:spPr>
          <a:xfrm>
            <a:off x="286871" y="4315194"/>
            <a:ext cx="27438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Notation change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105FA32C-2E9B-49C3-AFC0-540DD25DB808}"/>
              </a:ext>
            </a:extLst>
          </p:cNvPr>
          <p:cNvGrpSpPr/>
          <p:nvPr/>
        </p:nvGrpSpPr>
        <p:grpSpPr>
          <a:xfrm>
            <a:off x="6700417" y="5756901"/>
            <a:ext cx="4702249" cy="953013"/>
            <a:chOff x="6700417" y="5756901"/>
            <a:chExt cx="4702249" cy="953013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C28AB224-0FF2-95DC-B338-D4B81E5E935F}"/>
                </a:ext>
              </a:extLst>
            </p:cNvPr>
            <p:cNvGrpSpPr/>
            <p:nvPr/>
          </p:nvGrpSpPr>
          <p:grpSpPr>
            <a:xfrm>
              <a:off x="6700417" y="5769768"/>
              <a:ext cx="4702249" cy="940146"/>
              <a:chOff x="5912295" y="6328930"/>
              <a:chExt cx="4702249" cy="940146"/>
            </a:xfrm>
          </p:grpSpPr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E644C8B-DC64-32EA-6FA6-EDAE59D837C8}"/>
                  </a:ext>
                </a:extLst>
              </p:cNvPr>
              <p:cNvSpPr txBox="1"/>
              <p:nvPr/>
            </p:nvSpPr>
            <p:spPr>
              <a:xfrm>
                <a:off x="5912295" y="6745856"/>
                <a:ext cx="4702249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/>
                  <a:t>spike train (mean subtracted)</a:t>
                </a:r>
              </a:p>
            </p:txBody>
          </p:sp>
          <p:cxnSp>
            <p:nvCxnSpPr>
              <p:cNvPr id="11" name="Straight Arrow Connector 10">
                <a:extLst>
                  <a:ext uri="{FF2B5EF4-FFF2-40B4-BE49-F238E27FC236}">
                    <a16:creationId xmlns:a16="http://schemas.microsoft.com/office/drawing/2014/main" id="{52156D3E-E9BF-5E50-2488-4BCDA0521FB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074523" y="6328930"/>
                <a:ext cx="0" cy="498297"/>
              </a:xfrm>
              <a:prstGeom prst="straightConnector1">
                <a:avLst/>
              </a:prstGeom>
              <a:ln w="50800">
                <a:solidFill>
                  <a:srgbClr val="FF00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8E38563E-470E-EDD7-678C-F2A867D2767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91677" y="5756901"/>
              <a:ext cx="0" cy="498297"/>
            </a:xfrm>
            <a:prstGeom prst="straightConnector1">
              <a:avLst/>
            </a:prstGeom>
            <a:ln w="5080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26665A82-5737-C4D0-68BD-CA0FA4CEDF90}"/>
              </a:ext>
            </a:extLst>
          </p:cNvPr>
          <p:cNvGrpSpPr/>
          <p:nvPr/>
        </p:nvGrpSpPr>
        <p:grpSpPr>
          <a:xfrm>
            <a:off x="512171" y="2832226"/>
            <a:ext cx="8675204" cy="1625371"/>
            <a:chOff x="512171" y="2832226"/>
            <a:chExt cx="8675204" cy="1625371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AB55F2C2-FFE7-0DE1-8929-95549BA48CA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503851" y="2832226"/>
              <a:ext cx="6683524" cy="1625371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25E6B898-4A79-0E3F-4936-FCDB9EA67D15}"/>
                </a:ext>
              </a:extLst>
            </p:cNvPr>
            <p:cNvSpPr txBox="1"/>
            <p:nvPr/>
          </p:nvSpPr>
          <p:spPr>
            <a:xfrm>
              <a:off x="512171" y="3383301"/>
              <a:ext cx="1766381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previously</a:t>
              </a:r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7208AD7C-71E0-D90C-787D-BA9A8CC004D5}"/>
              </a:ext>
            </a:extLst>
          </p:cNvPr>
          <p:cNvSpPr txBox="1"/>
          <p:nvPr/>
        </p:nvSpPr>
        <p:spPr>
          <a:xfrm>
            <a:off x="1574157" y="626190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7B3D28E-0E22-C282-8B6B-33326E410B89}"/>
              </a:ext>
            </a:extLst>
          </p:cNvPr>
          <p:cNvGrpSpPr/>
          <p:nvPr/>
        </p:nvGrpSpPr>
        <p:grpSpPr>
          <a:xfrm>
            <a:off x="3059744" y="5756901"/>
            <a:ext cx="889667" cy="940146"/>
            <a:chOff x="5912295" y="6328930"/>
            <a:chExt cx="889667" cy="94014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BA30A9B2-272A-297D-A367-4E60252C0642}"/>
                    </a:ext>
                  </a:extLst>
                </p:cNvPr>
                <p:cNvSpPr txBox="1"/>
                <p:nvPr/>
              </p:nvSpPr>
              <p:spPr>
                <a:xfrm>
                  <a:off x="5912295" y="6745856"/>
                  <a:ext cx="889667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800" dirty="0"/>
                    <a:t>lag </a:t>
                  </a:r>
                  <a14:m>
                    <m:oMath xmlns:m="http://schemas.openxmlformats.org/officeDocument/2006/math">
                      <m:r>
                        <a:rPr lang="en-US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𝜏</m:t>
                      </m:r>
                    </m:oMath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BA30A9B2-272A-297D-A367-4E60252C064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12295" y="6745856"/>
                  <a:ext cx="889667" cy="523220"/>
                </a:xfrm>
                <a:prstGeom prst="rect">
                  <a:avLst/>
                </a:prstGeom>
                <a:blipFill>
                  <a:blip r:embed="rId6"/>
                  <a:stretch>
                    <a:fillRect l="-13889" t="-14286" b="-3095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83392479-A37D-6058-0C75-1C49847FBA3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74523" y="6328930"/>
              <a:ext cx="0" cy="498297"/>
            </a:xfrm>
            <a:prstGeom prst="straightConnector1">
              <a:avLst/>
            </a:prstGeom>
            <a:ln w="5080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8088790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Group 37">
            <a:extLst>
              <a:ext uri="{FF2B5EF4-FFF2-40B4-BE49-F238E27FC236}">
                <a16:creationId xmlns:a16="http://schemas.microsoft.com/office/drawing/2014/main" id="{D92AF2BD-2605-E523-239C-A21C1BC78F62}"/>
              </a:ext>
            </a:extLst>
          </p:cNvPr>
          <p:cNvGrpSpPr/>
          <p:nvPr/>
        </p:nvGrpSpPr>
        <p:grpSpPr>
          <a:xfrm>
            <a:off x="4718592" y="4216369"/>
            <a:ext cx="5151598" cy="2349500"/>
            <a:chOff x="4755632" y="4245593"/>
            <a:chExt cx="5151598" cy="2349500"/>
          </a:xfrm>
        </p:grpSpPr>
        <p:pic>
          <p:nvPicPr>
            <p:cNvPr id="35" name="Picture 34">
              <a:extLst>
                <a:ext uri="{FF2B5EF4-FFF2-40B4-BE49-F238E27FC236}">
                  <a16:creationId xmlns:a16="http://schemas.microsoft.com/office/drawing/2014/main" id="{393799E9-8B1D-3F5F-A495-5CCC2A92FA8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755632" y="4245593"/>
              <a:ext cx="4495800" cy="2349500"/>
            </a:xfrm>
            <a:prstGeom prst="rect">
              <a:avLst/>
            </a:prstGeom>
          </p:spPr>
        </p:pic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CD45882B-4366-0743-DCBE-57830F2D097F}"/>
                </a:ext>
              </a:extLst>
            </p:cNvPr>
            <p:cNvSpPr/>
            <p:nvPr/>
          </p:nvSpPr>
          <p:spPr>
            <a:xfrm>
              <a:off x="7003532" y="4245593"/>
              <a:ext cx="2247900" cy="50338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17CCE9E6-C56E-5455-30B9-2B36CA810629}"/>
                </a:ext>
              </a:extLst>
            </p:cNvPr>
            <p:cNvSpPr/>
            <p:nvPr/>
          </p:nvSpPr>
          <p:spPr>
            <a:xfrm>
              <a:off x="7659330" y="5223593"/>
              <a:ext cx="2247900" cy="50338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32EA06D-A108-9387-5477-3579526393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Autocovariance (spike train)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76CCF2-2DA3-5BF8-291B-872EBA4D91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98588"/>
            <a:ext cx="877524" cy="498475"/>
          </a:xfrm>
        </p:spPr>
        <p:txBody>
          <a:bodyPr/>
          <a:lstStyle/>
          <a:p>
            <a:r>
              <a:rPr lang="en-US" b="1" dirty="0"/>
              <a:t>Ex.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E202DC4A-E81C-C146-0ADD-E941CE318DA3}"/>
              </a:ext>
            </a:extLst>
          </p:cNvPr>
          <p:cNvGrpSpPr/>
          <p:nvPr/>
        </p:nvGrpSpPr>
        <p:grpSpPr>
          <a:xfrm>
            <a:off x="3908323" y="1840527"/>
            <a:ext cx="5343832" cy="521672"/>
            <a:chOff x="3908323" y="1840527"/>
            <a:chExt cx="5343832" cy="521672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45D2F727-0FC2-2321-964D-88DB1AAEEEDC}"/>
                </a:ext>
              </a:extLst>
            </p:cNvPr>
            <p:cNvCxnSpPr>
              <a:cxnSpLocks/>
            </p:cNvCxnSpPr>
            <p:nvPr/>
          </p:nvCxnSpPr>
          <p:spPr>
            <a:xfrm>
              <a:off x="3908323" y="1840527"/>
              <a:ext cx="0" cy="521672"/>
            </a:xfrm>
            <a:prstGeom prst="line">
              <a:avLst/>
            </a:prstGeom>
            <a:ln w="508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720F4DFA-43B5-5967-5BA0-7E6A83FB966A}"/>
                </a:ext>
              </a:extLst>
            </p:cNvPr>
            <p:cNvCxnSpPr>
              <a:cxnSpLocks/>
            </p:cNvCxnSpPr>
            <p:nvPr/>
          </p:nvCxnSpPr>
          <p:spPr>
            <a:xfrm>
              <a:off x="4916130" y="1840527"/>
              <a:ext cx="0" cy="521672"/>
            </a:xfrm>
            <a:prstGeom prst="line">
              <a:avLst/>
            </a:prstGeom>
            <a:ln w="508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1028FDD9-3505-FCC3-39AE-9E280F5BE337}"/>
                </a:ext>
              </a:extLst>
            </p:cNvPr>
            <p:cNvCxnSpPr>
              <a:cxnSpLocks/>
            </p:cNvCxnSpPr>
            <p:nvPr/>
          </p:nvCxnSpPr>
          <p:spPr>
            <a:xfrm>
              <a:off x="6100917" y="1840527"/>
              <a:ext cx="0" cy="521672"/>
            </a:xfrm>
            <a:prstGeom prst="line">
              <a:avLst/>
            </a:prstGeom>
            <a:ln w="508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9F9FD219-4D06-96ED-965F-426B34626525}"/>
                </a:ext>
              </a:extLst>
            </p:cNvPr>
            <p:cNvCxnSpPr>
              <a:cxnSpLocks/>
            </p:cNvCxnSpPr>
            <p:nvPr/>
          </p:nvCxnSpPr>
          <p:spPr>
            <a:xfrm>
              <a:off x="6361471" y="1840527"/>
              <a:ext cx="0" cy="521672"/>
            </a:xfrm>
            <a:prstGeom prst="line">
              <a:avLst/>
            </a:prstGeom>
            <a:ln w="508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98856AD4-1833-6471-EA94-160D6B0A081B}"/>
                </a:ext>
              </a:extLst>
            </p:cNvPr>
            <p:cNvCxnSpPr>
              <a:cxnSpLocks/>
            </p:cNvCxnSpPr>
            <p:nvPr/>
          </p:nvCxnSpPr>
          <p:spPr>
            <a:xfrm>
              <a:off x="7659330" y="1840527"/>
              <a:ext cx="0" cy="521672"/>
            </a:xfrm>
            <a:prstGeom prst="line">
              <a:avLst/>
            </a:prstGeom>
            <a:ln w="508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843257FF-0DB7-5A25-8A44-3B4091D13749}"/>
                </a:ext>
              </a:extLst>
            </p:cNvPr>
            <p:cNvCxnSpPr>
              <a:cxnSpLocks/>
            </p:cNvCxnSpPr>
            <p:nvPr/>
          </p:nvCxnSpPr>
          <p:spPr>
            <a:xfrm>
              <a:off x="9252155" y="1840527"/>
              <a:ext cx="0" cy="521672"/>
            </a:xfrm>
            <a:prstGeom prst="line">
              <a:avLst/>
            </a:prstGeom>
            <a:ln w="508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0E03EFB4-7A73-F9E6-1448-E43062856E1B}"/>
                </a:ext>
              </a:extLst>
            </p:cNvPr>
            <p:cNvCxnSpPr>
              <a:cxnSpLocks/>
            </p:cNvCxnSpPr>
            <p:nvPr/>
          </p:nvCxnSpPr>
          <p:spPr>
            <a:xfrm>
              <a:off x="9089923" y="1840527"/>
              <a:ext cx="0" cy="521672"/>
            </a:xfrm>
            <a:prstGeom prst="line">
              <a:avLst/>
            </a:prstGeom>
            <a:ln w="508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BDCD289-BBC6-3AD8-482E-A9507BD58136}"/>
                  </a:ext>
                </a:extLst>
              </p:cNvPr>
              <p:cNvSpPr txBox="1"/>
              <p:nvPr/>
            </p:nvSpPr>
            <p:spPr>
              <a:xfrm>
                <a:off x="838200" y="3067042"/>
                <a:ext cx="1784976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b="1" dirty="0">
                    <a:sym typeface="Wingdings" pitchFamily="2" charset="2"/>
                  </a:rPr>
                  <a:t>Q.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𝑟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𝑛𝑛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sz="2800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0</m:t>
                        </m:r>
                      </m:e>
                    </m:d>
                  </m:oMath>
                </a14:m>
                <a:r>
                  <a:rPr lang="en-US" sz="2800" dirty="0"/>
                  <a:t> ?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BDCD289-BBC6-3AD8-482E-A9507BD581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3067042"/>
                <a:ext cx="1784976" cy="523220"/>
              </a:xfrm>
              <a:prstGeom prst="rect">
                <a:avLst/>
              </a:prstGeom>
              <a:blipFill>
                <a:blip r:embed="rId3"/>
                <a:stretch>
                  <a:fillRect l="-7092" t="-11905" r="-7092"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6" name="Group 45">
            <a:extLst>
              <a:ext uri="{FF2B5EF4-FFF2-40B4-BE49-F238E27FC236}">
                <a16:creationId xmlns:a16="http://schemas.microsoft.com/office/drawing/2014/main" id="{9AEA8D70-B7B5-5C4A-B13B-4C9D49FF220D}"/>
              </a:ext>
            </a:extLst>
          </p:cNvPr>
          <p:cNvGrpSpPr/>
          <p:nvPr/>
        </p:nvGrpSpPr>
        <p:grpSpPr>
          <a:xfrm>
            <a:off x="3908323" y="2877163"/>
            <a:ext cx="8004369" cy="528433"/>
            <a:chOff x="3908323" y="2877163"/>
            <a:chExt cx="8004369" cy="528433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B86FB702-7B0D-DB85-B607-B0856D12F8E4}"/>
                </a:ext>
              </a:extLst>
            </p:cNvPr>
            <p:cNvGrpSpPr/>
            <p:nvPr/>
          </p:nvGrpSpPr>
          <p:grpSpPr>
            <a:xfrm>
              <a:off x="3908323" y="2877163"/>
              <a:ext cx="5343832" cy="521672"/>
              <a:chOff x="3908323" y="1840527"/>
              <a:chExt cx="5343832" cy="521672"/>
            </a:xfrm>
          </p:grpSpPr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01BFE751-28D4-F58D-A0AB-A8F553EFFAC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08323" y="1840527"/>
                <a:ext cx="0" cy="521672"/>
              </a:xfrm>
              <a:prstGeom prst="line">
                <a:avLst/>
              </a:prstGeom>
              <a:ln w="50800">
                <a:solidFill>
                  <a:schemeClr val="accent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77C97618-80E7-98A4-EEE3-20C248C40D6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916130" y="1840527"/>
                <a:ext cx="0" cy="521672"/>
              </a:xfrm>
              <a:prstGeom prst="line">
                <a:avLst/>
              </a:prstGeom>
              <a:ln w="50800">
                <a:solidFill>
                  <a:schemeClr val="accent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30102540-801A-7572-497E-865589BCEAE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100917" y="1840527"/>
                <a:ext cx="0" cy="521672"/>
              </a:xfrm>
              <a:prstGeom prst="line">
                <a:avLst/>
              </a:prstGeom>
              <a:ln w="50800">
                <a:solidFill>
                  <a:schemeClr val="accent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9F9357DB-C26B-7A8A-1041-4D3BAA87457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361471" y="1840527"/>
                <a:ext cx="0" cy="521672"/>
              </a:xfrm>
              <a:prstGeom prst="line">
                <a:avLst/>
              </a:prstGeom>
              <a:ln w="50800">
                <a:solidFill>
                  <a:schemeClr val="accent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14F99717-B2B2-A584-3B3B-3BF5B4A68CE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659330" y="1840527"/>
                <a:ext cx="0" cy="521672"/>
              </a:xfrm>
              <a:prstGeom prst="line">
                <a:avLst/>
              </a:prstGeom>
              <a:ln w="50800">
                <a:solidFill>
                  <a:schemeClr val="accent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50B11E68-F031-5685-3D85-0F894EC1F4F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252155" y="1840527"/>
                <a:ext cx="0" cy="521672"/>
              </a:xfrm>
              <a:prstGeom prst="line">
                <a:avLst/>
              </a:prstGeom>
              <a:ln w="50800">
                <a:solidFill>
                  <a:schemeClr val="accent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>
                <a:extLst>
                  <a:ext uri="{FF2B5EF4-FFF2-40B4-BE49-F238E27FC236}">
                    <a16:creationId xmlns:a16="http://schemas.microsoft.com/office/drawing/2014/main" id="{272DC02B-1B30-06AB-681A-9BB2F80CE47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089923" y="1840527"/>
                <a:ext cx="0" cy="521672"/>
              </a:xfrm>
              <a:prstGeom prst="line">
                <a:avLst/>
              </a:prstGeom>
              <a:ln w="50800">
                <a:solidFill>
                  <a:schemeClr val="accent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6659805B-2D1B-3E55-0077-572D003FF4E3}"/>
                    </a:ext>
                  </a:extLst>
                </p:cNvPr>
                <p:cNvSpPr txBox="1"/>
                <p:nvPr/>
              </p:nvSpPr>
              <p:spPr>
                <a:xfrm>
                  <a:off x="9855590" y="2882376"/>
                  <a:ext cx="2057102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800" dirty="0"/>
                    <a:t>copy (</a:t>
                  </a:r>
                  <a14:m>
                    <m:oMath xmlns:m="http://schemas.openxmlformats.org/officeDocument/2006/math">
                      <m:r>
                        <a:rPr lang="en-US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𝜏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</m:t>
                      </m:r>
                    </m:oMath>
                  </a14:m>
                  <a:r>
                    <a:rPr lang="en-US" sz="2800" dirty="0"/>
                    <a:t>)</a:t>
                  </a:r>
                </a:p>
              </p:txBody>
            </p:sp>
          </mc:Choice>
          <mc:Fallback xmlns="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6659805B-2D1B-3E55-0077-572D003FF4E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855590" y="2882376"/>
                  <a:ext cx="2057102" cy="523220"/>
                </a:xfrm>
                <a:prstGeom prst="rect">
                  <a:avLst/>
                </a:prstGeom>
                <a:blipFill>
                  <a:blip r:embed="rId4"/>
                  <a:stretch>
                    <a:fillRect l="-6173" t="-14286" r="-5556" b="-3095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A4448605-23F9-B25C-5B44-F5D4DD0C1379}"/>
                  </a:ext>
                </a:extLst>
              </p:cNvPr>
              <p:cNvSpPr txBox="1"/>
              <p:nvPr/>
            </p:nvSpPr>
            <p:spPr>
              <a:xfrm>
                <a:off x="1276962" y="4041095"/>
                <a:ext cx="1740798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𝑟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𝑛𝑛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sz="2800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0</m:t>
                        </m:r>
                      </m:e>
                    </m:d>
                  </m:oMath>
                </a14:m>
                <a:r>
                  <a:rPr lang="en-US" sz="2800" dirty="0"/>
                  <a:t>      =</a:t>
                </a:r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A4448605-23F9-B25C-5B44-F5D4DD0C13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6962" y="4041095"/>
                <a:ext cx="1740798" cy="523220"/>
              </a:xfrm>
              <a:prstGeom prst="rect">
                <a:avLst/>
              </a:prstGeom>
              <a:blipFill>
                <a:blip r:embed="rId5"/>
                <a:stretch>
                  <a:fillRect t="-14286" r="-6522" b="-309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TextBox 32">
            <a:extLst>
              <a:ext uri="{FF2B5EF4-FFF2-40B4-BE49-F238E27FC236}">
                <a16:creationId xmlns:a16="http://schemas.microsoft.com/office/drawing/2014/main" id="{B55D8798-8940-147C-9788-5F160DFB1E9E}"/>
              </a:ext>
            </a:extLst>
          </p:cNvPr>
          <p:cNvSpPr txBox="1"/>
          <p:nvPr/>
        </p:nvSpPr>
        <p:spPr>
          <a:xfrm>
            <a:off x="3016541" y="4018776"/>
            <a:ext cx="273767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big (spikes align)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9D262559-2F38-4F43-09C9-52422DBE7943}"/>
                  </a:ext>
                </a:extLst>
              </p:cNvPr>
              <p:cNvSpPr txBox="1"/>
              <p:nvPr/>
            </p:nvSpPr>
            <p:spPr>
              <a:xfrm>
                <a:off x="2734721" y="5660416"/>
                <a:ext cx="1766317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/>
                  <a:t>Plot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  <a:sym typeface="Wingdings" pitchFamily="2" charset="2"/>
                          </a:rPr>
                          <m:t>𝑟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  <a:sym typeface="Wingdings" pitchFamily="2" charset="2"/>
                          </a:rPr>
                          <m:t>𝑛𝑛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  <a:sym typeface="Wingdings" pitchFamily="2" charset="2"/>
                      </a:rPr>
                      <m:t>[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itchFamily="2" charset="2"/>
                      </a:rPr>
                      <m:t>𝜏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itchFamily="2" charset="2"/>
                      </a:rPr>
                      <m:t>]</m:t>
                    </m:r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9D262559-2F38-4F43-09C9-52422DBE79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34721" y="5660416"/>
                <a:ext cx="1766317" cy="523220"/>
              </a:xfrm>
              <a:prstGeom prst="rect">
                <a:avLst/>
              </a:prstGeom>
              <a:blipFill>
                <a:blip r:embed="rId6"/>
                <a:stretch>
                  <a:fillRect l="-7143" t="-11905" r="-3571"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9" name="Group">
            <a:extLst>
              <a:ext uri="{FF2B5EF4-FFF2-40B4-BE49-F238E27FC236}">
                <a16:creationId xmlns:a16="http://schemas.microsoft.com/office/drawing/2014/main" id="{87A1B39E-E769-8748-32A5-DEAFA0CAAE73}"/>
              </a:ext>
            </a:extLst>
          </p:cNvPr>
          <p:cNvGrpSpPr/>
          <p:nvPr/>
        </p:nvGrpSpPr>
        <p:grpSpPr>
          <a:xfrm>
            <a:off x="6876049" y="4135062"/>
            <a:ext cx="3439055" cy="441468"/>
            <a:chOff x="0" y="48019"/>
            <a:chExt cx="4891098" cy="627864"/>
          </a:xfrm>
        </p:grpSpPr>
        <p:sp>
          <p:nvSpPr>
            <p:cNvPr id="40" name="Line">
              <a:extLst>
                <a:ext uri="{FF2B5EF4-FFF2-40B4-BE49-F238E27FC236}">
                  <a16:creationId xmlns:a16="http://schemas.microsoft.com/office/drawing/2014/main" id="{026FC948-5479-0FF0-1C92-832D7782E026}"/>
                </a:ext>
              </a:extLst>
            </p:cNvPr>
            <p:cNvSpPr/>
            <p:nvPr/>
          </p:nvSpPr>
          <p:spPr>
            <a:xfrm>
              <a:off x="0" y="359833"/>
              <a:ext cx="911358" cy="1"/>
            </a:xfrm>
            <a:prstGeom prst="line">
              <a:avLst/>
            </a:prstGeom>
            <a:noFill/>
            <a:ln w="50800" cap="flat">
              <a:solidFill>
                <a:srgbClr val="FF4013"/>
              </a:solidFill>
              <a:prstDash val="solid"/>
              <a:miter lim="400000"/>
              <a:headEnd type="stealth" w="med" len="med"/>
            </a:ln>
            <a:effectLst/>
          </p:spPr>
          <p:txBody>
            <a:bodyPr wrap="square" lIns="35719" tIns="35719" rIns="35719" bIns="35719" numCol="1" anchor="ctr">
              <a:noAutofit/>
            </a:bodyPr>
            <a:lstStyle/>
            <a:p>
              <a:pPr defTabSz="321457"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  <a:endParaRPr sz="844"/>
            </a:p>
          </p:txBody>
        </p:sp>
        <p:sp>
          <p:nvSpPr>
            <p:cNvPr id="41" name="Duration of recording">
              <a:extLst>
                <a:ext uri="{FF2B5EF4-FFF2-40B4-BE49-F238E27FC236}">
                  <a16:creationId xmlns:a16="http://schemas.microsoft.com/office/drawing/2014/main" id="{DF3CF561-4EC6-DF9C-CD1C-2E5E3316AB15}"/>
                </a:ext>
              </a:extLst>
            </p:cNvPr>
            <p:cNvSpPr/>
            <p:nvPr/>
          </p:nvSpPr>
          <p:spPr>
            <a:xfrm>
              <a:off x="1039651" y="48019"/>
              <a:ext cx="3851447" cy="62786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35719" tIns="35719" rIns="35719" bIns="35719" numCol="1" anchor="ctr">
              <a:spAutoFit/>
            </a:bodyPr>
            <a:lstStyle/>
            <a:p>
              <a:r>
                <a:rPr lang="en-US" sz="2400" dirty="0"/>
                <a:t>Big, usually ignore it</a:t>
              </a:r>
              <a:endParaRPr sz="2400" dirty="0"/>
            </a:p>
          </p:txBody>
        </p:sp>
      </p:grpSp>
      <p:grpSp>
        <p:nvGrpSpPr>
          <p:cNvPr id="43" name="Group">
            <a:extLst>
              <a:ext uri="{FF2B5EF4-FFF2-40B4-BE49-F238E27FC236}">
                <a16:creationId xmlns:a16="http://schemas.microsoft.com/office/drawing/2014/main" id="{F79BF097-8629-D191-AADF-ABB797AC123F}"/>
              </a:ext>
            </a:extLst>
          </p:cNvPr>
          <p:cNvGrpSpPr/>
          <p:nvPr/>
        </p:nvGrpSpPr>
        <p:grpSpPr>
          <a:xfrm>
            <a:off x="7622290" y="4839906"/>
            <a:ext cx="4290402" cy="857851"/>
            <a:chOff x="21669" y="-214615"/>
            <a:chExt cx="6101902" cy="1220052"/>
          </a:xfrm>
        </p:grpSpPr>
        <p:sp>
          <p:nvSpPr>
            <p:cNvPr id="44" name="Line">
              <a:extLst>
                <a:ext uri="{FF2B5EF4-FFF2-40B4-BE49-F238E27FC236}">
                  <a16:creationId xmlns:a16="http://schemas.microsoft.com/office/drawing/2014/main" id="{D8C7B61C-0A4E-D33F-4D7F-62D1F161F85C}"/>
                </a:ext>
              </a:extLst>
            </p:cNvPr>
            <p:cNvSpPr/>
            <p:nvPr/>
          </p:nvSpPr>
          <p:spPr>
            <a:xfrm flipV="1">
              <a:off x="21669" y="359835"/>
              <a:ext cx="889689" cy="645602"/>
            </a:xfrm>
            <a:prstGeom prst="line">
              <a:avLst/>
            </a:prstGeom>
            <a:noFill/>
            <a:ln w="50800" cap="flat">
              <a:solidFill>
                <a:srgbClr val="FF4013"/>
              </a:solidFill>
              <a:prstDash val="solid"/>
              <a:miter lim="400000"/>
              <a:headEnd type="stealth" w="med" len="med"/>
            </a:ln>
            <a:effectLst/>
          </p:spPr>
          <p:txBody>
            <a:bodyPr wrap="square" lIns="35719" tIns="35719" rIns="35719" bIns="35719" numCol="1" anchor="ctr">
              <a:noAutofit/>
            </a:bodyPr>
            <a:lstStyle/>
            <a:p>
              <a:pPr defTabSz="321457"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  <a:endParaRPr sz="844"/>
            </a:p>
          </p:txBody>
        </p:sp>
        <p:sp>
          <p:nvSpPr>
            <p:cNvPr id="45" name="Duration of recording">
              <a:extLst>
                <a:ext uri="{FF2B5EF4-FFF2-40B4-BE49-F238E27FC236}">
                  <a16:creationId xmlns:a16="http://schemas.microsoft.com/office/drawing/2014/main" id="{23EE5294-8F30-4009-B065-B7B889262A23}"/>
                </a:ext>
              </a:extLst>
            </p:cNvPr>
            <p:cNvSpPr/>
            <p:nvPr/>
          </p:nvSpPr>
          <p:spPr>
            <a:xfrm>
              <a:off x="1039651" y="-214615"/>
              <a:ext cx="5083920" cy="115313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35719" tIns="35719" rIns="35719" bIns="35719" numCol="1" anchor="ctr">
              <a:spAutoFit/>
            </a:bodyPr>
            <a:lstStyle/>
            <a:p>
              <a:r>
                <a:rPr lang="en-US" sz="2400" dirty="0"/>
                <a:t>Interesting (how spike now</a:t>
              </a:r>
            </a:p>
            <a:p>
              <a:r>
                <a:rPr lang="en-US" sz="2400" dirty="0"/>
                <a:t>relates to future spikes)</a:t>
              </a:r>
              <a:endParaRPr sz="2400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76D8E45-F4AC-791C-1E14-5EE6AC8E241B}"/>
                  </a:ext>
                </a:extLst>
              </p:cNvPr>
              <p:cNvSpPr txBox="1"/>
              <p:nvPr/>
            </p:nvSpPr>
            <p:spPr>
              <a:xfrm>
                <a:off x="1276962" y="4498631"/>
                <a:ext cx="1739579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𝑟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𝑛𝑛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sz="2800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itchFamily="2" charset="2"/>
                          </a:rPr>
                          <m:t>≠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0</m:t>
                        </m:r>
                      </m:e>
                    </m:d>
                  </m:oMath>
                </a14:m>
                <a:r>
                  <a:rPr lang="en-US" sz="2800" dirty="0"/>
                  <a:t> =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76D8E45-F4AC-791C-1E14-5EE6AC8E24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6962" y="4498631"/>
                <a:ext cx="1739579" cy="523220"/>
              </a:xfrm>
              <a:prstGeom prst="rect">
                <a:avLst/>
              </a:prstGeom>
              <a:blipFill>
                <a:blip r:embed="rId7"/>
                <a:stretch>
                  <a:fillRect t="-14286" r="-6522" b="-309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A67932AB-DC0E-9F4F-AFA5-393EB269FCDD}"/>
              </a:ext>
            </a:extLst>
          </p:cNvPr>
          <p:cNvSpPr txBox="1"/>
          <p:nvPr/>
        </p:nvSpPr>
        <p:spPr>
          <a:xfrm>
            <a:off x="3016541" y="4523400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326331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8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2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32" grpId="0"/>
      <p:bldP spid="33" grpId="0"/>
      <p:bldP spid="34" grpId="0"/>
      <p:bldP spid="39" grpId="0" animBg="1" advAuto="0"/>
      <p:bldP spid="43" grpId="0" animBg="1" advAuto="0"/>
      <p:bldP spid="4" grpId="0"/>
      <p:bldP spid="1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E65B7962-6791-0E2E-07AB-A63543F46397}"/>
              </a:ext>
            </a:extLst>
          </p:cNvPr>
          <p:cNvGrpSpPr/>
          <p:nvPr/>
        </p:nvGrpSpPr>
        <p:grpSpPr>
          <a:xfrm>
            <a:off x="6661859" y="4181169"/>
            <a:ext cx="5151598" cy="2458905"/>
            <a:chOff x="6661859" y="4181169"/>
            <a:chExt cx="5151598" cy="2458905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638F612D-BFE3-72E7-F591-DFADF6205027}"/>
                </a:ext>
              </a:extLst>
            </p:cNvPr>
            <p:cNvGrpSpPr/>
            <p:nvPr/>
          </p:nvGrpSpPr>
          <p:grpSpPr>
            <a:xfrm>
              <a:off x="6661859" y="4290574"/>
              <a:ext cx="5151598" cy="2349500"/>
              <a:chOff x="4755632" y="4245593"/>
              <a:chExt cx="5151598" cy="2349500"/>
            </a:xfrm>
          </p:grpSpPr>
          <p:pic>
            <p:nvPicPr>
              <p:cNvPr id="16" name="Picture 15">
                <a:extLst>
                  <a:ext uri="{FF2B5EF4-FFF2-40B4-BE49-F238E27FC236}">
                    <a16:creationId xmlns:a16="http://schemas.microsoft.com/office/drawing/2014/main" id="{B2FAC5B6-07B9-F3D6-6C75-E75A23FC469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4755632" y="4245593"/>
                <a:ext cx="4495800" cy="2349500"/>
              </a:xfrm>
              <a:prstGeom prst="rect">
                <a:avLst/>
              </a:prstGeom>
            </p:spPr>
          </p:pic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55907DFE-542D-C830-9B2E-9E23C072ACB3}"/>
                  </a:ext>
                </a:extLst>
              </p:cNvPr>
              <p:cNvSpPr/>
              <p:nvPr/>
            </p:nvSpPr>
            <p:spPr>
              <a:xfrm>
                <a:off x="7003532" y="4245593"/>
                <a:ext cx="2247900" cy="50338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2C19DC3E-0756-E2F1-AE75-A4A010E0A4F6}"/>
                  </a:ext>
                </a:extLst>
              </p:cNvPr>
              <p:cNvSpPr/>
              <p:nvPr/>
            </p:nvSpPr>
            <p:spPr>
              <a:xfrm>
                <a:off x="7659330" y="5223593"/>
                <a:ext cx="2247900" cy="50338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EC13151B-48C0-872B-8170-05851493BD2E}"/>
                </a:ext>
              </a:extLst>
            </p:cNvPr>
            <p:cNvSpPr/>
            <p:nvPr/>
          </p:nvSpPr>
          <p:spPr>
            <a:xfrm>
              <a:off x="8466607" y="4181169"/>
              <a:ext cx="266666" cy="266666"/>
            </a:xfrm>
            <a:prstGeom prst="ellipse">
              <a:avLst/>
            </a:prstGeom>
            <a:noFill/>
            <a:ln w="508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16AEEF84-55E7-4869-19E0-D14B7D7114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Autocovariance (spike train)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F26D68-1EC3-9340-E9C9-47F1228B60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6091" y="1350614"/>
            <a:ext cx="11526587" cy="498475"/>
          </a:xfrm>
        </p:spPr>
        <p:txBody>
          <a:bodyPr>
            <a:noAutofit/>
          </a:bodyPr>
          <a:lstStyle/>
          <a:p>
            <a:r>
              <a:rPr lang="en-US" u="sng" dirty="0"/>
              <a:t>Remember</a:t>
            </a:r>
            <a:r>
              <a:rPr lang="en-US" dirty="0"/>
              <a:t>: spectrum is the Fourier transform of the autocovariance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1B1F2F7-5DF6-9D0D-382E-1FEA0E0DCB87}"/>
                  </a:ext>
                </a:extLst>
              </p:cNvPr>
              <p:cNvSpPr txBox="1"/>
              <p:nvPr/>
            </p:nvSpPr>
            <p:spPr>
              <a:xfrm>
                <a:off x="4479788" y="2118922"/>
                <a:ext cx="3285002" cy="5579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𝑛𝑛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=2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𝐹𝑇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{ 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𝑛𝑛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1B1F2F7-5DF6-9D0D-382E-1FEA0E0DCB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79788" y="2118922"/>
                <a:ext cx="3285002" cy="557910"/>
              </a:xfrm>
              <a:prstGeom prst="rect">
                <a:avLst/>
              </a:prstGeom>
              <a:blipFill>
                <a:blip r:embed="rId3"/>
                <a:stretch>
                  <a:fillRect r="-769" b="-159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" name="Group 7">
            <a:extLst>
              <a:ext uri="{FF2B5EF4-FFF2-40B4-BE49-F238E27FC236}">
                <a16:creationId xmlns:a16="http://schemas.microsoft.com/office/drawing/2014/main" id="{8C8FD3C3-5058-0992-4019-889E5555029B}"/>
              </a:ext>
            </a:extLst>
          </p:cNvPr>
          <p:cNvGrpSpPr/>
          <p:nvPr/>
        </p:nvGrpSpPr>
        <p:grpSpPr>
          <a:xfrm>
            <a:off x="1812468" y="2820092"/>
            <a:ext cx="3553152" cy="947777"/>
            <a:chOff x="2853146" y="6328930"/>
            <a:chExt cx="3553152" cy="947777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DE6E5B54-7E2F-24CC-C225-B2ADA3CFC2D4}"/>
                </a:ext>
              </a:extLst>
            </p:cNvPr>
            <p:cNvSpPr txBox="1"/>
            <p:nvPr/>
          </p:nvSpPr>
          <p:spPr>
            <a:xfrm>
              <a:off x="2853146" y="6753487"/>
              <a:ext cx="355315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function of frequency </a:t>
              </a:r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AA6531B6-939E-6CDA-9882-A7EA280E4A0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74523" y="6328930"/>
              <a:ext cx="0" cy="498297"/>
            </a:xfrm>
            <a:prstGeom prst="straightConnector1">
              <a:avLst/>
            </a:prstGeom>
            <a:ln w="5080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4E4BB26-BC0C-2288-0CDE-9927159B418B}"/>
              </a:ext>
            </a:extLst>
          </p:cNvPr>
          <p:cNvGrpSpPr/>
          <p:nvPr/>
        </p:nvGrpSpPr>
        <p:grpSpPr>
          <a:xfrm>
            <a:off x="7038314" y="2770760"/>
            <a:ext cx="2771913" cy="1021517"/>
            <a:chOff x="2823650" y="6255190"/>
            <a:chExt cx="2771913" cy="1021517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D09BD552-F753-8C57-2970-319533221533}"/>
                </a:ext>
              </a:extLst>
            </p:cNvPr>
            <p:cNvSpPr txBox="1"/>
            <p:nvPr/>
          </p:nvSpPr>
          <p:spPr>
            <a:xfrm>
              <a:off x="2823650" y="6753487"/>
              <a:ext cx="2771913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function of time </a:t>
              </a:r>
            </a:p>
          </p:txBody>
        </p: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4C26BD10-DB95-41A4-D2C3-41D8A8E674F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977362" y="6255190"/>
              <a:ext cx="0" cy="498297"/>
            </a:xfrm>
            <a:prstGeom prst="straightConnector1">
              <a:avLst/>
            </a:prstGeom>
            <a:ln w="5080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75792D3-52BD-4D7C-3973-E45ACE2D526F}"/>
                  </a:ext>
                </a:extLst>
              </p:cNvPr>
              <p:cNvSpPr txBox="1"/>
              <p:nvPr/>
            </p:nvSpPr>
            <p:spPr>
              <a:xfrm>
                <a:off x="286091" y="4365776"/>
                <a:ext cx="778649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/>
                  <a:t>So, the peak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𝑛𝑛</m:t>
                        </m:r>
                      </m:sub>
                    </m:sSub>
                  </m:oMath>
                </a14:m>
                <a:r>
                  <a:rPr lang="en-US" sz="2800" dirty="0"/>
                  <a:t> at lag 0 </a:t>
                </a:r>
                <a:r>
                  <a:rPr lang="en-US" sz="2800" u="sng" dirty="0"/>
                  <a:t>impacts the spectrum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75792D3-52BD-4D7C-3973-E45ACE2D52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6091" y="4365776"/>
                <a:ext cx="7786491" cy="523220"/>
              </a:xfrm>
              <a:prstGeom prst="rect">
                <a:avLst/>
              </a:prstGeom>
              <a:blipFill>
                <a:blip r:embed="rId4"/>
                <a:stretch>
                  <a:fillRect l="-1629" t="-11905"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B816323D-25F9-0A9C-3A71-3924A191E8C8}"/>
              </a:ext>
            </a:extLst>
          </p:cNvPr>
          <p:cNvSpPr txBox="1"/>
          <p:nvPr/>
        </p:nvSpPr>
        <p:spPr>
          <a:xfrm>
            <a:off x="286091" y="5639222"/>
            <a:ext cx="14965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Q. </a:t>
            </a:r>
            <a:r>
              <a:rPr lang="en-US" sz="2800" dirty="0"/>
              <a:t>How?</a:t>
            </a:r>
          </a:p>
        </p:txBody>
      </p:sp>
    </p:spTree>
    <p:extLst>
      <p:ext uri="{BB962C8B-B14F-4D97-AF65-F5344CB8AC3E}">
        <p14:creationId xmlns:p14="http://schemas.microsoft.com/office/powerpoint/2010/main" val="23558680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2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BE34DF-BE95-6B35-1695-CA0F385DD7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Autocovariance (spike train)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F19833-452B-DBB2-7BAF-039A9A9C7F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6871" y="1325563"/>
            <a:ext cx="10515600" cy="498475"/>
          </a:xfrm>
        </p:spPr>
        <p:txBody>
          <a:bodyPr/>
          <a:lstStyle/>
          <a:p>
            <a:r>
              <a:rPr lang="en-US" b="1" dirty="0"/>
              <a:t>Ex. </a:t>
            </a:r>
            <a:r>
              <a:rPr lang="en-US" dirty="0"/>
              <a:t>Random spiking at a fixed rate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703C845C-F0CF-BB37-B832-2FBF9C84C42B}"/>
              </a:ext>
            </a:extLst>
          </p:cNvPr>
          <p:cNvGrpSpPr/>
          <p:nvPr/>
        </p:nvGrpSpPr>
        <p:grpSpPr>
          <a:xfrm>
            <a:off x="1194619" y="2121005"/>
            <a:ext cx="10392698" cy="530121"/>
            <a:chOff x="1194619" y="1815589"/>
            <a:chExt cx="10392698" cy="530121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48A6D33A-11B2-13EB-B9AF-E05526D778ED}"/>
                </a:ext>
              </a:extLst>
            </p:cNvPr>
            <p:cNvGrpSpPr/>
            <p:nvPr/>
          </p:nvGrpSpPr>
          <p:grpSpPr>
            <a:xfrm>
              <a:off x="1194619" y="1824038"/>
              <a:ext cx="5343832" cy="521672"/>
              <a:chOff x="3908323" y="1840527"/>
              <a:chExt cx="5343832" cy="521672"/>
            </a:xfrm>
          </p:grpSpPr>
          <p:cxnSp>
            <p:nvCxnSpPr>
              <p:cNvPr id="5" name="Straight Connector 4">
                <a:extLst>
                  <a:ext uri="{FF2B5EF4-FFF2-40B4-BE49-F238E27FC236}">
                    <a16:creationId xmlns:a16="http://schemas.microsoft.com/office/drawing/2014/main" id="{7B3F6555-2281-007A-887C-6C7409E696C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08323" y="1840527"/>
                <a:ext cx="0" cy="521672"/>
              </a:xfrm>
              <a:prstGeom prst="line">
                <a:avLst/>
              </a:prstGeom>
              <a:ln w="508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" name="Straight Connector 5">
                <a:extLst>
                  <a:ext uri="{FF2B5EF4-FFF2-40B4-BE49-F238E27FC236}">
                    <a16:creationId xmlns:a16="http://schemas.microsoft.com/office/drawing/2014/main" id="{8760DC9E-4CE9-A21E-7A48-E48F40C2D84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916130" y="1840527"/>
                <a:ext cx="0" cy="521672"/>
              </a:xfrm>
              <a:prstGeom prst="line">
                <a:avLst/>
              </a:prstGeom>
              <a:ln w="508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" name="Straight Connector 6">
                <a:extLst>
                  <a:ext uri="{FF2B5EF4-FFF2-40B4-BE49-F238E27FC236}">
                    <a16:creationId xmlns:a16="http://schemas.microsoft.com/office/drawing/2014/main" id="{67A8CB83-B5F9-A9DE-9E49-6969C229997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100917" y="1840527"/>
                <a:ext cx="0" cy="521672"/>
              </a:xfrm>
              <a:prstGeom prst="line">
                <a:avLst/>
              </a:prstGeom>
              <a:ln w="508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" name="Straight Connector 7">
                <a:extLst>
                  <a:ext uri="{FF2B5EF4-FFF2-40B4-BE49-F238E27FC236}">
                    <a16:creationId xmlns:a16="http://schemas.microsoft.com/office/drawing/2014/main" id="{B52C87C1-7EF1-7441-F4A4-DF99CEBE138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361471" y="1840527"/>
                <a:ext cx="0" cy="521672"/>
              </a:xfrm>
              <a:prstGeom prst="line">
                <a:avLst/>
              </a:prstGeom>
              <a:ln w="508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Straight Connector 8">
                <a:extLst>
                  <a:ext uri="{FF2B5EF4-FFF2-40B4-BE49-F238E27FC236}">
                    <a16:creationId xmlns:a16="http://schemas.microsoft.com/office/drawing/2014/main" id="{CCF7D95C-A3C6-E6F0-F321-3C6E9FA9B62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659330" y="1840527"/>
                <a:ext cx="0" cy="521672"/>
              </a:xfrm>
              <a:prstGeom prst="line">
                <a:avLst/>
              </a:prstGeom>
              <a:ln w="508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Connector 9">
                <a:extLst>
                  <a:ext uri="{FF2B5EF4-FFF2-40B4-BE49-F238E27FC236}">
                    <a16:creationId xmlns:a16="http://schemas.microsoft.com/office/drawing/2014/main" id="{15320F3E-492D-A4A4-6F1F-0EC95B1E33A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252155" y="1840527"/>
                <a:ext cx="0" cy="521672"/>
              </a:xfrm>
              <a:prstGeom prst="line">
                <a:avLst/>
              </a:prstGeom>
              <a:ln w="508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91B3B07F-47D7-6C05-3541-46B2E87E1B0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089923" y="1840527"/>
                <a:ext cx="0" cy="521672"/>
              </a:xfrm>
              <a:prstGeom prst="line">
                <a:avLst/>
              </a:prstGeom>
              <a:ln w="508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9C10F639-5C35-E3AC-4B08-67313AC5805E}"/>
                </a:ext>
              </a:extLst>
            </p:cNvPr>
            <p:cNvGrpSpPr/>
            <p:nvPr/>
          </p:nvGrpSpPr>
          <p:grpSpPr>
            <a:xfrm>
              <a:off x="6243485" y="1815589"/>
              <a:ext cx="5343832" cy="521672"/>
              <a:chOff x="3908323" y="1840527"/>
              <a:chExt cx="5343832" cy="521672"/>
            </a:xfrm>
          </p:grpSpPr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DF6FC09C-459B-B7A9-26B0-0554CACB057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08323" y="1840527"/>
                <a:ext cx="0" cy="521672"/>
              </a:xfrm>
              <a:prstGeom prst="line">
                <a:avLst/>
              </a:prstGeom>
              <a:ln w="508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5344EA1C-9FDC-1FD3-3C18-5087B7D6421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916130" y="1840527"/>
                <a:ext cx="0" cy="521672"/>
              </a:xfrm>
              <a:prstGeom prst="line">
                <a:avLst/>
              </a:prstGeom>
              <a:ln w="508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F4884A42-A352-31D1-E2AC-6B8F40B994E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100917" y="1840527"/>
                <a:ext cx="0" cy="521672"/>
              </a:xfrm>
              <a:prstGeom prst="line">
                <a:avLst/>
              </a:prstGeom>
              <a:ln w="508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9258FEFC-6D28-3006-3675-0336BF47CA7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361471" y="1840527"/>
                <a:ext cx="0" cy="521672"/>
              </a:xfrm>
              <a:prstGeom prst="line">
                <a:avLst/>
              </a:prstGeom>
              <a:ln w="508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B45F7779-7ADE-41E8-96AB-CBE85E5A8D0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659330" y="1840527"/>
                <a:ext cx="0" cy="521672"/>
              </a:xfrm>
              <a:prstGeom prst="line">
                <a:avLst/>
              </a:prstGeom>
              <a:ln w="508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C8DA1C81-0B10-0582-AED1-12F9C26729F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252155" y="1840527"/>
                <a:ext cx="0" cy="521672"/>
              </a:xfrm>
              <a:prstGeom prst="line">
                <a:avLst/>
              </a:prstGeom>
              <a:ln w="508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E8DADCFA-74CA-2DBB-511F-F419110A4FA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089923" y="1840527"/>
                <a:ext cx="0" cy="521672"/>
              </a:xfrm>
              <a:prstGeom prst="line">
                <a:avLst/>
              </a:prstGeom>
              <a:ln w="508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4D6EAAE1-87F9-1D73-76F1-D980C923F4B3}"/>
              </a:ext>
            </a:extLst>
          </p:cNvPr>
          <p:cNvGrpSpPr/>
          <p:nvPr/>
        </p:nvGrpSpPr>
        <p:grpSpPr>
          <a:xfrm>
            <a:off x="3959643" y="2881223"/>
            <a:ext cx="6463629" cy="1408936"/>
            <a:chOff x="5658262" y="5681103"/>
            <a:chExt cx="6463629" cy="1408936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CBAF3763-C713-8E8E-9B3C-90F3C665F34B}"/>
                </a:ext>
              </a:extLst>
            </p:cNvPr>
            <p:cNvSpPr txBox="1"/>
            <p:nvPr/>
          </p:nvSpPr>
          <p:spPr>
            <a:xfrm>
              <a:off x="5658262" y="6566819"/>
              <a:ext cx="6463629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each moment in time: a (biased) coin flip</a:t>
              </a:r>
            </a:p>
          </p:txBody>
        </p: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0FA8BD7A-AF6B-E348-4055-1AC29DE0081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74523" y="5681103"/>
              <a:ext cx="0" cy="819509"/>
            </a:xfrm>
            <a:prstGeom prst="straightConnector1">
              <a:avLst/>
            </a:prstGeom>
            <a:ln w="5080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43D7D011-44DB-F056-23A8-3F84A4F3A8E3}"/>
              </a:ext>
            </a:extLst>
          </p:cNvPr>
          <p:cNvSpPr txBox="1"/>
          <p:nvPr/>
        </p:nvSpPr>
        <p:spPr>
          <a:xfrm>
            <a:off x="3969116" y="4356366"/>
            <a:ext cx="527516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No dependence on past or future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7A156B0F-EEE6-999B-0BA9-6CDEAFFECB43}"/>
                  </a:ext>
                </a:extLst>
              </p:cNvPr>
              <p:cNvSpPr txBox="1"/>
              <p:nvPr/>
            </p:nvSpPr>
            <p:spPr>
              <a:xfrm>
                <a:off x="280884" y="5449256"/>
                <a:ext cx="6053837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b="1" dirty="0"/>
                  <a:t>Q. </a:t>
                </a:r>
                <a:r>
                  <a:rPr lang="en-US" sz="2800" dirty="0"/>
                  <a:t>What is the autocovariance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𝑟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𝑛𝑛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  <a:sym typeface="Wingdings" pitchFamily="2" charset="2"/>
                      </a:rPr>
                      <m:t>[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itchFamily="2" charset="2"/>
                      </a:rPr>
                      <m:t>𝜏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itchFamily="2" charset="2"/>
                      </a:rPr>
                      <m:t>]</m:t>
                    </m:r>
                  </m:oMath>
                </a14:m>
                <a:r>
                  <a:rPr lang="en-US" sz="2800" dirty="0"/>
                  <a:t>? </a:t>
                </a: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7A156B0F-EEE6-999B-0BA9-6CDEAFFECB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0884" y="5449256"/>
                <a:ext cx="6053837" cy="523220"/>
              </a:xfrm>
              <a:prstGeom prst="rect">
                <a:avLst/>
              </a:prstGeom>
              <a:blipFill>
                <a:blip r:embed="rId2"/>
                <a:stretch>
                  <a:fillRect l="-2096" t="-14286" r="-1258" b="-309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32" name="Group 131">
            <a:extLst>
              <a:ext uri="{FF2B5EF4-FFF2-40B4-BE49-F238E27FC236}">
                <a16:creationId xmlns:a16="http://schemas.microsoft.com/office/drawing/2014/main" id="{BD89D513-92B4-BAAA-D428-416BF2F5AF92}"/>
              </a:ext>
            </a:extLst>
          </p:cNvPr>
          <p:cNvGrpSpPr/>
          <p:nvPr/>
        </p:nvGrpSpPr>
        <p:grpSpPr>
          <a:xfrm>
            <a:off x="1168741" y="2690366"/>
            <a:ext cx="10545097" cy="766683"/>
            <a:chOff x="1194619" y="4563550"/>
            <a:chExt cx="10545097" cy="76668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C3051279-7FD2-4480-DE2A-D99F947D5FAC}"/>
                    </a:ext>
                  </a:extLst>
                </p:cNvPr>
                <p:cNvSpPr txBox="1"/>
                <p:nvPr/>
              </p:nvSpPr>
              <p:spPr>
                <a:xfrm>
                  <a:off x="7653693" y="4807013"/>
                  <a:ext cx="3747373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800" dirty="0"/>
                    <a:t>N samples, time step </a:t>
                  </a:r>
                  <a14:m>
                    <m:oMath xmlns:m="http://schemas.openxmlformats.org/officeDocument/2006/math">
                      <m:r>
                        <a:rPr lang="en-US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</m:oMath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C3051279-7FD2-4480-DE2A-D99F947D5FA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53693" y="4807013"/>
                  <a:ext cx="3747373" cy="523220"/>
                </a:xfrm>
                <a:prstGeom prst="rect">
                  <a:avLst/>
                </a:prstGeom>
                <a:blipFill>
                  <a:blip r:embed="rId3"/>
                  <a:stretch>
                    <a:fillRect l="-3378" t="-9302" b="-3255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31" name="Group 130">
              <a:extLst>
                <a:ext uri="{FF2B5EF4-FFF2-40B4-BE49-F238E27FC236}">
                  <a16:creationId xmlns:a16="http://schemas.microsoft.com/office/drawing/2014/main" id="{4669B678-F9AA-7A1F-3D12-86054FFDE341}"/>
                </a:ext>
              </a:extLst>
            </p:cNvPr>
            <p:cNvGrpSpPr/>
            <p:nvPr/>
          </p:nvGrpSpPr>
          <p:grpSpPr>
            <a:xfrm>
              <a:off x="1194619" y="4563550"/>
              <a:ext cx="10545097" cy="124649"/>
              <a:chOff x="1194619" y="4563550"/>
              <a:chExt cx="10545097" cy="124649"/>
            </a:xfrm>
          </p:grpSpPr>
          <p:cxnSp>
            <p:nvCxnSpPr>
              <p:cNvPr id="25" name="Straight Connector 24">
                <a:extLst>
                  <a:ext uri="{FF2B5EF4-FFF2-40B4-BE49-F238E27FC236}">
                    <a16:creationId xmlns:a16="http://schemas.microsoft.com/office/drawing/2014/main" id="{CA2ABADC-2991-3C3F-67FA-DC9DC51AE7D7}"/>
                  </a:ext>
                </a:extLst>
              </p:cNvPr>
              <p:cNvCxnSpPr/>
              <p:nvPr/>
            </p:nvCxnSpPr>
            <p:spPr>
              <a:xfrm>
                <a:off x="1194619" y="4688199"/>
                <a:ext cx="10545097" cy="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62" name="Group 61">
                <a:extLst>
                  <a:ext uri="{FF2B5EF4-FFF2-40B4-BE49-F238E27FC236}">
                    <a16:creationId xmlns:a16="http://schemas.microsoft.com/office/drawing/2014/main" id="{7596D344-5883-0524-AA19-CDB9F65EA62B}"/>
                  </a:ext>
                </a:extLst>
              </p:cNvPr>
              <p:cNvGrpSpPr/>
              <p:nvPr/>
            </p:nvGrpSpPr>
            <p:grpSpPr>
              <a:xfrm>
                <a:off x="1194619" y="4571999"/>
                <a:ext cx="4215616" cy="116200"/>
                <a:chOff x="1194619" y="4571999"/>
                <a:chExt cx="4215616" cy="116200"/>
              </a:xfrm>
            </p:grpSpPr>
            <p:cxnSp>
              <p:nvCxnSpPr>
                <p:cNvPr id="29" name="Straight Connector 28">
                  <a:extLst>
                    <a:ext uri="{FF2B5EF4-FFF2-40B4-BE49-F238E27FC236}">
                      <a16:creationId xmlns:a16="http://schemas.microsoft.com/office/drawing/2014/main" id="{208D487A-4BC5-B535-5A84-E1332B44E47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194619" y="4572000"/>
                  <a:ext cx="0" cy="116199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" name="Straight Connector 29">
                  <a:extLst>
                    <a:ext uri="{FF2B5EF4-FFF2-40B4-BE49-F238E27FC236}">
                      <a16:creationId xmlns:a16="http://schemas.microsoft.com/office/drawing/2014/main" id="{AA00F7C6-D860-22AD-608F-6A369892412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330607" y="4572000"/>
                  <a:ext cx="0" cy="116199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" name="Straight Connector 30">
                  <a:extLst>
                    <a:ext uri="{FF2B5EF4-FFF2-40B4-BE49-F238E27FC236}">
                      <a16:creationId xmlns:a16="http://schemas.microsoft.com/office/drawing/2014/main" id="{07BACFB9-68B2-8E17-F9EE-07A91C5C6E3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466595" y="4572000"/>
                  <a:ext cx="0" cy="116199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" name="Straight Connector 31">
                  <a:extLst>
                    <a:ext uri="{FF2B5EF4-FFF2-40B4-BE49-F238E27FC236}">
                      <a16:creationId xmlns:a16="http://schemas.microsoft.com/office/drawing/2014/main" id="{C16E9537-9B68-144A-37E6-7984BEF5965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602583" y="4572000"/>
                  <a:ext cx="0" cy="116199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" name="Straight Connector 32">
                  <a:extLst>
                    <a:ext uri="{FF2B5EF4-FFF2-40B4-BE49-F238E27FC236}">
                      <a16:creationId xmlns:a16="http://schemas.microsoft.com/office/drawing/2014/main" id="{CD978FA5-0208-73CF-04D1-3D8D0E9254E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738571" y="4572000"/>
                  <a:ext cx="0" cy="116199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4" name="Straight Connector 33">
                  <a:extLst>
                    <a:ext uri="{FF2B5EF4-FFF2-40B4-BE49-F238E27FC236}">
                      <a16:creationId xmlns:a16="http://schemas.microsoft.com/office/drawing/2014/main" id="{99D68A61-0FAE-C3E8-B69B-18DAE651932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874559" y="4572000"/>
                  <a:ext cx="0" cy="116199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5" name="Straight Connector 34">
                  <a:extLst>
                    <a:ext uri="{FF2B5EF4-FFF2-40B4-BE49-F238E27FC236}">
                      <a16:creationId xmlns:a16="http://schemas.microsoft.com/office/drawing/2014/main" id="{5D9D526E-F0D1-7651-45C3-77F70A2A6AB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010547" y="4572000"/>
                  <a:ext cx="0" cy="116199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6" name="Straight Connector 35">
                  <a:extLst>
                    <a:ext uri="{FF2B5EF4-FFF2-40B4-BE49-F238E27FC236}">
                      <a16:creationId xmlns:a16="http://schemas.microsoft.com/office/drawing/2014/main" id="{C3F06E7E-9327-1903-E9F1-7FD0AA69DB9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146535" y="4572000"/>
                  <a:ext cx="0" cy="116199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" name="Straight Connector 36">
                  <a:extLst>
                    <a:ext uri="{FF2B5EF4-FFF2-40B4-BE49-F238E27FC236}">
                      <a16:creationId xmlns:a16="http://schemas.microsoft.com/office/drawing/2014/main" id="{F8CF4712-265C-377C-5A76-0BC67CAA5EA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282523" y="4572000"/>
                  <a:ext cx="0" cy="116199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Straight Connector 37">
                  <a:extLst>
                    <a:ext uri="{FF2B5EF4-FFF2-40B4-BE49-F238E27FC236}">
                      <a16:creationId xmlns:a16="http://schemas.microsoft.com/office/drawing/2014/main" id="{66BC34E8-2118-A20E-F35C-1E3C7261912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418511" y="4572000"/>
                  <a:ext cx="0" cy="116199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Straight Connector 38">
                  <a:extLst>
                    <a:ext uri="{FF2B5EF4-FFF2-40B4-BE49-F238E27FC236}">
                      <a16:creationId xmlns:a16="http://schemas.microsoft.com/office/drawing/2014/main" id="{BD0BDD48-CD53-D8CC-C858-238F5EA950F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554499" y="4572000"/>
                  <a:ext cx="0" cy="116199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>
                  <a:extLst>
                    <a:ext uri="{FF2B5EF4-FFF2-40B4-BE49-F238E27FC236}">
                      <a16:creationId xmlns:a16="http://schemas.microsoft.com/office/drawing/2014/main" id="{8C84A04C-9CE8-A802-3356-1A0A0898491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690487" y="4572000"/>
                  <a:ext cx="0" cy="116199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Straight Connector 40">
                  <a:extLst>
                    <a:ext uri="{FF2B5EF4-FFF2-40B4-BE49-F238E27FC236}">
                      <a16:creationId xmlns:a16="http://schemas.microsoft.com/office/drawing/2014/main" id="{6408BE72-4FC4-495A-303D-5152F9ADE20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826475" y="4572000"/>
                  <a:ext cx="0" cy="116199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Straight Connector 41">
                  <a:extLst>
                    <a:ext uri="{FF2B5EF4-FFF2-40B4-BE49-F238E27FC236}">
                      <a16:creationId xmlns:a16="http://schemas.microsoft.com/office/drawing/2014/main" id="{949ACCC4-601C-DD9F-3F6B-323219F5296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962463" y="4572000"/>
                  <a:ext cx="0" cy="116199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" name="Straight Connector 42">
                  <a:extLst>
                    <a:ext uri="{FF2B5EF4-FFF2-40B4-BE49-F238E27FC236}">
                      <a16:creationId xmlns:a16="http://schemas.microsoft.com/office/drawing/2014/main" id="{67CD99B4-AB08-44F9-AD4D-48E2028644D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098451" y="4572000"/>
                  <a:ext cx="0" cy="116199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4" name="Straight Connector 43">
                  <a:extLst>
                    <a:ext uri="{FF2B5EF4-FFF2-40B4-BE49-F238E27FC236}">
                      <a16:creationId xmlns:a16="http://schemas.microsoft.com/office/drawing/2014/main" id="{6F88E015-240A-11A4-F81C-1D7FABD539D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234435" y="4572000"/>
                  <a:ext cx="0" cy="116199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61" name="Group 60">
                  <a:extLst>
                    <a:ext uri="{FF2B5EF4-FFF2-40B4-BE49-F238E27FC236}">
                      <a16:creationId xmlns:a16="http://schemas.microsoft.com/office/drawing/2014/main" id="{7E26DEDC-1A66-021E-9E9F-F703CD82F294}"/>
                    </a:ext>
                  </a:extLst>
                </p:cNvPr>
                <p:cNvGrpSpPr/>
                <p:nvPr/>
              </p:nvGrpSpPr>
              <p:grpSpPr>
                <a:xfrm>
                  <a:off x="3370419" y="4571999"/>
                  <a:ext cx="2039816" cy="116199"/>
                  <a:chOff x="1347019" y="4724400"/>
                  <a:chExt cx="2039816" cy="116199"/>
                </a:xfrm>
              </p:grpSpPr>
              <p:cxnSp>
                <p:nvCxnSpPr>
                  <p:cNvPr id="45" name="Straight Connector 44">
                    <a:extLst>
                      <a:ext uri="{FF2B5EF4-FFF2-40B4-BE49-F238E27FC236}">
                        <a16:creationId xmlns:a16="http://schemas.microsoft.com/office/drawing/2014/main" id="{29ACB509-D4A9-7120-1AEC-6E0A49BC19B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347019" y="4724400"/>
                    <a:ext cx="0" cy="116199"/>
                  </a:xfrm>
                  <a:prstGeom prst="line">
                    <a:avLst/>
                  </a:prstGeom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6" name="Straight Connector 45">
                    <a:extLst>
                      <a:ext uri="{FF2B5EF4-FFF2-40B4-BE49-F238E27FC236}">
                        <a16:creationId xmlns:a16="http://schemas.microsoft.com/office/drawing/2014/main" id="{0695B656-E082-70B3-E793-BC8ACB355AE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483007" y="4724400"/>
                    <a:ext cx="0" cy="116199"/>
                  </a:xfrm>
                  <a:prstGeom prst="line">
                    <a:avLst/>
                  </a:prstGeom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7" name="Straight Connector 46">
                    <a:extLst>
                      <a:ext uri="{FF2B5EF4-FFF2-40B4-BE49-F238E27FC236}">
                        <a16:creationId xmlns:a16="http://schemas.microsoft.com/office/drawing/2014/main" id="{AEB8AD84-2C08-628D-566E-918CAB109D2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618995" y="4724400"/>
                    <a:ext cx="0" cy="116199"/>
                  </a:xfrm>
                  <a:prstGeom prst="line">
                    <a:avLst/>
                  </a:prstGeom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8" name="Straight Connector 47">
                    <a:extLst>
                      <a:ext uri="{FF2B5EF4-FFF2-40B4-BE49-F238E27FC236}">
                        <a16:creationId xmlns:a16="http://schemas.microsoft.com/office/drawing/2014/main" id="{FE81FFD2-4AA7-933B-7EF3-72E0088739D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754983" y="4724400"/>
                    <a:ext cx="0" cy="116199"/>
                  </a:xfrm>
                  <a:prstGeom prst="line">
                    <a:avLst/>
                  </a:prstGeom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9" name="Straight Connector 48">
                    <a:extLst>
                      <a:ext uri="{FF2B5EF4-FFF2-40B4-BE49-F238E27FC236}">
                        <a16:creationId xmlns:a16="http://schemas.microsoft.com/office/drawing/2014/main" id="{61C3EE2E-C658-D6B7-F97D-98EAB9BD157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890971" y="4724400"/>
                    <a:ext cx="0" cy="116199"/>
                  </a:xfrm>
                  <a:prstGeom prst="line">
                    <a:avLst/>
                  </a:prstGeom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0" name="Straight Connector 49">
                    <a:extLst>
                      <a:ext uri="{FF2B5EF4-FFF2-40B4-BE49-F238E27FC236}">
                        <a16:creationId xmlns:a16="http://schemas.microsoft.com/office/drawing/2014/main" id="{B65008C0-A9FD-A876-3CF2-379E1B219CA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026959" y="4724400"/>
                    <a:ext cx="0" cy="116199"/>
                  </a:xfrm>
                  <a:prstGeom prst="line">
                    <a:avLst/>
                  </a:prstGeom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1" name="Straight Connector 50">
                    <a:extLst>
                      <a:ext uri="{FF2B5EF4-FFF2-40B4-BE49-F238E27FC236}">
                        <a16:creationId xmlns:a16="http://schemas.microsoft.com/office/drawing/2014/main" id="{828D3B03-3603-9983-1555-00FA4557CD6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162947" y="4724400"/>
                    <a:ext cx="0" cy="116199"/>
                  </a:xfrm>
                  <a:prstGeom prst="line">
                    <a:avLst/>
                  </a:prstGeom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2" name="Straight Connector 51">
                    <a:extLst>
                      <a:ext uri="{FF2B5EF4-FFF2-40B4-BE49-F238E27FC236}">
                        <a16:creationId xmlns:a16="http://schemas.microsoft.com/office/drawing/2014/main" id="{A287374D-7F10-BA8C-16F1-C6C93FBF9B1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298935" y="4724400"/>
                    <a:ext cx="0" cy="116199"/>
                  </a:xfrm>
                  <a:prstGeom prst="line">
                    <a:avLst/>
                  </a:prstGeom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3" name="Straight Connector 52">
                    <a:extLst>
                      <a:ext uri="{FF2B5EF4-FFF2-40B4-BE49-F238E27FC236}">
                        <a16:creationId xmlns:a16="http://schemas.microsoft.com/office/drawing/2014/main" id="{2AE0C73A-043F-383B-21B1-6ED40D158B3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434923" y="4724400"/>
                    <a:ext cx="0" cy="116199"/>
                  </a:xfrm>
                  <a:prstGeom prst="line">
                    <a:avLst/>
                  </a:prstGeom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4" name="Straight Connector 53">
                    <a:extLst>
                      <a:ext uri="{FF2B5EF4-FFF2-40B4-BE49-F238E27FC236}">
                        <a16:creationId xmlns:a16="http://schemas.microsoft.com/office/drawing/2014/main" id="{0034ABF1-7BE9-29D7-C28F-9FA00B11E17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570911" y="4724400"/>
                    <a:ext cx="0" cy="116199"/>
                  </a:xfrm>
                  <a:prstGeom prst="line">
                    <a:avLst/>
                  </a:prstGeom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5" name="Straight Connector 54">
                    <a:extLst>
                      <a:ext uri="{FF2B5EF4-FFF2-40B4-BE49-F238E27FC236}">
                        <a16:creationId xmlns:a16="http://schemas.microsoft.com/office/drawing/2014/main" id="{FD50D188-11B6-C010-566B-D84D3A2667E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706899" y="4724400"/>
                    <a:ext cx="0" cy="116199"/>
                  </a:xfrm>
                  <a:prstGeom prst="line">
                    <a:avLst/>
                  </a:prstGeom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6" name="Straight Connector 55">
                    <a:extLst>
                      <a:ext uri="{FF2B5EF4-FFF2-40B4-BE49-F238E27FC236}">
                        <a16:creationId xmlns:a16="http://schemas.microsoft.com/office/drawing/2014/main" id="{20630DBE-223C-FC77-A5AB-EE5072D1E87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842887" y="4724400"/>
                    <a:ext cx="0" cy="116199"/>
                  </a:xfrm>
                  <a:prstGeom prst="line">
                    <a:avLst/>
                  </a:prstGeom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7" name="Straight Connector 56">
                    <a:extLst>
                      <a:ext uri="{FF2B5EF4-FFF2-40B4-BE49-F238E27FC236}">
                        <a16:creationId xmlns:a16="http://schemas.microsoft.com/office/drawing/2014/main" id="{475999CB-3435-2D0A-712B-975DFFD834D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978875" y="4724400"/>
                    <a:ext cx="0" cy="116199"/>
                  </a:xfrm>
                  <a:prstGeom prst="line">
                    <a:avLst/>
                  </a:prstGeom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8" name="Straight Connector 57">
                    <a:extLst>
                      <a:ext uri="{FF2B5EF4-FFF2-40B4-BE49-F238E27FC236}">
                        <a16:creationId xmlns:a16="http://schemas.microsoft.com/office/drawing/2014/main" id="{AD85756B-92A9-4E40-6618-C689150D9CC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114863" y="4724400"/>
                    <a:ext cx="0" cy="116199"/>
                  </a:xfrm>
                  <a:prstGeom prst="line">
                    <a:avLst/>
                  </a:prstGeom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9" name="Straight Connector 58">
                    <a:extLst>
                      <a:ext uri="{FF2B5EF4-FFF2-40B4-BE49-F238E27FC236}">
                        <a16:creationId xmlns:a16="http://schemas.microsoft.com/office/drawing/2014/main" id="{5AE19B24-E9B9-B2EE-ACE7-4BD756458C1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250851" y="4724400"/>
                    <a:ext cx="0" cy="116199"/>
                  </a:xfrm>
                  <a:prstGeom prst="line">
                    <a:avLst/>
                  </a:prstGeom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0" name="Straight Connector 59">
                    <a:extLst>
                      <a:ext uri="{FF2B5EF4-FFF2-40B4-BE49-F238E27FC236}">
                        <a16:creationId xmlns:a16="http://schemas.microsoft.com/office/drawing/2014/main" id="{AC8645AC-E089-E0D4-3460-E405EACBB53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386835" y="4724400"/>
                    <a:ext cx="0" cy="116199"/>
                  </a:xfrm>
                  <a:prstGeom prst="line">
                    <a:avLst/>
                  </a:prstGeom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grpSp>
            <p:nvGrpSpPr>
              <p:cNvPr id="63" name="Group 62">
                <a:extLst>
                  <a:ext uri="{FF2B5EF4-FFF2-40B4-BE49-F238E27FC236}">
                    <a16:creationId xmlns:a16="http://schemas.microsoft.com/office/drawing/2014/main" id="{44C938C7-D325-6F79-5CE4-D6DBC84AB136}"/>
                  </a:ext>
                </a:extLst>
              </p:cNvPr>
              <p:cNvGrpSpPr/>
              <p:nvPr/>
            </p:nvGrpSpPr>
            <p:grpSpPr>
              <a:xfrm>
                <a:off x="5544671" y="4563550"/>
                <a:ext cx="4215616" cy="116200"/>
                <a:chOff x="1194619" y="4571999"/>
                <a:chExt cx="4215616" cy="116200"/>
              </a:xfrm>
            </p:grpSpPr>
            <p:cxnSp>
              <p:nvCxnSpPr>
                <p:cNvPr id="64" name="Straight Connector 63">
                  <a:extLst>
                    <a:ext uri="{FF2B5EF4-FFF2-40B4-BE49-F238E27FC236}">
                      <a16:creationId xmlns:a16="http://schemas.microsoft.com/office/drawing/2014/main" id="{C7BA444E-D6C7-B5CF-D13E-EE303D116B9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194619" y="4572000"/>
                  <a:ext cx="0" cy="116199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5" name="Straight Connector 64">
                  <a:extLst>
                    <a:ext uri="{FF2B5EF4-FFF2-40B4-BE49-F238E27FC236}">
                      <a16:creationId xmlns:a16="http://schemas.microsoft.com/office/drawing/2014/main" id="{EFC655CD-83CA-D7D1-30D3-E9BCE88E38A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330607" y="4572000"/>
                  <a:ext cx="0" cy="116199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6" name="Straight Connector 65">
                  <a:extLst>
                    <a:ext uri="{FF2B5EF4-FFF2-40B4-BE49-F238E27FC236}">
                      <a16:creationId xmlns:a16="http://schemas.microsoft.com/office/drawing/2014/main" id="{2CFE4539-9D61-E577-B7E2-08BA37CC54F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466595" y="4572000"/>
                  <a:ext cx="0" cy="116199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7" name="Straight Connector 66">
                  <a:extLst>
                    <a:ext uri="{FF2B5EF4-FFF2-40B4-BE49-F238E27FC236}">
                      <a16:creationId xmlns:a16="http://schemas.microsoft.com/office/drawing/2014/main" id="{B09A5751-E7FA-0A08-B2B8-77E6B276ACB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602583" y="4572000"/>
                  <a:ext cx="0" cy="116199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8" name="Straight Connector 67">
                  <a:extLst>
                    <a:ext uri="{FF2B5EF4-FFF2-40B4-BE49-F238E27FC236}">
                      <a16:creationId xmlns:a16="http://schemas.microsoft.com/office/drawing/2014/main" id="{F0A00BAB-3BC5-A12F-1CC1-B822A288387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738571" y="4572000"/>
                  <a:ext cx="0" cy="116199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9" name="Straight Connector 68">
                  <a:extLst>
                    <a:ext uri="{FF2B5EF4-FFF2-40B4-BE49-F238E27FC236}">
                      <a16:creationId xmlns:a16="http://schemas.microsoft.com/office/drawing/2014/main" id="{D1F07A02-69FD-561B-4E6F-C16779AF069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874559" y="4572000"/>
                  <a:ext cx="0" cy="116199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0" name="Straight Connector 69">
                  <a:extLst>
                    <a:ext uri="{FF2B5EF4-FFF2-40B4-BE49-F238E27FC236}">
                      <a16:creationId xmlns:a16="http://schemas.microsoft.com/office/drawing/2014/main" id="{9173AFF4-957E-144B-CF3F-9D12B7FD9BC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010547" y="4572000"/>
                  <a:ext cx="0" cy="116199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1" name="Straight Connector 70">
                  <a:extLst>
                    <a:ext uri="{FF2B5EF4-FFF2-40B4-BE49-F238E27FC236}">
                      <a16:creationId xmlns:a16="http://schemas.microsoft.com/office/drawing/2014/main" id="{E4558FA8-65F3-B3F2-85AF-B532BCE31D4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146535" y="4572000"/>
                  <a:ext cx="0" cy="116199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2" name="Straight Connector 71">
                  <a:extLst>
                    <a:ext uri="{FF2B5EF4-FFF2-40B4-BE49-F238E27FC236}">
                      <a16:creationId xmlns:a16="http://schemas.microsoft.com/office/drawing/2014/main" id="{9D8995D6-5D1E-9476-D974-57FDFF3E656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282523" y="4572000"/>
                  <a:ext cx="0" cy="116199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3" name="Straight Connector 72">
                  <a:extLst>
                    <a:ext uri="{FF2B5EF4-FFF2-40B4-BE49-F238E27FC236}">
                      <a16:creationId xmlns:a16="http://schemas.microsoft.com/office/drawing/2014/main" id="{84BE16BD-955C-A886-70E4-FCF8D7AF7D6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418511" y="4572000"/>
                  <a:ext cx="0" cy="116199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4" name="Straight Connector 73">
                  <a:extLst>
                    <a:ext uri="{FF2B5EF4-FFF2-40B4-BE49-F238E27FC236}">
                      <a16:creationId xmlns:a16="http://schemas.microsoft.com/office/drawing/2014/main" id="{4D77FA1A-95E0-6078-FAE9-9169D779F85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554499" y="4572000"/>
                  <a:ext cx="0" cy="116199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5" name="Straight Connector 74">
                  <a:extLst>
                    <a:ext uri="{FF2B5EF4-FFF2-40B4-BE49-F238E27FC236}">
                      <a16:creationId xmlns:a16="http://schemas.microsoft.com/office/drawing/2014/main" id="{A487771B-4B93-10B7-005F-7CB6A67791E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690487" y="4572000"/>
                  <a:ext cx="0" cy="116199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6" name="Straight Connector 75">
                  <a:extLst>
                    <a:ext uri="{FF2B5EF4-FFF2-40B4-BE49-F238E27FC236}">
                      <a16:creationId xmlns:a16="http://schemas.microsoft.com/office/drawing/2014/main" id="{F782DCDE-2EE2-BCD8-9918-5460226EA64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826475" y="4572000"/>
                  <a:ext cx="0" cy="116199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7" name="Straight Connector 76">
                  <a:extLst>
                    <a:ext uri="{FF2B5EF4-FFF2-40B4-BE49-F238E27FC236}">
                      <a16:creationId xmlns:a16="http://schemas.microsoft.com/office/drawing/2014/main" id="{813B852F-2EC6-A34A-108C-DCA79FD4E09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962463" y="4572000"/>
                  <a:ext cx="0" cy="116199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8" name="Straight Connector 77">
                  <a:extLst>
                    <a:ext uri="{FF2B5EF4-FFF2-40B4-BE49-F238E27FC236}">
                      <a16:creationId xmlns:a16="http://schemas.microsoft.com/office/drawing/2014/main" id="{700A93E3-AFA7-2B2C-B3CE-74981475C22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098451" y="4572000"/>
                  <a:ext cx="0" cy="116199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9" name="Straight Connector 78">
                  <a:extLst>
                    <a:ext uri="{FF2B5EF4-FFF2-40B4-BE49-F238E27FC236}">
                      <a16:creationId xmlns:a16="http://schemas.microsoft.com/office/drawing/2014/main" id="{C2605D07-6683-7F7D-DC97-7AC13B4E405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234435" y="4572000"/>
                  <a:ext cx="0" cy="116199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80" name="Group 79">
                  <a:extLst>
                    <a:ext uri="{FF2B5EF4-FFF2-40B4-BE49-F238E27FC236}">
                      <a16:creationId xmlns:a16="http://schemas.microsoft.com/office/drawing/2014/main" id="{53ACAEBB-0B8B-EEE9-B2BB-521D9F8403C7}"/>
                    </a:ext>
                  </a:extLst>
                </p:cNvPr>
                <p:cNvGrpSpPr/>
                <p:nvPr/>
              </p:nvGrpSpPr>
              <p:grpSpPr>
                <a:xfrm>
                  <a:off x="3370419" y="4571999"/>
                  <a:ext cx="2039816" cy="116199"/>
                  <a:chOff x="1347019" y="4724400"/>
                  <a:chExt cx="2039816" cy="116199"/>
                </a:xfrm>
              </p:grpSpPr>
              <p:cxnSp>
                <p:nvCxnSpPr>
                  <p:cNvPr id="81" name="Straight Connector 80">
                    <a:extLst>
                      <a:ext uri="{FF2B5EF4-FFF2-40B4-BE49-F238E27FC236}">
                        <a16:creationId xmlns:a16="http://schemas.microsoft.com/office/drawing/2014/main" id="{1994EB15-8BFB-6487-F7F5-B00E44CF601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347019" y="4724400"/>
                    <a:ext cx="0" cy="116199"/>
                  </a:xfrm>
                  <a:prstGeom prst="line">
                    <a:avLst/>
                  </a:prstGeom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2" name="Straight Connector 81">
                    <a:extLst>
                      <a:ext uri="{FF2B5EF4-FFF2-40B4-BE49-F238E27FC236}">
                        <a16:creationId xmlns:a16="http://schemas.microsoft.com/office/drawing/2014/main" id="{2A7A0985-BF07-F5DC-4F2F-E161C6E1548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483007" y="4724400"/>
                    <a:ext cx="0" cy="116199"/>
                  </a:xfrm>
                  <a:prstGeom prst="line">
                    <a:avLst/>
                  </a:prstGeom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3" name="Straight Connector 82">
                    <a:extLst>
                      <a:ext uri="{FF2B5EF4-FFF2-40B4-BE49-F238E27FC236}">
                        <a16:creationId xmlns:a16="http://schemas.microsoft.com/office/drawing/2014/main" id="{177F367A-EA2B-EF06-E270-61B701B52E3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618995" y="4724400"/>
                    <a:ext cx="0" cy="116199"/>
                  </a:xfrm>
                  <a:prstGeom prst="line">
                    <a:avLst/>
                  </a:prstGeom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4" name="Straight Connector 83">
                    <a:extLst>
                      <a:ext uri="{FF2B5EF4-FFF2-40B4-BE49-F238E27FC236}">
                        <a16:creationId xmlns:a16="http://schemas.microsoft.com/office/drawing/2014/main" id="{85C81138-7DE3-B3C1-3E5B-C01014B37AA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754983" y="4724400"/>
                    <a:ext cx="0" cy="116199"/>
                  </a:xfrm>
                  <a:prstGeom prst="line">
                    <a:avLst/>
                  </a:prstGeom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5" name="Straight Connector 84">
                    <a:extLst>
                      <a:ext uri="{FF2B5EF4-FFF2-40B4-BE49-F238E27FC236}">
                        <a16:creationId xmlns:a16="http://schemas.microsoft.com/office/drawing/2014/main" id="{90C5A8D4-FDC3-DE5C-72A9-C1E036EED6B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890971" y="4724400"/>
                    <a:ext cx="0" cy="116199"/>
                  </a:xfrm>
                  <a:prstGeom prst="line">
                    <a:avLst/>
                  </a:prstGeom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6" name="Straight Connector 85">
                    <a:extLst>
                      <a:ext uri="{FF2B5EF4-FFF2-40B4-BE49-F238E27FC236}">
                        <a16:creationId xmlns:a16="http://schemas.microsoft.com/office/drawing/2014/main" id="{44A1B035-F22C-ED47-A516-8408FBE7AC2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026959" y="4724400"/>
                    <a:ext cx="0" cy="116199"/>
                  </a:xfrm>
                  <a:prstGeom prst="line">
                    <a:avLst/>
                  </a:prstGeom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7" name="Straight Connector 86">
                    <a:extLst>
                      <a:ext uri="{FF2B5EF4-FFF2-40B4-BE49-F238E27FC236}">
                        <a16:creationId xmlns:a16="http://schemas.microsoft.com/office/drawing/2014/main" id="{DE58D46E-A4DD-4780-A839-43D83AB8AE0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162947" y="4724400"/>
                    <a:ext cx="0" cy="116199"/>
                  </a:xfrm>
                  <a:prstGeom prst="line">
                    <a:avLst/>
                  </a:prstGeom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8" name="Straight Connector 87">
                    <a:extLst>
                      <a:ext uri="{FF2B5EF4-FFF2-40B4-BE49-F238E27FC236}">
                        <a16:creationId xmlns:a16="http://schemas.microsoft.com/office/drawing/2014/main" id="{2FA94BED-C790-B810-74E9-61BDBD1584A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298935" y="4724400"/>
                    <a:ext cx="0" cy="116199"/>
                  </a:xfrm>
                  <a:prstGeom prst="line">
                    <a:avLst/>
                  </a:prstGeom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9" name="Straight Connector 88">
                    <a:extLst>
                      <a:ext uri="{FF2B5EF4-FFF2-40B4-BE49-F238E27FC236}">
                        <a16:creationId xmlns:a16="http://schemas.microsoft.com/office/drawing/2014/main" id="{32D76CEE-EAA4-EA3F-8908-2340A8F21DB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434923" y="4724400"/>
                    <a:ext cx="0" cy="116199"/>
                  </a:xfrm>
                  <a:prstGeom prst="line">
                    <a:avLst/>
                  </a:prstGeom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0" name="Straight Connector 89">
                    <a:extLst>
                      <a:ext uri="{FF2B5EF4-FFF2-40B4-BE49-F238E27FC236}">
                        <a16:creationId xmlns:a16="http://schemas.microsoft.com/office/drawing/2014/main" id="{85E34D55-5F58-B451-E538-02849BC09F7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570911" y="4724400"/>
                    <a:ext cx="0" cy="116199"/>
                  </a:xfrm>
                  <a:prstGeom prst="line">
                    <a:avLst/>
                  </a:prstGeom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1" name="Straight Connector 90">
                    <a:extLst>
                      <a:ext uri="{FF2B5EF4-FFF2-40B4-BE49-F238E27FC236}">
                        <a16:creationId xmlns:a16="http://schemas.microsoft.com/office/drawing/2014/main" id="{EF15CD77-AF5A-9487-0F21-9C967BB4874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706899" y="4724400"/>
                    <a:ext cx="0" cy="116199"/>
                  </a:xfrm>
                  <a:prstGeom prst="line">
                    <a:avLst/>
                  </a:prstGeom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2" name="Straight Connector 91">
                    <a:extLst>
                      <a:ext uri="{FF2B5EF4-FFF2-40B4-BE49-F238E27FC236}">
                        <a16:creationId xmlns:a16="http://schemas.microsoft.com/office/drawing/2014/main" id="{DD238505-EA17-BF31-57AA-AABBD0392FF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842887" y="4724400"/>
                    <a:ext cx="0" cy="116199"/>
                  </a:xfrm>
                  <a:prstGeom prst="line">
                    <a:avLst/>
                  </a:prstGeom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3" name="Straight Connector 92">
                    <a:extLst>
                      <a:ext uri="{FF2B5EF4-FFF2-40B4-BE49-F238E27FC236}">
                        <a16:creationId xmlns:a16="http://schemas.microsoft.com/office/drawing/2014/main" id="{CFD6F9FA-9B01-9555-CE3E-7761E817550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978875" y="4724400"/>
                    <a:ext cx="0" cy="116199"/>
                  </a:xfrm>
                  <a:prstGeom prst="line">
                    <a:avLst/>
                  </a:prstGeom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4" name="Straight Connector 93">
                    <a:extLst>
                      <a:ext uri="{FF2B5EF4-FFF2-40B4-BE49-F238E27FC236}">
                        <a16:creationId xmlns:a16="http://schemas.microsoft.com/office/drawing/2014/main" id="{88BC6582-D205-E2E0-60C3-747536BBA78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114863" y="4724400"/>
                    <a:ext cx="0" cy="116199"/>
                  </a:xfrm>
                  <a:prstGeom prst="line">
                    <a:avLst/>
                  </a:prstGeom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5" name="Straight Connector 94">
                    <a:extLst>
                      <a:ext uri="{FF2B5EF4-FFF2-40B4-BE49-F238E27FC236}">
                        <a16:creationId xmlns:a16="http://schemas.microsoft.com/office/drawing/2014/main" id="{63654F47-1DA1-3553-8D3F-2D9CFE71790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250851" y="4724400"/>
                    <a:ext cx="0" cy="116199"/>
                  </a:xfrm>
                  <a:prstGeom prst="line">
                    <a:avLst/>
                  </a:prstGeom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6" name="Straight Connector 95">
                    <a:extLst>
                      <a:ext uri="{FF2B5EF4-FFF2-40B4-BE49-F238E27FC236}">
                        <a16:creationId xmlns:a16="http://schemas.microsoft.com/office/drawing/2014/main" id="{B3D6F373-82CD-8E81-D2BE-D1E17C0D8BD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386835" y="4724400"/>
                    <a:ext cx="0" cy="116199"/>
                  </a:xfrm>
                  <a:prstGeom prst="line">
                    <a:avLst/>
                  </a:prstGeom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cxnSp>
            <p:nvCxnSpPr>
              <p:cNvPr id="98" name="Straight Connector 97">
                <a:extLst>
                  <a:ext uri="{FF2B5EF4-FFF2-40B4-BE49-F238E27FC236}">
                    <a16:creationId xmlns:a16="http://schemas.microsoft.com/office/drawing/2014/main" id="{9A264788-88D4-585A-F1B5-F085504D58E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905198" y="4563550"/>
                <a:ext cx="0" cy="116199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" name="Straight Connector 98">
                <a:extLst>
                  <a:ext uri="{FF2B5EF4-FFF2-40B4-BE49-F238E27FC236}">
                    <a16:creationId xmlns:a16="http://schemas.microsoft.com/office/drawing/2014/main" id="{08402158-65CB-6389-F6C0-B9E200B98E2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041186" y="4563550"/>
                <a:ext cx="0" cy="116199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Straight Connector 99">
                <a:extLst>
                  <a:ext uri="{FF2B5EF4-FFF2-40B4-BE49-F238E27FC236}">
                    <a16:creationId xmlns:a16="http://schemas.microsoft.com/office/drawing/2014/main" id="{FDD45AEA-5CBF-A18F-6C48-7335E7B4A73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177174" y="4563550"/>
                <a:ext cx="0" cy="116199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1" name="Straight Connector 100">
                <a:extLst>
                  <a:ext uri="{FF2B5EF4-FFF2-40B4-BE49-F238E27FC236}">
                    <a16:creationId xmlns:a16="http://schemas.microsoft.com/office/drawing/2014/main" id="{E7DEBAD5-7E81-8EE7-2C7B-4D0203BAE25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313162" y="4563550"/>
                <a:ext cx="0" cy="116199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2" name="Straight Connector 101">
                <a:extLst>
                  <a:ext uri="{FF2B5EF4-FFF2-40B4-BE49-F238E27FC236}">
                    <a16:creationId xmlns:a16="http://schemas.microsoft.com/office/drawing/2014/main" id="{51866C17-B212-67FB-AD85-095B08B35C3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449150" y="4563550"/>
                <a:ext cx="0" cy="116199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3" name="Straight Connector 102">
                <a:extLst>
                  <a:ext uri="{FF2B5EF4-FFF2-40B4-BE49-F238E27FC236}">
                    <a16:creationId xmlns:a16="http://schemas.microsoft.com/office/drawing/2014/main" id="{4BEC5693-A511-CB36-99EB-64C91806CC6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585138" y="4563550"/>
                <a:ext cx="0" cy="116199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4" name="Straight Connector 103">
                <a:extLst>
                  <a:ext uri="{FF2B5EF4-FFF2-40B4-BE49-F238E27FC236}">
                    <a16:creationId xmlns:a16="http://schemas.microsoft.com/office/drawing/2014/main" id="{9E244F32-E282-88F0-0EEF-FB5EB094D58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721126" y="4563550"/>
                <a:ext cx="0" cy="116199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" name="Straight Connector 104">
                <a:extLst>
                  <a:ext uri="{FF2B5EF4-FFF2-40B4-BE49-F238E27FC236}">
                    <a16:creationId xmlns:a16="http://schemas.microsoft.com/office/drawing/2014/main" id="{E2FAB192-3BCD-FB12-D7CF-C01F4244C8C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857114" y="4563550"/>
                <a:ext cx="0" cy="116199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" name="Straight Connector 105">
                <a:extLst>
                  <a:ext uri="{FF2B5EF4-FFF2-40B4-BE49-F238E27FC236}">
                    <a16:creationId xmlns:a16="http://schemas.microsoft.com/office/drawing/2014/main" id="{4E921393-333A-A9E9-04CB-E2454C41215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993102" y="4563550"/>
                <a:ext cx="0" cy="116199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7" name="Straight Connector 106">
                <a:extLst>
                  <a:ext uri="{FF2B5EF4-FFF2-40B4-BE49-F238E27FC236}">
                    <a16:creationId xmlns:a16="http://schemas.microsoft.com/office/drawing/2014/main" id="{B3A98833-B0CF-B2E8-5AD5-481BACB5033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129090" y="4563550"/>
                <a:ext cx="0" cy="116199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" name="Straight Connector 107">
                <a:extLst>
                  <a:ext uri="{FF2B5EF4-FFF2-40B4-BE49-F238E27FC236}">
                    <a16:creationId xmlns:a16="http://schemas.microsoft.com/office/drawing/2014/main" id="{9F73CC42-780E-14F9-94DB-B4F45A649E2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265078" y="4563550"/>
                <a:ext cx="0" cy="116199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9" name="Straight Connector 108">
                <a:extLst>
                  <a:ext uri="{FF2B5EF4-FFF2-40B4-BE49-F238E27FC236}">
                    <a16:creationId xmlns:a16="http://schemas.microsoft.com/office/drawing/2014/main" id="{16714905-BDE5-7E46-E439-D8F3F008484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401066" y="4563550"/>
                <a:ext cx="0" cy="116199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0" name="Straight Connector 109">
                <a:extLst>
                  <a:ext uri="{FF2B5EF4-FFF2-40B4-BE49-F238E27FC236}">
                    <a16:creationId xmlns:a16="http://schemas.microsoft.com/office/drawing/2014/main" id="{0D08D56E-B630-4F6D-16AB-2420886D8A7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537054" y="4563550"/>
                <a:ext cx="0" cy="116199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1" name="Straight Connector 110">
                <a:extLst>
                  <a:ext uri="{FF2B5EF4-FFF2-40B4-BE49-F238E27FC236}">
                    <a16:creationId xmlns:a16="http://schemas.microsoft.com/office/drawing/2014/main" id="{C1FB0D28-DFC0-EFE3-2D25-B2DDBCEF53F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673042" y="4563550"/>
                <a:ext cx="0" cy="116199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35" name="TextBox 134">
                <a:extLst>
                  <a:ext uri="{FF2B5EF4-FFF2-40B4-BE49-F238E27FC236}">
                    <a16:creationId xmlns:a16="http://schemas.microsoft.com/office/drawing/2014/main" id="{EB2E2C22-5E7B-2306-B2FD-774EAED6EA06}"/>
                  </a:ext>
                </a:extLst>
              </p:cNvPr>
              <p:cNvSpPr txBox="1"/>
              <p:nvPr/>
            </p:nvSpPr>
            <p:spPr>
              <a:xfrm>
                <a:off x="280884" y="6033053"/>
                <a:ext cx="4967257" cy="5579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b="1" dirty="0"/>
                  <a:t>Q. </a:t>
                </a:r>
                <a:r>
                  <a:rPr lang="en-US" sz="2800" dirty="0"/>
                  <a:t>What is the spectrum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𝑆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𝑛𝑛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,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2800" dirty="0"/>
                  <a:t>? </a:t>
                </a:r>
              </a:p>
            </p:txBody>
          </p:sp>
        </mc:Choice>
        <mc:Fallback xmlns="">
          <p:sp>
            <p:nvSpPr>
              <p:cNvPr id="135" name="TextBox 134">
                <a:extLst>
                  <a:ext uri="{FF2B5EF4-FFF2-40B4-BE49-F238E27FC236}">
                    <a16:creationId xmlns:a16="http://schemas.microsoft.com/office/drawing/2014/main" id="{EB2E2C22-5E7B-2306-B2FD-774EAED6EA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0884" y="6033053"/>
                <a:ext cx="4967257" cy="557910"/>
              </a:xfrm>
              <a:prstGeom prst="rect">
                <a:avLst/>
              </a:prstGeom>
              <a:blipFill>
                <a:blip r:embed="rId4"/>
                <a:stretch>
                  <a:fillRect l="-2551" t="-11364" r="-1531" b="-272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07021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28" grpId="0"/>
      <p:bldP spid="13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598D68-D1F9-909F-7B39-286A5E79AF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Group 47">
            <a:extLst>
              <a:ext uri="{FF2B5EF4-FFF2-40B4-BE49-F238E27FC236}">
                <a16:creationId xmlns:a16="http://schemas.microsoft.com/office/drawing/2014/main" id="{A4B01701-6742-826F-F8B5-05C6E7F9508C}"/>
              </a:ext>
            </a:extLst>
          </p:cNvPr>
          <p:cNvGrpSpPr/>
          <p:nvPr/>
        </p:nvGrpSpPr>
        <p:grpSpPr>
          <a:xfrm>
            <a:off x="2965328" y="3233540"/>
            <a:ext cx="6556313" cy="2990151"/>
            <a:chOff x="4755632" y="4245593"/>
            <a:chExt cx="5151598" cy="2349500"/>
          </a:xfrm>
        </p:grpSpPr>
        <p:pic>
          <p:nvPicPr>
            <p:cNvPr id="49" name="Picture 48">
              <a:extLst>
                <a:ext uri="{FF2B5EF4-FFF2-40B4-BE49-F238E27FC236}">
                  <a16:creationId xmlns:a16="http://schemas.microsoft.com/office/drawing/2014/main" id="{0962F1AC-9235-BC54-1CD9-2FF9D472748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755632" y="4245593"/>
              <a:ext cx="4495800" cy="2349500"/>
            </a:xfrm>
            <a:prstGeom prst="rect">
              <a:avLst/>
            </a:prstGeom>
          </p:spPr>
        </p:pic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C8B80C38-A97E-E657-8B71-606A9F01FD38}"/>
                </a:ext>
              </a:extLst>
            </p:cNvPr>
            <p:cNvSpPr/>
            <p:nvPr/>
          </p:nvSpPr>
          <p:spPr>
            <a:xfrm>
              <a:off x="7003532" y="4245593"/>
              <a:ext cx="2247900" cy="50338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D4D81DFA-A938-DB12-8D8A-31A829CBD297}"/>
                </a:ext>
              </a:extLst>
            </p:cNvPr>
            <p:cNvSpPr/>
            <p:nvPr/>
          </p:nvSpPr>
          <p:spPr>
            <a:xfrm>
              <a:off x="7659330" y="5223593"/>
              <a:ext cx="2247900" cy="50338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645B12B-05D4-7912-A27C-72D70F9C1F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Autocovariance (spike train)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DF4457-00BC-D94C-8726-4EF6AAC4DD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6871" y="1325563"/>
            <a:ext cx="10515600" cy="498475"/>
          </a:xfrm>
        </p:spPr>
        <p:txBody>
          <a:bodyPr/>
          <a:lstStyle/>
          <a:p>
            <a:r>
              <a:rPr lang="en-US" b="1" dirty="0"/>
              <a:t>Ex. </a:t>
            </a:r>
            <a:r>
              <a:rPr lang="en-US" dirty="0"/>
              <a:t>Random spiking at a fixed rate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6110E485-B86C-3636-1A2B-190A32C913A7}"/>
              </a:ext>
            </a:extLst>
          </p:cNvPr>
          <p:cNvGrpSpPr/>
          <p:nvPr/>
        </p:nvGrpSpPr>
        <p:grpSpPr>
          <a:xfrm>
            <a:off x="1194619" y="2121005"/>
            <a:ext cx="10392698" cy="530121"/>
            <a:chOff x="1194619" y="1815589"/>
            <a:chExt cx="10392698" cy="530121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9D2F4494-894B-0126-691F-A480FDDAB9BC}"/>
                </a:ext>
              </a:extLst>
            </p:cNvPr>
            <p:cNvGrpSpPr/>
            <p:nvPr/>
          </p:nvGrpSpPr>
          <p:grpSpPr>
            <a:xfrm>
              <a:off x="1194619" y="1824038"/>
              <a:ext cx="5343832" cy="521672"/>
              <a:chOff x="3908323" y="1840527"/>
              <a:chExt cx="5343832" cy="521672"/>
            </a:xfrm>
          </p:grpSpPr>
          <p:cxnSp>
            <p:nvCxnSpPr>
              <p:cNvPr id="5" name="Straight Connector 4">
                <a:extLst>
                  <a:ext uri="{FF2B5EF4-FFF2-40B4-BE49-F238E27FC236}">
                    <a16:creationId xmlns:a16="http://schemas.microsoft.com/office/drawing/2014/main" id="{82FBE6E4-57DC-1F24-8DD1-CF009273AF9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08323" y="1840527"/>
                <a:ext cx="0" cy="521672"/>
              </a:xfrm>
              <a:prstGeom prst="line">
                <a:avLst/>
              </a:prstGeom>
              <a:ln w="508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" name="Straight Connector 5">
                <a:extLst>
                  <a:ext uri="{FF2B5EF4-FFF2-40B4-BE49-F238E27FC236}">
                    <a16:creationId xmlns:a16="http://schemas.microsoft.com/office/drawing/2014/main" id="{73C469BD-051F-8742-2099-DBF8E4EFD86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916130" y="1840527"/>
                <a:ext cx="0" cy="521672"/>
              </a:xfrm>
              <a:prstGeom prst="line">
                <a:avLst/>
              </a:prstGeom>
              <a:ln w="508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" name="Straight Connector 6">
                <a:extLst>
                  <a:ext uri="{FF2B5EF4-FFF2-40B4-BE49-F238E27FC236}">
                    <a16:creationId xmlns:a16="http://schemas.microsoft.com/office/drawing/2014/main" id="{6F83A9DC-516C-1D55-8FD4-CDEE8E887A6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100917" y="1840527"/>
                <a:ext cx="0" cy="521672"/>
              </a:xfrm>
              <a:prstGeom prst="line">
                <a:avLst/>
              </a:prstGeom>
              <a:ln w="508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" name="Straight Connector 7">
                <a:extLst>
                  <a:ext uri="{FF2B5EF4-FFF2-40B4-BE49-F238E27FC236}">
                    <a16:creationId xmlns:a16="http://schemas.microsoft.com/office/drawing/2014/main" id="{0C53C082-B72D-4F8C-043D-FCDCFF3FEEB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361471" y="1840527"/>
                <a:ext cx="0" cy="521672"/>
              </a:xfrm>
              <a:prstGeom prst="line">
                <a:avLst/>
              </a:prstGeom>
              <a:ln w="508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Straight Connector 8">
                <a:extLst>
                  <a:ext uri="{FF2B5EF4-FFF2-40B4-BE49-F238E27FC236}">
                    <a16:creationId xmlns:a16="http://schemas.microsoft.com/office/drawing/2014/main" id="{F6484244-C998-7480-E622-3C26089AD8D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659330" y="1840527"/>
                <a:ext cx="0" cy="521672"/>
              </a:xfrm>
              <a:prstGeom prst="line">
                <a:avLst/>
              </a:prstGeom>
              <a:ln w="508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Connector 9">
                <a:extLst>
                  <a:ext uri="{FF2B5EF4-FFF2-40B4-BE49-F238E27FC236}">
                    <a16:creationId xmlns:a16="http://schemas.microsoft.com/office/drawing/2014/main" id="{6A72580D-0CEB-8E99-2751-6F2BB102F7C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252155" y="1840527"/>
                <a:ext cx="0" cy="521672"/>
              </a:xfrm>
              <a:prstGeom prst="line">
                <a:avLst/>
              </a:prstGeom>
              <a:ln w="508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416EC94A-3F21-DE64-6421-A9825F5C256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089923" y="1840527"/>
                <a:ext cx="0" cy="521672"/>
              </a:xfrm>
              <a:prstGeom prst="line">
                <a:avLst/>
              </a:prstGeom>
              <a:ln w="508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1D70C132-E709-5EF3-C268-B20367CDD21E}"/>
                </a:ext>
              </a:extLst>
            </p:cNvPr>
            <p:cNvGrpSpPr/>
            <p:nvPr/>
          </p:nvGrpSpPr>
          <p:grpSpPr>
            <a:xfrm>
              <a:off x="6243485" y="1815589"/>
              <a:ext cx="5343832" cy="521672"/>
              <a:chOff x="3908323" y="1840527"/>
              <a:chExt cx="5343832" cy="521672"/>
            </a:xfrm>
          </p:grpSpPr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08B928E0-7244-4B9F-93B6-9427DAFB99D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08323" y="1840527"/>
                <a:ext cx="0" cy="521672"/>
              </a:xfrm>
              <a:prstGeom prst="line">
                <a:avLst/>
              </a:prstGeom>
              <a:ln w="508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3BD2710C-0254-8B31-83E8-9E73E28F5AC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916130" y="1840527"/>
                <a:ext cx="0" cy="521672"/>
              </a:xfrm>
              <a:prstGeom prst="line">
                <a:avLst/>
              </a:prstGeom>
              <a:ln w="508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7575006E-76A8-D406-C594-F502317D7BF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100917" y="1840527"/>
                <a:ext cx="0" cy="521672"/>
              </a:xfrm>
              <a:prstGeom prst="line">
                <a:avLst/>
              </a:prstGeom>
              <a:ln w="508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2C02C854-1BDC-1EE3-56A2-23AAD7EE20E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361471" y="1840527"/>
                <a:ext cx="0" cy="521672"/>
              </a:xfrm>
              <a:prstGeom prst="line">
                <a:avLst/>
              </a:prstGeom>
              <a:ln w="508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F9AF19A1-DDAD-BE45-01E2-B2EE6AE94C6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659330" y="1840527"/>
                <a:ext cx="0" cy="521672"/>
              </a:xfrm>
              <a:prstGeom prst="line">
                <a:avLst/>
              </a:prstGeom>
              <a:ln w="508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AA4B5B61-4F41-D4ED-74E6-C4F39B18031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252155" y="1840527"/>
                <a:ext cx="0" cy="521672"/>
              </a:xfrm>
              <a:prstGeom prst="line">
                <a:avLst/>
              </a:prstGeom>
              <a:ln w="508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A86BB6A0-6C80-F578-A56E-DCC6875BBDE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089923" y="1840527"/>
                <a:ext cx="0" cy="521672"/>
              </a:xfrm>
              <a:prstGeom prst="line">
                <a:avLst/>
              </a:prstGeom>
              <a:ln w="508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8A8B62EF-F876-EB4F-FC59-ED681AAAADBF}"/>
                  </a:ext>
                </a:extLst>
              </p:cNvPr>
              <p:cNvSpPr txBox="1"/>
              <p:nvPr/>
            </p:nvSpPr>
            <p:spPr>
              <a:xfrm>
                <a:off x="647086" y="3466691"/>
                <a:ext cx="2140356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800" dirty="0">
                    <a:solidFill>
                      <a:prstClr val="black"/>
                    </a:solidFill>
                    <a:sym typeface="Wingdings" pitchFamily="2" charset="2"/>
                  </a:rPr>
                  <a:t>Plot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sSubPr>
                      <m:e>
                        <m:r>
                          <a:rPr lang="en-US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sym typeface="Wingdings" pitchFamily="2" charset="2"/>
                          </a:rPr>
                          <m:t>𝑟</m:t>
                        </m:r>
                      </m:e>
                      <m:sub>
                        <m:r>
                          <a:rPr lang="en-US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sym typeface="Wingdings" pitchFamily="2" charset="2"/>
                          </a:rPr>
                          <m:t>𝑛𝑛</m:t>
                        </m:r>
                      </m:sub>
                    </m:sSub>
                    <m:r>
                      <a:rPr lang="en-US" sz="28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sym typeface="Wingdings" pitchFamily="2" charset="2"/>
                      </a:rPr>
                      <m:t>[</m:t>
                    </m:r>
                    <m:r>
                      <a:rPr lang="en-US" sz="28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itchFamily="2" charset="2"/>
                      </a:rPr>
                      <m:t>𝜏</m:t>
                    </m:r>
                    <m:r>
                      <a:rPr lang="en-US" sz="28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itchFamily="2" charset="2"/>
                      </a:rPr>
                      <m:t>]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8A8B62EF-F876-EB4F-FC59-ED681AAAAD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086" y="3466691"/>
                <a:ext cx="2140356" cy="523220"/>
              </a:xfrm>
              <a:prstGeom prst="rect">
                <a:avLst/>
              </a:prstGeom>
              <a:blipFill>
                <a:blip r:embed="rId3"/>
                <a:stretch>
                  <a:fillRect l="-5882" t="-14286" b="-309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A9BFB034-DE20-BE43-79F9-CD85577CF493}"/>
                  </a:ext>
                </a:extLst>
              </p:cNvPr>
              <p:cNvSpPr txBox="1"/>
              <p:nvPr/>
            </p:nvSpPr>
            <p:spPr>
              <a:xfrm>
                <a:off x="6770020" y="4444691"/>
                <a:ext cx="3070777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/>
                  <a:t>not much for </a:t>
                </a:r>
                <a14:m>
                  <m:oMath xmlns:m="http://schemas.openxmlformats.org/officeDocument/2006/math">
                    <m:r>
                      <a:rPr lang="en-US" sz="280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itchFamily="2" charset="2"/>
                      </a:rPr>
                      <m:t>𝜏</m:t>
                    </m:r>
                    <m:r>
                      <a:rPr lang="en-US" sz="280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itchFamily="2" charset="2"/>
                      </a:rPr>
                      <m:t>≠0</m:t>
                    </m:r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A9BFB034-DE20-BE43-79F9-CD85577CF4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70020" y="4444691"/>
                <a:ext cx="3070777" cy="523220"/>
              </a:xfrm>
              <a:prstGeom prst="rect">
                <a:avLst/>
              </a:prstGeom>
              <a:blipFill>
                <a:blip r:embed="rId4"/>
                <a:stretch>
                  <a:fillRect l="-4132" t="-11628" r="-413" b="-302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7B7922B2-FBED-5127-99FE-5F322A220BB2}"/>
                  </a:ext>
                </a:extLst>
              </p:cNvPr>
              <p:cNvSpPr txBox="1"/>
              <p:nvPr/>
            </p:nvSpPr>
            <p:spPr>
              <a:xfrm>
                <a:off x="332456" y="6054179"/>
                <a:ext cx="461316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800" b="1" dirty="0">
                    <a:solidFill>
                      <a:prstClr val="black"/>
                    </a:solidFill>
                    <a:sym typeface="Wingdings" pitchFamily="2" charset="2"/>
                  </a:rPr>
                  <a:t>Q. </a:t>
                </a:r>
                <a:r>
                  <a:rPr lang="en-US" sz="2800" dirty="0">
                    <a:solidFill>
                      <a:prstClr val="black"/>
                    </a:solidFill>
                    <a:sym typeface="Wingdings" pitchFamily="2" charset="2"/>
                  </a:rPr>
                  <a:t>What is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sSubPr>
                      <m:e>
                        <m:r>
                          <a:rPr lang="en-US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sym typeface="Wingdings" pitchFamily="2" charset="2"/>
                          </a:rPr>
                          <m:t>𝑟</m:t>
                        </m:r>
                      </m:e>
                      <m:sub>
                        <m:r>
                          <a:rPr lang="en-US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sym typeface="Wingdings" pitchFamily="2" charset="2"/>
                          </a:rPr>
                          <m:t>𝑛𝑛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sz="28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dPr>
                      <m:e>
                        <m:r>
                          <a:rPr lang="en-US" sz="28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sym typeface="Wingdings" pitchFamily="2" charset="2"/>
                          </a:rPr>
                          <m:t>0</m:t>
                        </m:r>
                      </m:e>
                    </m:d>
                  </m:oMath>
                </a14:m>
                <a:r>
                  <a:rPr lang="en-US" sz="2800" dirty="0">
                    <a:solidFill>
                      <a:prstClr val="black"/>
                    </a:solidFill>
                    <a:sym typeface="Wingdings" pitchFamily="2" charset="2"/>
                  </a:rPr>
                  <a:t> ?</a:t>
                </a:r>
                <a:endParaRPr lang="en-US" dirty="0"/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7B7922B2-FBED-5127-99FE-5F322A220B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2456" y="6054179"/>
                <a:ext cx="4613169" cy="523220"/>
              </a:xfrm>
              <a:prstGeom prst="rect">
                <a:avLst/>
              </a:prstGeom>
              <a:blipFill>
                <a:blip r:embed="rId5"/>
                <a:stretch>
                  <a:fillRect l="-2747" t="-11905"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1" name="Group 20">
            <a:extLst>
              <a:ext uri="{FF2B5EF4-FFF2-40B4-BE49-F238E27FC236}">
                <a16:creationId xmlns:a16="http://schemas.microsoft.com/office/drawing/2014/main" id="{F7F81223-4B7E-A5C4-E379-10183B16483C}"/>
              </a:ext>
            </a:extLst>
          </p:cNvPr>
          <p:cNvGrpSpPr/>
          <p:nvPr/>
        </p:nvGrpSpPr>
        <p:grpSpPr>
          <a:xfrm>
            <a:off x="5363841" y="3100207"/>
            <a:ext cx="2941568" cy="667347"/>
            <a:chOff x="5363841" y="3100207"/>
            <a:chExt cx="2941568" cy="667347"/>
          </a:xfrm>
        </p:grpSpPr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10B75A07-9C7B-9213-1508-701829FD5E9D}"/>
                </a:ext>
              </a:extLst>
            </p:cNvPr>
            <p:cNvSpPr txBox="1"/>
            <p:nvPr/>
          </p:nvSpPr>
          <p:spPr>
            <a:xfrm>
              <a:off x="5653657" y="3244334"/>
              <a:ext cx="265175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big peak at 0 lag</a:t>
              </a:r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EF88CBF0-E922-8AB0-6D56-D6BC1C933C91}"/>
                </a:ext>
              </a:extLst>
            </p:cNvPr>
            <p:cNvSpPr/>
            <p:nvPr/>
          </p:nvSpPr>
          <p:spPr>
            <a:xfrm>
              <a:off x="5363841" y="3100207"/>
              <a:ext cx="266666" cy="266666"/>
            </a:xfrm>
            <a:prstGeom prst="ellipse">
              <a:avLst/>
            </a:prstGeom>
            <a:noFill/>
            <a:ln w="508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9234132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41" grpId="0"/>
      <p:bldP spid="4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D4A544-5682-4208-F009-D5D323891C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954DF8B-850B-0BEA-EDE5-5540E41D6B9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64135" b="37032"/>
          <a:stretch/>
        </p:blipFill>
        <p:spPr>
          <a:xfrm>
            <a:off x="881233" y="4557922"/>
            <a:ext cx="2629612" cy="1574176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64D02D4-0C23-DFC1-0AC2-16A4FBF4867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64135" b="37032"/>
          <a:stretch/>
        </p:blipFill>
        <p:spPr>
          <a:xfrm>
            <a:off x="881233" y="2085893"/>
            <a:ext cx="2629612" cy="1574176"/>
          </a:xfrm>
          <a:prstGeom prst="rect">
            <a:avLst/>
          </a:prstGeom>
        </p:spPr>
      </p:pic>
      <p:grpSp>
        <p:nvGrpSpPr>
          <p:cNvPr id="45" name="Group 44">
            <a:extLst>
              <a:ext uri="{FF2B5EF4-FFF2-40B4-BE49-F238E27FC236}">
                <a16:creationId xmlns:a16="http://schemas.microsoft.com/office/drawing/2014/main" id="{62623CF6-4C8E-B1FF-AF76-29A50061D3D2}"/>
              </a:ext>
            </a:extLst>
          </p:cNvPr>
          <p:cNvGrpSpPr/>
          <p:nvPr/>
        </p:nvGrpSpPr>
        <p:grpSpPr>
          <a:xfrm>
            <a:off x="3510845" y="2379405"/>
            <a:ext cx="2822222" cy="1142159"/>
            <a:chOff x="3510845" y="3878359"/>
            <a:chExt cx="2822222" cy="1142159"/>
          </a:xfrm>
        </p:grpSpPr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D44DDE4C-BADD-AC9A-8C9C-E43F13BD5D3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36807" t="11762" r="7562" b="30216"/>
            <a:stretch/>
          </p:blipFill>
          <p:spPr>
            <a:xfrm>
              <a:off x="3510845" y="3878359"/>
              <a:ext cx="2822222" cy="1003655"/>
            </a:xfrm>
            <a:prstGeom prst="rect">
              <a:avLst/>
            </a:prstGeom>
          </p:spPr>
        </p:pic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27CF0030-06E6-CC47-B7BF-55F64FD23341}"/>
                </a:ext>
              </a:extLst>
            </p:cNvPr>
            <p:cNvSpPr/>
            <p:nvPr/>
          </p:nvSpPr>
          <p:spPr>
            <a:xfrm>
              <a:off x="4702373" y="4591541"/>
              <a:ext cx="1320800" cy="42897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34" name="Picture 33">
            <a:extLst>
              <a:ext uri="{FF2B5EF4-FFF2-40B4-BE49-F238E27FC236}">
                <a16:creationId xmlns:a16="http://schemas.microsoft.com/office/drawing/2014/main" id="{C0185EF1-7C98-BA13-7617-0904A1164E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1956" y="3144053"/>
            <a:ext cx="2052145" cy="838200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234891B1-3781-22CC-CDD3-AC2D5F5AFA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9756" y="2544860"/>
            <a:ext cx="723900" cy="838200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3D1E1869-5DD2-CB81-699C-A744317348D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0345" y="2335132"/>
            <a:ext cx="3390900" cy="10922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00BE8A72-2A77-F7A6-7FC4-3D9AF491B22F}"/>
                  </a:ext>
                </a:extLst>
              </p:cNvPr>
              <p:cNvSpPr txBox="1"/>
              <p:nvPr/>
            </p:nvSpPr>
            <p:spPr>
              <a:xfrm>
                <a:off x="10326058" y="2472874"/>
                <a:ext cx="1358064" cy="9101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00BE8A72-2A77-F7A6-7FC4-3D9AF491B2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26058" y="2472874"/>
                <a:ext cx="1358064" cy="910186"/>
              </a:xfrm>
              <a:prstGeom prst="rect">
                <a:avLst/>
              </a:prstGeom>
              <a:blipFill>
                <a:blip r:embed="rId6"/>
                <a:stretch>
                  <a:fillRect r="-1852" b="-68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FE994A57-97A8-2204-B5C2-08F17F7BF4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Autocovariance (spike train)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3FBDDA-39CF-9D21-3F1A-3691DEE6A5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6871" y="1325563"/>
            <a:ext cx="10515600" cy="498475"/>
          </a:xfrm>
        </p:spPr>
        <p:txBody>
          <a:bodyPr/>
          <a:lstStyle/>
          <a:p>
            <a:r>
              <a:rPr lang="en-US" b="1" dirty="0"/>
              <a:t>Ex. </a:t>
            </a:r>
            <a:r>
              <a:rPr lang="en-US" dirty="0"/>
              <a:t>Random spiking at a fixed rate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8452F6A7-2A6E-4D16-C2B8-148F1529477E}"/>
                  </a:ext>
                </a:extLst>
              </p:cNvPr>
              <p:cNvSpPr txBox="1"/>
              <p:nvPr/>
            </p:nvSpPr>
            <p:spPr>
              <a:xfrm>
                <a:off x="419603" y="1885279"/>
                <a:ext cx="461316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800" b="1" dirty="0">
                    <a:solidFill>
                      <a:prstClr val="black"/>
                    </a:solidFill>
                    <a:sym typeface="Wingdings" pitchFamily="2" charset="2"/>
                  </a:rPr>
                  <a:t>Q. </a:t>
                </a:r>
                <a:r>
                  <a:rPr lang="en-US" sz="2800" dirty="0">
                    <a:solidFill>
                      <a:prstClr val="black"/>
                    </a:solidFill>
                    <a:sym typeface="Wingdings" pitchFamily="2" charset="2"/>
                  </a:rPr>
                  <a:t>What is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sSubPr>
                      <m:e>
                        <m:r>
                          <a:rPr lang="en-US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sym typeface="Wingdings" pitchFamily="2" charset="2"/>
                          </a:rPr>
                          <m:t>𝑟</m:t>
                        </m:r>
                      </m:e>
                      <m:sub>
                        <m:r>
                          <a:rPr lang="en-US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sym typeface="Wingdings" pitchFamily="2" charset="2"/>
                          </a:rPr>
                          <m:t>𝑛𝑛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sz="28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dPr>
                      <m:e>
                        <m:r>
                          <a:rPr lang="en-US" sz="28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sym typeface="Wingdings" pitchFamily="2" charset="2"/>
                          </a:rPr>
                          <m:t>0</m:t>
                        </m:r>
                      </m:e>
                    </m:d>
                  </m:oMath>
                </a14:m>
                <a:r>
                  <a:rPr lang="en-US" sz="2800" dirty="0">
                    <a:solidFill>
                      <a:prstClr val="black"/>
                    </a:solidFill>
                    <a:sym typeface="Wingdings" pitchFamily="2" charset="2"/>
                  </a:rPr>
                  <a:t> ?</a:t>
                </a:r>
                <a:endParaRPr lang="en-US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8452F6A7-2A6E-4D16-C2B8-148F152947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603" y="1885279"/>
                <a:ext cx="4613169" cy="523220"/>
              </a:xfrm>
              <a:prstGeom prst="rect">
                <a:avLst/>
              </a:prstGeom>
              <a:blipFill>
                <a:blip r:embed="rId7"/>
                <a:stretch>
                  <a:fillRect l="-2747" t="-11905"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8AB61D87-E347-9112-B94C-938CEB96B61D}"/>
                  </a:ext>
                </a:extLst>
              </p:cNvPr>
              <p:cNvSpPr txBox="1"/>
              <p:nvPr/>
            </p:nvSpPr>
            <p:spPr>
              <a:xfrm>
                <a:off x="741487" y="3978365"/>
                <a:ext cx="7642282" cy="85549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800" dirty="0">
                    <a:solidFill>
                      <a:prstClr val="black"/>
                    </a:solidFill>
                    <a:ea typeface="Cambria Math" panose="02040503050406030204" pitchFamily="18" charset="0"/>
                  </a:rPr>
                  <a:t>Remember the mean spike rate: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λ</m:t>
                        </m:r>
                      </m:e>
                      <m:sub>
                        <m:r>
                          <a:rPr lang="en-US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𝑜</m:t>
                        </m:r>
                      </m:sub>
                    </m:sSub>
                  </m:oMath>
                </a14:m>
                <a:r>
                  <a:rPr lang="en-US" sz="2800" dirty="0"/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3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4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34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3400" i="1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sz="3400" i="1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sz="3400" i="1">
                            <a:latin typeface="Cambria Math" panose="02040503050406030204" pitchFamily="18" charset="0"/>
                          </a:rPr>
                          <m:t>𝑇</m:t>
                        </m:r>
                      </m:den>
                    </m:f>
                  </m:oMath>
                </a14:m>
                <a:endParaRPr lang="en-US" sz="3400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8AB61D87-E347-9112-B94C-938CEB96B6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1487" y="3978365"/>
                <a:ext cx="7642282" cy="855491"/>
              </a:xfrm>
              <a:prstGeom prst="rect">
                <a:avLst/>
              </a:prstGeom>
              <a:blipFill>
                <a:blip r:embed="rId8"/>
                <a:stretch>
                  <a:fillRect l="-1661" b="-44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7D84C2C4-07F7-BFB2-B1A5-85CA524428A5}"/>
                  </a:ext>
                </a:extLst>
              </p:cNvPr>
              <p:cNvSpPr txBox="1"/>
              <p:nvPr/>
            </p:nvSpPr>
            <p:spPr>
              <a:xfrm>
                <a:off x="8090471" y="4236003"/>
                <a:ext cx="2575064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>
                    <a:solidFill>
                      <a:prstClr val="black"/>
                    </a:solidFill>
                  </a:rPr>
                  <a:t>so  </a:t>
                </a:r>
                <a14:m>
                  <m:oMath xmlns:m="http://schemas.openxmlformats.org/officeDocument/2006/math">
                    <m:r>
                      <a:rPr lang="en-US" sz="280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d>
                      <m:dPr>
                        <m:ctrlPr>
                          <a:rPr lang="en-US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</m:d>
                    <m:sSub>
                      <m:sSubPr>
                        <m:ctrlPr>
                          <a:rPr lang="en-US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sty m:val="p"/>
                          </m:rPr>
                          <a:rPr lang="el-GR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λ</m:t>
                        </m:r>
                      </m:e>
                      <m:sub>
                        <m:r>
                          <a:rPr lang="en-US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𝑜</m:t>
                        </m:r>
                      </m:sub>
                    </m:sSub>
                    <m:r>
                      <a:rPr lang="en-US" sz="28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𝑇</m:t>
                    </m:r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7D84C2C4-07F7-BFB2-B1A5-85CA524428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90471" y="4236003"/>
                <a:ext cx="2575064" cy="523220"/>
              </a:xfrm>
              <a:prstGeom prst="rect">
                <a:avLst/>
              </a:prstGeom>
              <a:blipFill>
                <a:blip r:embed="rId9"/>
                <a:stretch>
                  <a:fillRect l="-4878" t="-11905"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F73EABDD-309D-C449-12CD-6A36E5F27E5B}"/>
                  </a:ext>
                </a:extLst>
              </p:cNvPr>
              <p:cNvSpPr txBox="1"/>
              <p:nvPr/>
            </p:nvSpPr>
            <p:spPr>
              <a:xfrm>
                <a:off x="3420816" y="4959538"/>
                <a:ext cx="911147" cy="90774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num>
                        <m:den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F73EABDD-309D-C449-12CD-6A36E5F27E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20816" y="4959538"/>
                <a:ext cx="911147" cy="907749"/>
              </a:xfrm>
              <a:prstGeom prst="rect">
                <a:avLst/>
              </a:prstGeom>
              <a:blipFill>
                <a:blip r:embed="rId10"/>
                <a:stretch>
                  <a:fillRect t="-2778" b="-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B435C5AC-C61A-55E1-EFE5-40CEA6DF6D3B}"/>
                  </a:ext>
                </a:extLst>
              </p:cNvPr>
              <p:cNvSpPr txBox="1"/>
              <p:nvPr/>
            </p:nvSpPr>
            <p:spPr>
              <a:xfrm>
                <a:off x="1717829" y="6132098"/>
                <a:ext cx="2291846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sz="2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sym typeface="Wingdings" pitchFamily="2" charset="2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sym typeface="Wingdings" pitchFamily="2" charset="2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sz="2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sym typeface="Wingdings" pitchFamily="2" charset="2"/>
                                </a:rPr>
                                <m:t>𝑛𝑛</m:t>
                              </m:r>
                            </m:sub>
                          </m:sSub>
                          <m:d>
                            <m:dPr>
                              <m:begChr m:val="["/>
                              <m:endChr m:val="]"/>
                              <m:ctrlPr>
                                <a:rPr lang="en-US" sz="2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sym typeface="Wingdings" pitchFamily="2" charset="2"/>
                                </a:rPr>
                              </m:ctrlPr>
                            </m:dPr>
                            <m:e>
                              <m:r>
                                <a:rPr lang="en-US" sz="2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sym typeface="Wingdings" pitchFamily="2" charset="2"/>
                                </a:rPr>
                                <m:t>0</m:t>
                              </m:r>
                            </m:e>
                          </m:d>
                          <m:r>
                            <a:rPr lang="en-US" sz="28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8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∆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B435C5AC-C61A-55E1-EFE5-40CEA6DF6D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17829" y="6132098"/>
                <a:ext cx="2291846" cy="523220"/>
              </a:xfrm>
              <a:prstGeom prst="rect">
                <a:avLst/>
              </a:prstGeom>
              <a:blipFill>
                <a:blip r:embed="rId11"/>
                <a:stretch>
                  <a:fillRect b="-186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Group 5">
            <a:extLst>
              <a:ext uri="{FF2B5EF4-FFF2-40B4-BE49-F238E27FC236}">
                <a16:creationId xmlns:a16="http://schemas.microsoft.com/office/drawing/2014/main" id="{3E54F4D2-64F2-E056-BE5A-EFE4465A9D8A}"/>
              </a:ext>
            </a:extLst>
          </p:cNvPr>
          <p:cNvGrpSpPr/>
          <p:nvPr/>
        </p:nvGrpSpPr>
        <p:grpSpPr>
          <a:xfrm>
            <a:off x="4305704" y="4960902"/>
            <a:ext cx="1906826" cy="523220"/>
            <a:chOff x="4305704" y="4960902"/>
            <a:chExt cx="1906826" cy="52322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0AF4DB2D-2954-749B-7EE9-7BAAF4DA56A7}"/>
                    </a:ext>
                  </a:extLst>
                </p:cNvPr>
                <p:cNvSpPr txBox="1"/>
                <p:nvPr/>
              </p:nvSpPr>
              <p:spPr>
                <a:xfrm>
                  <a:off x="4702373" y="4960902"/>
                  <a:ext cx="1510157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i="1" dirty="0" smtClean="0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 ∆</m:t>
                        </m:r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0AF4DB2D-2954-749B-7EE9-7BAAF4DA56A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02373" y="4960902"/>
                  <a:ext cx="1510157" cy="523220"/>
                </a:xfrm>
                <a:prstGeom prst="rect">
                  <a:avLst/>
                </a:prstGeom>
                <a:blipFill>
                  <a:blip r:embed="rId12"/>
                  <a:stretch>
                    <a:fillRect b="-1860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" name="Line">
              <a:extLst>
                <a:ext uri="{FF2B5EF4-FFF2-40B4-BE49-F238E27FC236}">
                  <a16:creationId xmlns:a16="http://schemas.microsoft.com/office/drawing/2014/main" id="{A91DA1D7-77B3-5A5E-053F-1047D585F27B}"/>
                </a:ext>
              </a:extLst>
            </p:cNvPr>
            <p:cNvSpPr/>
            <p:nvPr/>
          </p:nvSpPr>
          <p:spPr>
            <a:xfrm>
              <a:off x="4305704" y="5230100"/>
              <a:ext cx="330954" cy="0"/>
            </a:xfrm>
            <a:prstGeom prst="line">
              <a:avLst/>
            </a:prstGeom>
            <a:noFill/>
            <a:ln w="50800" cap="flat">
              <a:solidFill>
                <a:srgbClr val="FF4013"/>
              </a:solidFill>
              <a:prstDash val="solid"/>
              <a:miter lim="400000"/>
              <a:headEnd type="stealth" w="med" len="med"/>
            </a:ln>
            <a:effectLst/>
          </p:spPr>
          <p:txBody>
            <a:bodyPr wrap="square" lIns="35719" tIns="35719" rIns="35719" bIns="35719" numCol="1" anchor="ctr">
              <a:noAutofit/>
            </a:bodyPr>
            <a:lstStyle/>
            <a:p>
              <a:pPr defTabSz="321457">
                <a:defRPr sz="12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  <a:endParaRPr sz="844" dirty="0"/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7F5353E8-3C2C-035C-F493-CE93EEE608D1}"/>
              </a:ext>
            </a:extLst>
          </p:cNvPr>
          <p:cNvGrpSpPr/>
          <p:nvPr/>
        </p:nvGrpSpPr>
        <p:grpSpPr>
          <a:xfrm>
            <a:off x="1518258" y="6059533"/>
            <a:ext cx="9284213" cy="668350"/>
            <a:chOff x="1518258" y="6059533"/>
            <a:chExt cx="9284213" cy="668350"/>
          </a:xfrm>
        </p:grpSpPr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F13478AD-6DD3-72F9-46FC-E254631FC54E}"/>
                </a:ext>
              </a:extLst>
            </p:cNvPr>
            <p:cNvSpPr txBox="1"/>
            <p:nvPr/>
          </p:nvSpPr>
          <p:spPr>
            <a:xfrm>
              <a:off x="4508504" y="6132098"/>
              <a:ext cx="6293967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expected number of spikes in a time bin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8314B746-60D2-BAA5-2340-980101ABA5EB}"/>
                </a:ext>
              </a:extLst>
            </p:cNvPr>
            <p:cNvSpPr/>
            <p:nvPr/>
          </p:nvSpPr>
          <p:spPr>
            <a:xfrm>
              <a:off x="1518258" y="6059533"/>
              <a:ext cx="2787446" cy="668350"/>
            </a:xfrm>
            <a:prstGeom prst="rect">
              <a:avLst/>
            </a:prstGeom>
            <a:noFill/>
            <a:ln w="508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" name="Line">
            <a:extLst>
              <a:ext uri="{FF2B5EF4-FFF2-40B4-BE49-F238E27FC236}">
                <a16:creationId xmlns:a16="http://schemas.microsoft.com/office/drawing/2014/main" id="{03BEA196-7BCD-F73D-8C34-57E850383D48}"/>
              </a:ext>
            </a:extLst>
          </p:cNvPr>
          <p:cNvSpPr/>
          <p:nvPr/>
        </p:nvSpPr>
        <p:spPr>
          <a:xfrm flipH="1">
            <a:off x="9191229" y="3092587"/>
            <a:ext cx="1668600" cy="1187688"/>
          </a:xfrm>
          <a:prstGeom prst="line">
            <a:avLst/>
          </a:prstGeom>
          <a:noFill/>
          <a:ln w="50800" cap="flat">
            <a:solidFill>
              <a:srgbClr val="FF4013"/>
            </a:solidFill>
            <a:prstDash val="solid"/>
            <a:miter lim="400000"/>
            <a:headEnd type="stealth" w="med" len="med"/>
          </a:ln>
          <a:effectLst/>
        </p:spPr>
        <p:txBody>
          <a:bodyPr wrap="square" lIns="35719" tIns="35719" rIns="35719" bIns="35719" numCol="1" anchor="ctr">
            <a:noAutofit/>
          </a:bodyPr>
          <a:lstStyle/>
          <a:p>
            <a:pPr defTabSz="321457"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 sz="844" dirty="0"/>
          </a:p>
        </p:txBody>
      </p:sp>
    </p:spTree>
    <p:extLst>
      <p:ext uri="{BB962C8B-B14F-4D97-AF65-F5344CB8AC3E}">
        <p14:creationId xmlns:p14="http://schemas.microsoft.com/office/powerpoint/2010/main" val="8541036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/>
      <p:bldP spid="23" grpId="0"/>
      <p:bldP spid="24" grpId="0"/>
      <p:bldP spid="47" grpId="0"/>
      <p:bldP spid="49" grpId="0"/>
      <p:bldP spid="9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718F6A-08FA-3D6E-0E81-32F40C9E2F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86C4FB54-904F-6037-049E-EEB35C3E101F}"/>
              </a:ext>
            </a:extLst>
          </p:cNvPr>
          <p:cNvGrpSpPr/>
          <p:nvPr/>
        </p:nvGrpSpPr>
        <p:grpSpPr>
          <a:xfrm>
            <a:off x="3283438" y="5330185"/>
            <a:ext cx="5041895" cy="1437743"/>
            <a:chOff x="3283438" y="5330185"/>
            <a:chExt cx="5041895" cy="1437743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3340BD59-FAD0-2569-23D5-315F89A897B3}"/>
                </a:ext>
              </a:extLst>
            </p:cNvPr>
            <p:cNvGrpSpPr/>
            <p:nvPr/>
          </p:nvGrpSpPr>
          <p:grpSpPr>
            <a:xfrm>
              <a:off x="4338857" y="5330185"/>
              <a:ext cx="3986476" cy="1437743"/>
              <a:chOff x="4783298" y="5293468"/>
              <a:chExt cx="3986476" cy="1437743"/>
            </a:xfrm>
          </p:grpSpPr>
          <p:pic>
            <p:nvPicPr>
              <p:cNvPr id="26" name="Picture 25">
                <a:extLst>
                  <a:ext uri="{FF2B5EF4-FFF2-40B4-BE49-F238E27FC236}">
                    <a16:creationId xmlns:a16="http://schemas.microsoft.com/office/drawing/2014/main" id="{C73C7775-4B2B-7A6F-FBE2-B66B0F3FDCF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4783298" y="5496820"/>
                <a:ext cx="3986476" cy="1234391"/>
              </a:xfrm>
              <a:prstGeom prst="rect">
                <a:avLst/>
              </a:prstGeom>
            </p:spPr>
          </p:pic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AEFD7BD7-3772-440B-0FA9-C21C9CCB59D8}"/>
                  </a:ext>
                </a:extLst>
              </p:cNvPr>
              <p:cNvSpPr/>
              <p:nvPr/>
            </p:nvSpPr>
            <p:spPr>
              <a:xfrm>
                <a:off x="4783298" y="5293468"/>
                <a:ext cx="539200" cy="32232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FEEDD132-D4EC-BC72-6AC6-40E096D02974}"/>
                </a:ext>
              </a:extLst>
            </p:cNvPr>
            <p:cNvSpPr txBox="1"/>
            <p:nvPr/>
          </p:nvSpPr>
          <p:spPr>
            <a:xfrm>
              <a:off x="3283438" y="5888915"/>
              <a:ext cx="1207254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where </a:t>
              </a: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2941FF2F-F91E-F5AF-982B-61FEB98F03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Autocovariance (spike train)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853B4D-3ADB-5AEF-B8A7-FAD3C4EFFD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6871" y="1325563"/>
            <a:ext cx="10515600" cy="498475"/>
          </a:xfrm>
        </p:spPr>
        <p:txBody>
          <a:bodyPr/>
          <a:lstStyle/>
          <a:p>
            <a:r>
              <a:rPr lang="en-US" b="1" dirty="0"/>
              <a:t>Ex. </a:t>
            </a:r>
            <a:r>
              <a:rPr lang="en-US" dirty="0"/>
              <a:t>Random spiking at a fixed rate</a:t>
            </a:r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314176FE-DAA8-9E5E-6088-72BDED685970}"/>
              </a:ext>
            </a:extLst>
          </p:cNvPr>
          <p:cNvGrpSpPr/>
          <p:nvPr/>
        </p:nvGrpSpPr>
        <p:grpSpPr>
          <a:xfrm>
            <a:off x="1385404" y="4696508"/>
            <a:ext cx="7056421" cy="796221"/>
            <a:chOff x="2458065" y="5456592"/>
            <a:chExt cx="7056421" cy="796221"/>
          </a:xfrm>
        </p:grpSpPr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36EE9BCF-66D8-A419-06F5-B9787482370B}"/>
                </a:ext>
              </a:extLst>
            </p:cNvPr>
            <p:cNvCxnSpPr/>
            <p:nvPr/>
          </p:nvCxnSpPr>
          <p:spPr>
            <a:xfrm>
              <a:off x="2458065" y="5619135"/>
              <a:ext cx="6238568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5076173C-76E9-CD20-7E75-DAB9EB2E3E3A}"/>
                </a:ext>
              </a:extLst>
            </p:cNvPr>
            <p:cNvCxnSpPr/>
            <p:nvPr/>
          </p:nvCxnSpPr>
          <p:spPr>
            <a:xfrm>
              <a:off x="5530645" y="5471652"/>
              <a:ext cx="0" cy="339213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55083AC4-1311-297F-D757-929C3899F54D}"/>
                </a:ext>
              </a:extLst>
            </p:cNvPr>
            <p:cNvSpPr txBox="1"/>
            <p:nvPr/>
          </p:nvSpPr>
          <p:spPr>
            <a:xfrm>
              <a:off x="8696633" y="5456592"/>
              <a:ext cx="817853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lags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81D57B9C-540F-B7BC-16E1-84A1A79D7D42}"/>
                </a:ext>
              </a:extLst>
            </p:cNvPr>
            <p:cNvSpPr txBox="1"/>
            <p:nvPr/>
          </p:nvSpPr>
          <p:spPr>
            <a:xfrm>
              <a:off x="5356880" y="5729593"/>
              <a:ext cx="377026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0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4831659A-2319-2B8D-869B-C2C2AEF1457C}"/>
                  </a:ext>
                </a:extLst>
              </p:cNvPr>
              <p:cNvSpPr txBox="1"/>
              <p:nvPr/>
            </p:nvSpPr>
            <p:spPr>
              <a:xfrm>
                <a:off x="286870" y="1997471"/>
                <a:ext cx="3463715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800" dirty="0">
                    <a:solidFill>
                      <a:prstClr val="black"/>
                    </a:solidFill>
                    <a:sym typeface="Wingdings" pitchFamily="2" charset="2"/>
                  </a:rPr>
                  <a:t>Plot </a:t>
                </a:r>
                <a:r>
                  <a:rPr lang="en-US" sz="2800" u="sng" dirty="0">
                    <a:solidFill>
                      <a:prstClr val="black"/>
                    </a:solidFill>
                    <a:sym typeface="Wingdings" pitchFamily="2" charset="2"/>
                  </a:rPr>
                  <a:t>idealized</a:t>
                </a:r>
                <a:r>
                  <a:rPr lang="en-US" sz="2800" dirty="0">
                    <a:solidFill>
                      <a:prstClr val="black"/>
                    </a:solidFill>
                    <a:sym typeface="Wingdings" pitchFamily="2" charset="2"/>
                  </a:rPr>
                  <a:t>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sSubPr>
                      <m:e>
                        <m:r>
                          <a:rPr lang="en-US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sym typeface="Wingdings" pitchFamily="2" charset="2"/>
                          </a:rPr>
                          <m:t>𝑟</m:t>
                        </m:r>
                      </m:e>
                      <m:sub>
                        <m:r>
                          <a:rPr lang="en-US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sym typeface="Wingdings" pitchFamily="2" charset="2"/>
                          </a:rPr>
                          <m:t>𝑛𝑛</m:t>
                        </m:r>
                      </m:sub>
                    </m:sSub>
                    <m:r>
                      <a:rPr lang="en-US" sz="28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sym typeface="Wingdings" pitchFamily="2" charset="2"/>
                      </a:rPr>
                      <m:t>[</m:t>
                    </m:r>
                    <m:r>
                      <a:rPr lang="en-US" sz="28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itchFamily="2" charset="2"/>
                      </a:rPr>
                      <m:t>𝜏</m:t>
                    </m:r>
                    <m:r>
                      <a:rPr lang="en-US" sz="28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itchFamily="2" charset="2"/>
                      </a:rPr>
                      <m:t>]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4831659A-2319-2B8D-869B-C2C2AEF145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6870" y="1997471"/>
                <a:ext cx="3463715" cy="523220"/>
              </a:xfrm>
              <a:prstGeom prst="rect">
                <a:avLst/>
              </a:prstGeom>
              <a:blipFill>
                <a:blip r:embed="rId3"/>
                <a:stretch>
                  <a:fillRect l="-3650" t="-11905"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2" name="Group 41">
            <a:extLst>
              <a:ext uri="{FF2B5EF4-FFF2-40B4-BE49-F238E27FC236}">
                <a16:creationId xmlns:a16="http://schemas.microsoft.com/office/drawing/2014/main" id="{FD752530-95C8-5ECF-9BAE-7C31059A167A}"/>
              </a:ext>
            </a:extLst>
          </p:cNvPr>
          <p:cNvGrpSpPr/>
          <p:nvPr/>
        </p:nvGrpSpPr>
        <p:grpSpPr>
          <a:xfrm>
            <a:off x="4457984" y="2484250"/>
            <a:ext cx="4911182" cy="2374801"/>
            <a:chOff x="5530645" y="3244334"/>
            <a:chExt cx="4911182" cy="2374801"/>
          </a:xfrm>
        </p:grpSpPr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44BC003B-57EB-85FB-D5C0-8E993229CA62}"/>
                </a:ext>
              </a:extLst>
            </p:cNvPr>
            <p:cNvCxnSpPr/>
            <p:nvPr/>
          </p:nvCxnSpPr>
          <p:spPr>
            <a:xfrm>
              <a:off x="5530645" y="3378705"/>
              <a:ext cx="0" cy="2240430"/>
            </a:xfrm>
            <a:prstGeom prst="line">
              <a:avLst/>
            </a:prstGeom>
            <a:ln w="50800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FC150A29-8CBC-F2EB-A1EF-6606DE2F40F0}"/>
                    </a:ext>
                  </a:extLst>
                </p:cNvPr>
                <p:cNvSpPr txBox="1"/>
                <p:nvPr/>
              </p:nvSpPr>
              <p:spPr>
                <a:xfrm>
                  <a:off x="5653657" y="3244334"/>
                  <a:ext cx="4788170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800" dirty="0"/>
                    <a:t>peak at 0 lag of height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8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</m:oMath>
                  </a14:m>
                  <a:r>
                    <a:rPr lang="en-US" sz="2800" dirty="0"/>
                    <a:t> </a:t>
                  </a:r>
                </a:p>
              </p:txBody>
            </p:sp>
          </mc:Choice>
          <mc:Fallback xmlns=""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FC150A29-8CBC-F2EB-A1EF-6606DE2F40F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53657" y="3244334"/>
                  <a:ext cx="4788170" cy="523220"/>
                </a:xfrm>
                <a:prstGeom prst="rect">
                  <a:avLst/>
                </a:prstGeom>
                <a:blipFill>
                  <a:blip r:embed="rId4"/>
                  <a:stretch>
                    <a:fillRect l="-2646" t="-11905" b="-33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E63B9942-C405-3715-8F42-C7B068F06324}"/>
              </a:ext>
            </a:extLst>
          </p:cNvPr>
          <p:cNvGrpSpPr/>
          <p:nvPr/>
        </p:nvGrpSpPr>
        <p:grpSpPr>
          <a:xfrm>
            <a:off x="1385404" y="4165100"/>
            <a:ext cx="6238568" cy="620208"/>
            <a:chOff x="2458065" y="4925184"/>
            <a:chExt cx="6238568" cy="620208"/>
          </a:xfrm>
        </p:grpSpPr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F011497C-74B4-06CC-A827-97F372BDAED2}"/>
                </a:ext>
              </a:extLst>
            </p:cNvPr>
            <p:cNvCxnSpPr/>
            <p:nvPr/>
          </p:nvCxnSpPr>
          <p:spPr>
            <a:xfrm>
              <a:off x="2458065" y="5545392"/>
              <a:ext cx="6238568" cy="0"/>
            </a:xfrm>
            <a:prstGeom prst="line">
              <a:avLst/>
            </a:prstGeom>
            <a:ln w="50800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68C6F684-66A3-28B9-1B5A-92C0EDCDD45C}"/>
                    </a:ext>
                  </a:extLst>
                </p:cNvPr>
                <p:cNvSpPr txBox="1"/>
                <p:nvPr/>
              </p:nvSpPr>
              <p:spPr>
                <a:xfrm>
                  <a:off x="5928852" y="4925184"/>
                  <a:ext cx="1785169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800" dirty="0"/>
                    <a:t>0 for </a:t>
                  </a:r>
                  <a14:m>
                    <m:oMath xmlns:m="http://schemas.openxmlformats.org/officeDocument/2006/math">
                      <m:r>
                        <a:rPr lang="en-US" sz="280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itchFamily="2" charset="2"/>
                        </a:rPr>
                        <m:t>𝜏</m:t>
                      </m:r>
                      <m:r>
                        <a:rPr lang="en-US" sz="280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itchFamily="2" charset="2"/>
                        </a:rPr>
                        <m:t>≠0</m:t>
                      </m:r>
                    </m:oMath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68C6F684-66A3-28B9-1B5A-92C0EDCDD45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28852" y="4925184"/>
                  <a:ext cx="1785169" cy="523220"/>
                </a:xfrm>
                <a:prstGeom prst="rect">
                  <a:avLst/>
                </a:prstGeom>
                <a:blipFill>
                  <a:blip r:embed="rId5"/>
                  <a:stretch>
                    <a:fillRect l="-7092" t="-9302" r="-1418" b="-3255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B52C75CD-F6C4-3795-E81B-8E1B97298AFE}"/>
              </a:ext>
            </a:extLst>
          </p:cNvPr>
          <p:cNvSpPr txBox="1"/>
          <p:nvPr/>
        </p:nvSpPr>
        <p:spPr>
          <a:xfrm>
            <a:off x="8142203" y="5888915"/>
            <a:ext cx="461316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prstClr val="black"/>
                </a:solidFill>
                <a:sym typeface="Wingdings" pitchFamily="2" charset="2"/>
              </a:rPr>
              <a:t>Q. </a:t>
            </a:r>
            <a:r>
              <a:rPr lang="en-US" sz="2800" dirty="0">
                <a:solidFill>
                  <a:prstClr val="black"/>
                </a:solidFill>
                <a:sym typeface="Wingdings" pitchFamily="2" charset="2"/>
              </a:rPr>
              <a:t>What is the </a:t>
            </a:r>
            <a:r>
              <a:rPr lang="en-US" sz="2800" u="sng" dirty="0">
                <a:solidFill>
                  <a:prstClr val="black"/>
                </a:solidFill>
                <a:sym typeface="Wingdings" pitchFamily="2" charset="2"/>
              </a:rPr>
              <a:t>spectrum</a:t>
            </a:r>
            <a:r>
              <a:rPr lang="en-US" sz="2800" dirty="0">
                <a:solidFill>
                  <a:prstClr val="black"/>
                </a:solidFill>
                <a:sym typeface="Wingdings" pitchFamily="2" charset="2"/>
              </a:rPr>
              <a:t>?</a:t>
            </a:r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EF055D8A-E8F3-4985-A961-22598EEF0A92}"/>
              </a:ext>
            </a:extLst>
          </p:cNvPr>
          <p:cNvGrpSpPr/>
          <p:nvPr/>
        </p:nvGrpSpPr>
        <p:grpSpPr>
          <a:xfrm>
            <a:off x="286870" y="5816350"/>
            <a:ext cx="3045068" cy="668350"/>
            <a:chOff x="286870" y="5816350"/>
            <a:chExt cx="3045068" cy="66835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61DA19FD-9F66-661F-E556-58ACD036F68F}"/>
                    </a:ext>
                  </a:extLst>
                </p:cNvPr>
                <p:cNvSpPr txBox="1"/>
                <p:nvPr/>
              </p:nvSpPr>
              <p:spPr>
                <a:xfrm>
                  <a:off x="286870" y="5888915"/>
                  <a:ext cx="3045068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80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sym typeface="Wingdings" pitchFamily="2" charset="2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sym typeface="Wingdings" pitchFamily="2" charset="2"/>
                              </a:rPr>
                              <m:t>𝑟</m:t>
                            </m:r>
                          </m:e>
                          <m:sub>
                            <m:r>
                              <a:rPr lang="en-US" sz="28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sym typeface="Wingdings" pitchFamily="2" charset="2"/>
                              </a:rPr>
                              <m:t>𝑛𝑛</m:t>
                            </m:r>
                          </m:sub>
                        </m:sSub>
                        <m:d>
                          <m:dPr>
                            <m:begChr m:val="["/>
                            <m:endChr m:val="]"/>
                            <m:ctrlPr>
                              <a:rPr lang="en-US" sz="28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Wingdings" pitchFamily="2" charset="2"/>
                              </a:rPr>
                            </m:ctrlPr>
                          </m:dPr>
                          <m:e>
                            <m:r>
                              <a:rPr lang="en-US" sz="28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Wingdings" pitchFamily="2" charset="2"/>
                              </a:rPr>
                              <m:t>𝜏</m:t>
                            </m:r>
                          </m:e>
                        </m:d>
                        <m:sSub>
                          <m:sSubPr>
                            <m:ctrlPr>
                              <a:rPr lang="en-US" sz="28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sz="28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 sz="28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sz="28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sz="28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𝛿</m:t>
                        </m:r>
                        <m:r>
                          <a:rPr lang="en-US" sz="28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[</m:t>
                        </m:r>
                        <m:r>
                          <a:rPr lang="en-US" sz="28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𝜏</m:t>
                        </m:r>
                        <m:r>
                          <a:rPr lang="en-US" sz="28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]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61DA19FD-9F66-661F-E556-58ACD036F68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6870" y="5888915"/>
                  <a:ext cx="3045068" cy="523220"/>
                </a:xfrm>
                <a:prstGeom prst="rect">
                  <a:avLst/>
                </a:prstGeom>
                <a:blipFill>
                  <a:blip r:embed="rId6"/>
                  <a:stretch>
                    <a:fillRect b="-2142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88BCD89F-3600-40EE-0D90-B6EAAA2127FE}"/>
                </a:ext>
              </a:extLst>
            </p:cNvPr>
            <p:cNvSpPr/>
            <p:nvPr/>
          </p:nvSpPr>
          <p:spPr>
            <a:xfrm>
              <a:off x="286870" y="5816350"/>
              <a:ext cx="2944944" cy="668350"/>
            </a:xfrm>
            <a:prstGeom prst="rect">
              <a:avLst/>
            </a:prstGeom>
            <a:noFill/>
            <a:ln w="508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9747451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4A011E-6288-5823-E1A1-CE97D92491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DE026A5E-94CC-01BF-B509-C4B7CBCA8C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79650" y="3788723"/>
            <a:ext cx="9253267" cy="1865729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271AA789-6EED-CB41-0403-2D84986815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979650" y="3795307"/>
            <a:ext cx="9253266" cy="1865729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E0446D3C-F419-2097-E8CF-1FEA3EEE6A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979651" y="3801891"/>
            <a:ext cx="9253267" cy="186572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914C7F3-D3E5-680C-BAB0-021F1CC947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1455" y="270580"/>
            <a:ext cx="10515600" cy="1325563"/>
          </a:xfrm>
        </p:spPr>
        <p:txBody>
          <a:bodyPr/>
          <a:lstStyle/>
          <a:p>
            <a:r>
              <a:rPr lang="en-US" dirty="0"/>
              <a:t>Autocovariance (spike train)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B606C4-237C-B89B-32EE-E794834B1C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6871" y="1325563"/>
            <a:ext cx="10515600" cy="498475"/>
          </a:xfrm>
        </p:spPr>
        <p:txBody>
          <a:bodyPr/>
          <a:lstStyle/>
          <a:p>
            <a:r>
              <a:rPr lang="en-US" b="1" dirty="0"/>
              <a:t>Ex. </a:t>
            </a:r>
            <a:r>
              <a:rPr lang="en-US" dirty="0"/>
              <a:t>Random spiking at a fixed rate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9B0B7DC-B563-BCA0-0223-39DEC7AEE8E5}"/>
              </a:ext>
            </a:extLst>
          </p:cNvPr>
          <p:cNvSpPr txBox="1"/>
          <p:nvPr/>
        </p:nvSpPr>
        <p:spPr>
          <a:xfrm>
            <a:off x="286871" y="1824038"/>
            <a:ext cx="461316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prstClr val="black"/>
                </a:solidFill>
                <a:sym typeface="Wingdings" pitchFamily="2" charset="2"/>
              </a:rPr>
              <a:t>Q. </a:t>
            </a:r>
            <a:r>
              <a:rPr lang="en-US" sz="2800" dirty="0">
                <a:solidFill>
                  <a:prstClr val="black"/>
                </a:solidFill>
                <a:sym typeface="Wingdings" pitchFamily="2" charset="2"/>
              </a:rPr>
              <a:t>What is the spectrum?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9250679-7AA8-5F9D-4A30-2FB8B0A7EFDD}"/>
                  </a:ext>
                </a:extLst>
              </p:cNvPr>
              <p:cNvSpPr txBox="1"/>
              <p:nvPr/>
            </p:nvSpPr>
            <p:spPr>
              <a:xfrm>
                <a:off x="286871" y="2545033"/>
                <a:ext cx="4840043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/>
                  <a:t>In our case, we need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𝐹𝑇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{</m:t>
                    </m:r>
                    <m:r>
                      <a:rPr lang="en-US" sz="28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𝛿</m:t>
                    </m:r>
                    <m:r>
                      <a:rPr lang="en-US" sz="28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[</m:t>
                    </m:r>
                    <m:r>
                      <a:rPr lang="en-US" sz="28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𝜏</m:t>
                    </m:r>
                    <m:r>
                      <a:rPr lang="en-US" sz="28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]}</m:t>
                    </m:r>
                  </m:oMath>
                </a14:m>
                <a:r>
                  <a:rPr lang="en-US" sz="2800" dirty="0"/>
                  <a:t> 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9250679-7AA8-5F9D-4A30-2FB8B0A7EF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6871" y="2545033"/>
                <a:ext cx="4840043" cy="523220"/>
              </a:xfrm>
              <a:prstGeom prst="rect">
                <a:avLst/>
              </a:prstGeom>
              <a:blipFill>
                <a:blip r:embed="rId5"/>
                <a:stretch>
                  <a:fillRect l="-2618" t="-11905"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A5D99CCF-5F3C-D450-C8D3-9F3ACB5AAE7A}"/>
              </a:ext>
            </a:extLst>
          </p:cNvPr>
          <p:cNvSpPr txBox="1"/>
          <p:nvPr/>
        </p:nvSpPr>
        <p:spPr>
          <a:xfrm>
            <a:off x="5249171" y="3088866"/>
            <a:ext cx="664438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Q. </a:t>
            </a:r>
            <a:r>
              <a:rPr lang="en-US" sz="2800" dirty="0"/>
              <a:t>What frequency sinusoids do we need?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43324E7-3D4C-1A8E-4700-FC15FA875026}"/>
              </a:ext>
            </a:extLst>
          </p:cNvPr>
          <p:cNvSpPr txBox="1"/>
          <p:nvPr/>
        </p:nvSpPr>
        <p:spPr>
          <a:xfrm>
            <a:off x="5285958" y="3605971"/>
            <a:ext cx="347986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A. </a:t>
            </a:r>
            <a:r>
              <a:rPr lang="en-US" sz="2800" dirty="0"/>
              <a:t>All the frequencies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3AF4A003-6EAA-8246-76A0-522EA91711B9}"/>
                  </a:ext>
                </a:extLst>
              </p:cNvPr>
              <p:cNvSpPr txBox="1"/>
              <p:nvPr/>
            </p:nvSpPr>
            <p:spPr>
              <a:xfrm>
                <a:off x="8670479" y="4749654"/>
                <a:ext cx="1608992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8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𝐹𝑇</m:t>
                    </m:r>
                    <m:r>
                      <a:rPr lang="en-US" sz="28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{</m:t>
                    </m:r>
                    <m:r>
                      <a:rPr lang="en-US" sz="28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𝛿</m:t>
                    </m:r>
                    <m:r>
                      <a:rPr lang="en-US" sz="28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[</m:t>
                    </m:r>
                    <m:r>
                      <a:rPr lang="en-US" sz="28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𝜏</m:t>
                    </m:r>
                    <m:r>
                      <a:rPr lang="en-US" sz="28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]}</m:t>
                    </m:r>
                  </m:oMath>
                </a14:m>
                <a:r>
                  <a:rPr lang="en-US" sz="2800" dirty="0">
                    <a:solidFill>
                      <a:prstClr val="black"/>
                    </a:solidFill>
                  </a:rPr>
                  <a:t> </a:t>
                </a:r>
                <a:endParaRPr lang="en-US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3AF4A003-6EAA-8246-76A0-522EA91711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70479" y="4749654"/>
                <a:ext cx="1608992" cy="523220"/>
              </a:xfrm>
              <a:prstGeom prst="rect">
                <a:avLst/>
              </a:prstGeom>
              <a:blipFill>
                <a:blip r:embed="rId6"/>
                <a:stretch>
                  <a:fillRect l="-1563" b="-162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18">
            <a:extLst>
              <a:ext uri="{FF2B5EF4-FFF2-40B4-BE49-F238E27FC236}">
                <a16:creationId xmlns:a16="http://schemas.microsoft.com/office/drawing/2014/main" id="{D5EBBD24-0AD0-E391-9C39-73982AEE1A6F}"/>
              </a:ext>
            </a:extLst>
          </p:cNvPr>
          <p:cNvSpPr txBox="1"/>
          <p:nvPr/>
        </p:nvSpPr>
        <p:spPr>
          <a:xfrm>
            <a:off x="286871" y="6162257"/>
            <a:ext cx="1044933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Need contribution from </a:t>
            </a:r>
            <a:r>
              <a:rPr lang="en-US" sz="2800" u="sng" dirty="0"/>
              <a:t>each frequency</a:t>
            </a:r>
            <a:r>
              <a:rPr lang="en-US" sz="2800" dirty="0"/>
              <a:t> to capture this sharp event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ECB86F2E-6E2B-E6CF-AAD0-64C8DF925A38}"/>
              </a:ext>
            </a:extLst>
          </p:cNvPr>
          <p:cNvGrpSpPr/>
          <p:nvPr/>
        </p:nvGrpSpPr>
        <p:grpSpPr>
          <a:xfrm>
            <a:off x="4906603" y="1823383"/>
            <a:ext cx="4020829" cy="557910"/>
            <a:chOff x="6096000" y="1814809"/>
            <a:chExt cx="4020829" cy="55791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2CB0AC28-EB10-A36A-E0A7-5926FEA371A5}"/>
                    </a:ext>
                  </a:extLst>
                </p:cNvPr>
                <p:cNvSpPr txBox="1"/>
                <p:nvPr/>
              </p:nvSpPr>
              <p:spPr>
                <a:xfrm>
                  <a:off x="6832725" y="1814809"/>
                  <a:ext cx="3284104" cy="5579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𝑛𝑛</m:t>
                            </m:r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=2 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 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𝐹𝑇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en-US" sz="2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𝑛𝑛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2CB0AC28-EB10-A36A-E0A7-5926FEA371A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32725" y="1814809"/>
                  <a:ext cx="3284104" cy="557910"/>
                </a:xfrm>
                <a:prstGeom prst="rect">
                  <a:avLst/>
                </a:prstGeom>
                <a:blipFill>
                  <a:blip r:embed="rId7"/>
                  <a:stretch>
                    <a:fillRect b="-1555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C1D5B9A6-6FC9-AE0A-9D77-B89D00723BDD}"/>
                </a:ext>
              </a:extLst>
            </p:cNvPr>
            <p:cNvSpPr txBox="1"/>
            <p:nvPr/>
          </p:nvSpPr>
          <p:spPr>
            <a:xfrm>
              <a:off x="6096000" y="1818605"/>
              <a:ext cx="814262" cy="5386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Use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D3A7BB55-336B-2C71-403E-AE32788097D0}"/>
                  </a:ext>
                </a:extLst>
              </p:cNvPr>
              <p:cNvSpPr txBox="1"/>
              <p:nvPr/>
            </p:nvSpPr>
            <p:spPr>
              <a:xfrm>
                <a:off x="8740607" y="1836991"/>
                <a:ext cx="3297447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8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2 </m:t>
                      </m:r>
                      <m:r>
                        <a:rPr lang="en-US" sz="28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 </m:t>
                      </m:r>
                      <m:r>
                        <a:rPr lang="en-US" sz="28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𝐹𝑇</m:t>
                      </m:r>
                      <m:r>
                        <a:rPr lang="en-US" sz="28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{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8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 </m:t>
                      </m:r>
                      <m:r>
                        <a:rPr lang="en-US" sz="28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𝛿</m:t>
                      </m:r>
                      <m:r>
                        <a:rPr lang="en-US" sz="28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[</m:t>
                      </m:r>
                      <m:r>
                        <a:rPr lang="en-US" sz="28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𝜏</m:t>
                      </m:r>
                      <m:r>
                        <a:rPr lang="en-US" sz="28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]}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D3A7BB55-336B-2C71-403E-AE32788097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40607" y="1836991"/>
                <a:ext cx="3297447" cy="523220"/>
              </a:xfrm>
              <a:prstGeom prst="rect">
                <a:avLst/>
              </a:prstGeom>
              <a:blipFill>
                <a:blip r:embed="rId8"/>
                <a:stretch>
                  <a:fillRect b="-21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5" name="Group 24">
            <a:extLst>
              <a:ext uri="{FF2B5EF4-FFF2-40B4-BE49-F238E27FC236}">
                <a16:creationId xmlns:a16="http://schemas.microsoft.com/office/drawing/2014/main" id="{68997C20-6F28-913B-50B6-CB8C7A3531FA}"/>
              </a:ext>
            </a:extLst>
          </p:cNvPr>
          <p:cNvGrpSpPr/>
          <p:nvPr/>
        </p:nvGrpSpPr>
        <p:grpSpPr>
          <a:xfrm>
            <a:off x="8616648" y="4626266"/>
            <a:ext cx="2180407" cy="823357"/>
            <a:chOff x="8075011" y="4844197"/>
            <a:chExt cx="2180407" cy="823357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9E38DB1D-238D-6C7A-AEF9-60D916F00666}"/>
                </a:ext>
              </a:extLst>
            </p:cNvPr>
            <p:cNvSpPr txBox="1"/>
            <p:nvPr/>
          </p:nvSpPr>
          <p:spPr>
            <a:xfrm>
              <a:off x="9565308" y="4984837"/>
              <a:ext cx="569387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=1</a:t>
              </a: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BA7A28F8-8E9C-E039-F845-91691D9CDD83}"/>
                </a:ext>
              </a:extLst>
            </p:cNvPr>
            <p:cNvSpPr/>
            <p:nvPr/>
          </p:nvSpPr>
          <p:spPr>
            <a:xfrm>
              <a:off x="8075011" y="4844197"/>
              <a:ext cx="2180407" cy="823357"/>
            </a:xfrm>
            <a:prstGeom prst="rect">
              <a:avLst/>
            </a:prstGeom>
            <a:noFill/>
            <a:ln w="508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D4508085-B60D-3EAF-E242-C853BBAE81D9}"/>
              </a:ext>
            </a:extLst>
          </p:cNvPr>
          <p:cNvGrpSpPr/>
          <p:nvPr/>
        </p:nvGrpSpPr>
        <p:grpSpPr>
          <a:xfrm>
            <a:off x="7974865" y="560148"/>
            <a:ext cx="3045068" cy="1353483"/>
            <a:chOff x="7974865" y="560148"/>
            <a:chExt cx="3045068" cy="1353483"/>
          </a:xfrm>
        </p:grpSpPr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93D3C3E9-7B03-24BB-9EF4-A3F83F98415F}"/>
                </a:ext>
              </a:extLst>
            </p:cNvPr>
            <p:cNvGrpSpPr/>
            <p:nvPr/>
          </p:nvGrpSpPr>
          <p:grpSpPr>
            <a:xfrm>
              <a:off x="7974865" y="560148"/>
              <a:ext cx="3045068" cy="830659"/>
              <a:chOff x="7974865" y="560148"/>
              <a:chExt cx="3045068" cy="830659"/>
            </a:xfrm>
          </p:grpSpPr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DEA61A70-3871-2DA3-16F9-C6F874F87564}"/>
                  </a:ext>
                </a:extLst>
              </p:cNvPr>
              <p:cNvSpPr txBox="1"/>
              <p:nvPr/>
            </p:nvSpPr>
            <p:spPr>
              <a:xfrm>
                <a:off x="8075011" y="560148"/>
                <a:ext cx="164179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in our example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6" name="TextBox 25">
                    <a:extLst>
                      <a:ext uri="{FF2B5EF4-FFF2-40B4-BE49-F238E27FC236}">
                        <a16:creationId xmlns:a16="http://schemas.microsoft.com/office/drawing/2014/main" id="{18994A4A-58B6-2B63-7BCF-168DE2758D57}"/>
                      </a:ext>
                    </a:extLst>
                  </p:cNvPr>
                  <p:cNvSpPr txBox="1"/>
                  <p:nvPr/>
                </p:nvSpPr>
                <p:spPr>
                  <a:xfrm>
                    <a:off x="7974865" y="867587"/>
                    <a:ext cx="3045068" cy="523220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80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sym typeface="Wingdings" pitchFamily="2" charset="2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sym typeface="Wingdings" pitchFamily="2" charset="2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sz="2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sym typeface="Wingdings" pitchFamily="2" charset="2"/>
                                </a:rPr>
                                <m:t>𝑛𝑛</m:t>
                              </m:r>
                            </m:sub>
                          </m:sSub>
                          <m:d>
                            <m:dPr>
                              <m:begChr m:val="["/>
                              <m:endChr m:val="]"/>
                              <m:ctrlPr>
                                <a:rPr lang="en-US" sz="2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Wingdings" pitchFamily="2" charset="2"/>
                                </a:rPr>
                              </m:ctrlPr>
                            </m:dPr>
                            <m:e>
                              <m:r>
                                <a:rPr lang="en-US" sz="2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Wingdings" pitchFamily="2" charset="2"/>
                                </a:rPr>
                                <m:t>𝜏</m:t>
                              </m:r>
                            </m:e>
                          </m:d>
                          <m:sSub>
                            <m:sSubPr>
                              <m:ctrlPr>
                                <a:rPr lang="en-US" sz="2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2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sz="2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r>
                            <a:rPr lang="en-US" sz="28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8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sz="28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[</m:t>
                          </m:r>
                          <m:r>
                            <a:rPr lang="en-US" sz="28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  <m:r>
                            <a:rPr lang="en-US" sz="28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]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26" name="TextBox 25">
                    <a:extLst>
                      <a:ext uri="{FF2B5EF4-FFF2-40B4-BE49-F238E27FC236}">
                        <a16:creationId xmlns:a16="http://schemas.microsoft.com/office/drawing/2014/main" id="{18994A4A-58B6-2B63-7BCF-168DE2758D5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974865" y="867587"/>
                    <a:ext cx="3045068" cy="523220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b="-21429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08447FBE-9B00-0477-7427-F5BC22737EF9}"/>
                </a:ext>
              </a:extLst>
            </p:cNvPr>
            <p:cNvCxnSpPr>
              <a:cxnSpLocks/>
            </p:cNvCxnSpPr>
            <p:nvPr/>
          </p:nvCxnSpPr>
          <p:spPr>
            <a:xfrm>
              <a:off x="8371624" y="1461127"/>
              <a:ext cx="0" cy="452504"/>
            </a:xfrm>
            <a:prstGeom prst="straightConnector1">
              <a:avLst/>
            </a:prstGeom>
            <a:ln w="5080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BF93136-0173-52D9-5947-818BF0911CFF}"/>
                  </a:ext>
                </a:extLst>
              </p:cNvPr>
              <p:cNvSpPr txBox="1"/>
              <p:nvPr/>
            </p:nvSpPr>
            <p:spPr>
              <a:xfrm>
                <a:off x="8740606" y="2394246"/>
                <a:ext cx="3297447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8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2 </m:t>
                      </m:r>
                      <m:sSup>
                        <m:sSupPr>
                          <m:ctrlPr>
                            <a:rPr lang="en-US" sz="28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</m:e>
                        <m:sup>
                          <m:r>
                            <a:rPr lang="en-US" sz="28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sSub>
                        <m:sSubPr>
                          <m:ctrlPr>
                            <a:rPr 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8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28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𝐹𝑇</m:t>
                      </m:r>
                      <m:r>
                        <a:rPr lang="en-US" sz="28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{</m:t>
                      </m:r>
                      <m:r>
                        <a:rPr lang="en-US" sz="28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𝛿</m:t>
                      </m:r>
                      <m:r>
                        <a:rPr lang="en-US" sz="28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[</m:t>
                      </m:r>
                      <m:r>
                        <a:rPr lang="en-US" sz="28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𝜏</m:t>
                      </m:r>
                      <m:r>
                        <a:rPr lang="en-US" sz="28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]}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BF93136-0173-52D9-5947-818BF0911C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40606" y="2394246"/>
                <a:ext cx="3297447" cy="523220"/>
              </a:xfrm>
              <a:prstGeom prst="rect">
                <a:avLst/>
              </a:prstGeom>
              <a:blipFill>
                <a:blip r:embed="rId10"/>
                <a:stretch>
                  <a:fillRect b="-21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781998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1" grpId="0"/>
      <p:bldP spid="14" grpId="0"/>
      <p:bldP spid="17" grpId="0"/>
      <p:bldP spid="19" grpId="0"/>
      <p:bldP spid="20" grpId="0"/>
      <p:bldP spid="9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F6AFDF-F2A8-99DD-E8F6-559BF03867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67482D-9D36-7982-BD02-AB2FC4D211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Autocovariance (spike train)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4482A4-FAEC-038E-B88E-8577071AAF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6871" y="1325563"/>
            <a:ext cx="10515600" cy="498475"/>
          </a:xfrm>
        </p:spPr>
        <p:txBody>
          <a:bodyPr/>
          <a:lstStyle/>
          <a:p>
            <a:r>
              <a:rPr lang="en-US" b="1" dirty="0"/>
              <a:t>Ex. </a:t>
            </a:r>
            <a:r>
              <a:rPr lang="en-US" dirty="0"/>
              <a:t>Random spiking at a fixed rate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C1EAC36-D06B-B7A2-32E5-B3931B2839DA}"/>
              </a:ext>
            </a:extLst>
          </p:cNvPr>
          <p:cNvSpPr txBox="1"/>
          <p:nvPr/>
        </p:nvSpPr>
        <p:spPr>
          <a:xfrm>
            <a:off x="286871" y="1824038"/>
            <a:ext cx="461316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prstClr val="black"/>
                </a:solidFill>
                <a:sym typeface="Wingdings" pitchFamily="2" charset="2"/>
              </a:rPr>
              <a:t>Q. </a:t>
            </a:r>
            <a:r>
              <a:rPr lang="en-US" sz="2800" dirty="0">
                <a:solidFill>
                  <a:prstClr val="black"/>
                </a:solidFill>
                <a:sym typeface="Wingdings" pitchFamily="2" charset="2"/>
              </a:rPr>
              <a:t>What is the spectrum?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1FF08B2-F45C-6595-0D88-A58818DBF6A6}"/>
                  </a:ext>
                </a:extLst>
              </p:cNvPr>
              <p:cNvSpPr txBox="1"/>
              <p:nvPr/>
            </p:nvSpPr>
            <p:spPr>
              <a:xfrm>
                <a:off x="5649461" y="1828346"/>
                <a:ext cx="3285002" cy="5579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𝑛𝑛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=2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𝐹𝑇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{ 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𝑛𝑛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1FF08B2-F45C-6595-0D88-A58818DBF6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49461" y="1828346"/>
                <a:ext cx="3285002" cy="557910"/>
              </a:xfrm>
              <a:prstGeom prst="rect">
                <a:avLst/>
              </a:prstGeom>
              <a:blipFill>
                <a:blip r:embed="rId2"/>
                <a:stretch>
                  <a:fillRect r="-769" b="-159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6772E4B7-53A1-3FB3-E59B-FF52E0DE6728}"/>
                  </a:ext>
                </a:extLst>
              </p:cNvPr>
              <p:cNvSpPr txBox="1"/>
              <p:nvPr/>
            </p:nvSpPr>
            <p:spPr>
              <a:xfrm>
                <a:off x="1667617" y="2895559"/>
                <a:ext cx="3983206" cy="5579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𝑛𝑛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=2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𝐹𝑇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{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8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r>
                        <a:rPr lang="en-US" sz="28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28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𝛿</m:t>
                      </m:r>
                      <m:r>
                        <a:rPr lang="en-US" sz="28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[</m:t>
                      </m:r>
                      <m:r>
                        <a:rPr lang="en-US" sz="28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𝜏</m:t>
                      </m:r>
                      <m:r>
                        <a:rPr lang="en-US" sz="28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]}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6772E4B7-53A1-3FB3-E59B-FF52E0DE67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7617" y="2895559"/>
                <a:ext cx="3983206" cy="557910"/>
              </a:xfrm>
              <a:prstGeom prst="rect">
                <a:avLst/>
              </a:prstGeom>
              <a:blipFill>
                <a:blip r:embed="rId3"/>
                <a:stretch>
                  <a:fillRect r="-955"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Group 5">
            <a:extLst>
              <a:ext uri="{FF2B5EF4-FFF2-40B4-BE49-F238E27FC236}">
                <a16:creationId xmlns:a16="http://schemas.microsoft.com/office/drawing/2014/main" id="{8924FE02-B256-C969-7621-0CAB0B503FA7}"/>
              </a:ext>
            </a:extLst>
          </p:cNvPr>
          <p:cNvGrpSpPr/>
          <p:nvPr/>
        </p:nvGrpSpPr>
        <p:grpSpPr>
          <a:xfrm>
            <a:off x="7802005" y="2411347"/>
            <a:ext cx="3045068" cy="1021517"/>
            <a:chOff x="7802005" y="2411347"/>
            <a:chExt cx="3045068" cy="102151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87ABA955-33C9-E2FC-B966-85DBA23CF179}"/>
                    </a:ext>
                  </a:extLst>
                </p:cNvPr>
                <p:cNvSpPr txBox="1"/>
                <p:nvPr/>
              </p:nvSpPr>
              <p:spPr>
                <a:xfrm>
                  <a:off x="7802005" y="2909644"/>
                  <a:ext cx="3045068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80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sym typeface="Wingdings" pitchFamily="2" charset="2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sym typeface="Wingdings" pitchFamily="2" charset="2"/>
                              </a:rPr>
                              <m:t>𝑟</m:t>
                            </m:r>
                          </m:e>
                          <m:sub>
                            <m:r>
                              <a:rPr lang="en-US" sz="28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sym typeface="Wingdings" pitchFamily="2" charset="2"/>
                              </a:rPr>
                              <m:t>𝑛𝑛</m:t>
                            </m:r>
                          </m:sub>
                        </m:sSub>
                        <m:d>
                          <m:dPr>
                            <m:begChr m:val="["/>
                            <m:endChr m:val="]"/>
                            <m:ctrlPr>
                              <a:rPr lang="en-US" sz="28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Wingdings" pitchFamily="2" charset="2"/>
                              </a:rPr>
                            </m:ctrlPr>
                          </m:dPr>
                          <m:e>
                            <m:r>
                              <a:rPr lang="en-US" sz="28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Wingdings" pitchFamily="2" charset="2"/>
                              </a:rPr>
                              <m:t>𝜏</m:t>
                            </m:r>
                          </m:e>
                        </m:d>
                        <m:sSub>
                          <m:sSubPr>
                            <m:ctrlPr>
                              <a:rPr lang="en-US" sz="28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sz="28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 sz="28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sz="28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sz="28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𝛿</m:t>
                        </m:r>
                        <m:r>
                          <a:rPr lang="en-US" sz="28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[</m:t>
                        </m:r>
                        <m:r>
                          <a:rPr lang="en-US" sz="28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𝜏</m:t>
                        </m:r>
                        <m:r>
                          <a:rPr lang="en-US" sz="28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]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87ABA955-33C9-E2FC-B966-85DBA23CF17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02005" y="2909644"/>
                  <a:ext cx="3045068" cy="523220"/>
                </a:xfrm>
                <a:prstGeom prst="rect">
                  <a:avLst/>
                </a:prstGeom>
                <a:blipFill>
                  <a:blip r:embed="rId4"/>
                  <a:stretch>
                    <a:fillRect b="-2093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B2A4CDA3-C2CE-0AA0-1BFB-15C7C7F6D70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37118" y="2411347"/>
              <a:ext cx="0" cy="498297"/>
            </a:xfrm>
            <a:prstGeom prst="straightConnector1">
              <a:avLst/>
            </a:prstGeom>
            <a:ln w="5080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193B5062-FE4F-70E8-C754-5E9E579B306E}"/>
                  </a:ext>
                </a:extLst>
              </p:cNvPr>
              <p:cNvSpPr txBox="1"/>
              <p:nvPr/>
            </p:nvSpPr>
            <p:spPr>
              <a:xfrm>
                <a:off x="1667617" y="3648976"/>
                <a:ext cx="4281364" cy="5579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𝑛𝑛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=2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(</m:t>
                          </m:r>
                          <m:r>
                            <a:rPr 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8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r>
                        <a:rPr lang="en-US" sz="28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𝐹𝑇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{</m:t>
                      </m:r>
                      <m:r>
                        <a:rPr lang="en-US" sz="28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𝛿</m:t>
                      </m:r>
                      <m:r>
                        <a:rPr lang="en-US" sz="28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[</m:t>
                      </m:r>
                      <m:r>
                        <a:rPr lang="en-US" sz="28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𝜏</m:t>
                      </m:r>
                      <m:r>
                        <a:rPr lang="en-US" sz="28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]}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193B5062-FE4F-70E8-C754-5E9E579B30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7617" y="3648976"/>
                <a:ext cx="4281364" cy="557910"/>
              </a:xfrm>
              <a:prstGeom prst="rect">
                <a:avLst/>
              </a:prstGeom>
              <a:blipFill>
                <a:blip r:embed="rId5"/>
                <a:stretch>
                  <a:fillRect r="-592" b="-1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F930397D-8C20-E0BC-3C7F-192D92AAB69A}"/>
                  </a:ext>
                </a:extLst>
              </p:cNvPr>
              <p:cNvSpPr txBox="1"/>
              <p:nvPr/>
            </p:nvSpPr>
            <p:spPr>
              <a:xfrm>
                <a:off x="1667617" y="4432906"/>
                <a:ext cx="3598806" cy="5665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𝑛𝑛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=2 </m:t>
                      </m:r>
                      <m:sSup>
                        <m:s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  ∆</m:t>
                          </m:r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sSub>
                        <m:sSubPr>
                          <m:ctrlPr>
                            <a:rPr 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8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    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F930397D-8C20-E0BC-3C7F-192D92AAB6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7617" y="4432906"/>
                <a:ext cx="3598806" cy="566565"/>
              </a:xfrm>
              <a:prstGeom prst="rect">
                <a:avLst/>
              </a:prstGeom>
              <a:blipFill>
                <a:blip r:embed="rId6"/>
                <a:stretch>
                  <a:fillRect b="-152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9119CF46-6A3A-167A-5D30-709B065E36F9}"/>
                  </a:ext>
                </a:extLst>
              </p:cNvPr>
              <p:cNvSpPr txBox="1"/>
              <p:nvPr/>
            </p:nvSpPr>
            <p:spPr>
              <a:xfrm>
                <a:off x="1667617" y="5249154"/>
                <a:ext cx="2614562" cy="5665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𝑛𝑛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=2 </m:t>
                      </m:r>
                      <m:sSup>
                        <m:s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∆</m:t>
                          </m:r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sSub>
                        <m:sSubPr>
                          <m:ctrlPr>
                            <a:rPr 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9119CF46-6A3A-167A-5D30-709B065E36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7617" y="5249154"/>
                <a:ext cx="2614562" cy="566565"/>
              </a:xfrm>
              <a:prstGeom prst="rect">
                <a:avLst/>
              </a:prstGeom>
              <a:blipFill>
                <a:blip r:embed="rId7"/>
                <a:stretch>
                  <a:fillRect b="-1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" name="Group 7">
            <a:extLst>
              <a:ext uri="{FF2B5EF4-FFF2-40B4-BE49-F238E27FC236}">
                <a16:creationId xmlns:a16="http://schemas.microsoft.com/office/drawing/2014/main" id="{80A51CAB-B03C-4448-A7E2-04FD7E080D13}"/>
              </a:ext>
            </a:extLst>
          </p:cNvPr>
          <p:cNvGrpSpPr/>
          <p:nvPr/>
        </p:nvGrpSpPr>
        <p:grpSpPr>
          <a:xfrm>
            <a:off x="1667617" y="5198261"/>
            <a:ext cx="9180160" cy="668350"/>
            <a:chOff x="1667617" y="5198261"/>
            <a:chExt cx="9180160" cy="668350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E51FC842-8C18-65F8-68E2-E94B01A7077A}"/>
                </a:ext>
              </a:extLst>
            </p:cNvPr>
            <p:cNvSpPr/>
            <p:nvPr/>
          </p:nvSpPr>
          <p:spPr>
            <a:xfrm>
              <a:off x="1667617" y="5198261"/>
              <a:ext cx="2787446" cy="668350"/>
            </a:xfrm>
            <a:prstGeom prst="rect">
              <a:avLst/>
            </a:prstGeom>
            <a:noFill/>
            <a:ln w="508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54495A2B-17FE-2372-F882-6F2626030D8B}"/>
                </a:ext>
              </a:extLst>
            </p:cNvPr>
            <p:cNvSpPr txBox="1"/>
            <p:nvPr/>
          </p:nvSpPr>
          <p:spPr>
            <a:xfrm>
              <a:off x="4528868" y="5347770"/>
              <a:ext cx="6318909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200" dirty="0"/>
                <a:t>This is the spectrum of random spiking at fixed rate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914745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20" grpId="0"/>
      <p:bldP spid="21" grpId="0"/>
      <p:bldP spid="2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685A81-CB58-5945-35B9-2787A593CA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EAAC4D-981F-4019-B240-3FC50D1082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Autocovariance (spike train)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1F897C-8F23-8AF2-A995-D801E680AA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6871" y="1325563"/>
            <a:ext cx="10515600" cy="498475"/>
          </a:xfrm>
        </p:spPr>
        <p:txBody>
          <a:bodyPr/>
          <a:lstStyle/>
          <a:p>
            <a:r>
              <a:rPr lang="en-US" b="1" dirty="0"/>
              <a:t>Ex. </a:t>
            </a:r>
            <a:r>
              <a:rPr lang="en-US" dirty="0"/>
              <a:t>Random spiking at a fixed rate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EE80188-3647-FE62-941E-A43A44834D53}"/>
              </a:ext>
            </a:extLst>
          </p:cNvPr>
          <p:cNvSpPr txBox="1"/>
          <p:nvPr/>
        </p:nvSpPr>
        <p:spPr>
          <a:xfrm>
            <a:off x="286871" y="1824038"/>
            <a:ext cx="461316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prstClr val="black"/>
                </a:solidFill>
                <a:sym typeface="Wingdings" pitchFamily="2" charset="2"/>
              </a:rPr>
              <a:t>Q. </a:t>
            </a:r>
            <a:r>
              <a:rPr lang="en-US" sz="2800" dirty="0">
                <a:solidFill>
                  <a:prstClr val="black"/>
                </a:solidFill>
                <a:sym typeface="Wingdings" pitchFamily="2" charset="2"/>
              </a:rPr>
              <a:t>What is the spectrum?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199FEF0C-11D6-7EAD-36F2-C882D2FE3B9F}"/>
                  </a:ext>
                </a:extLst>
              </p:cNvPr>
              <p:cNvSpPr txBox="1"/>
              <p:nvPr/>
            </p:nvSpPr>
            <p:spPr>
              <a:xfrm>
                <a:off x="4900040" y="2476029"/>
                <a:ext cx="2614562" cy="5665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𝑛𝑛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=2 </m:t>
                      </m:r>
                      <m:sSup>
                        <m:s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∆</m:t>
                          </m:r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sSub>
                        <m:sSubPr>
                          <m:ctrlPr>
                            <a:rPr 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199FEF0C-11D6-7EAD-36F2-C882D2FE3B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00040" y="2476029"/>
                <a:ext cx="2614562" cy="566565"/>
              </a:xfrm>
              <a:prstGeom prst="rect">
                <a:avLst/>
              </a:prstGeom>
              <a:blipFill>
                <a:blip r:embed="rId2"/>
                <a:stretch>
                  <a:fillRect b="-152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Rectangle 22">
            <a:extLst>
              <a:ext uri="{FF2B5EF4-FFF2-40B4-BE49-F238E27FC236}">
                <a16:creationId xmlns:a16="http://schemas.microsoft.com/office/drawing/2014/main" id="{D6791650-E4C0-82FE-B860-97438A20D31F}"/>
              </a:ext>
            </a:extLst>
          </p:cNvPr>
          <p:cNvSpPr/>
          <p:nvPr/>
        </p:nvSpPr>
        <p:spPr>
          <a:xfrm>
            <a:off x="4900040" y="2417375"/>
            <a:ext cx="2787446" cy="668350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0C7374B-13CA-29CC-55CB-DBE3649DDD11}"/>
              </a:ext>
            </a:extLst>
          </p:cNvPr>
          <p:cNvSpPr txBox="1"/>
          <p:nvPr/>
        </p:nvSpPr>
        <p:spPr>
          <a:xfrm>
            <a:off x="571500" y="3600450"/>
            <a:ext cx="10727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Plot it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B736FBDD-3B59-776A-0C6F-2393A72FAFDD}"/>
              </a:ext>
            </a:extLst>
          </p:cNvPr>
          <p:cNvGrpSpPr/>
          <p:nvPr/>
        </p:nvGrpSpPr>
        <p:grpSpPr>
          <a:xfrm>
            <a:off x="3047354" y="3114633"/>
            <a:ext cx="6924685" cy="3281077"/>
            <a:chOff x="3047354" y="3114633"/>
            <a:chExt cx="6924685" cy="3281077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B3312BD7-6996-5FC6-0E22-3BE667DCFECD}"/>
                </a:ext>
              </a:extLst>
            </p:cNvPr>
            <p:cNvCxnSpPr/>
            <p:nvPr/>
          </p:nvCxnSpPr>
          <p:spPr>
            <a:xfrm>
              <a:off x="4000500" y="3429000"/>
              <a:ext cx="0" cy="2705100"/>
            </a:xfrm>
            <a:prstGeom prst="line">
              <a:avLst/>
            </a:prstGeom>
            <a:ln w="508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CD4924E0-5633-27BA-273C-05B86F40C146}"/>
                </a:ext>
              </a:extLst>
            </p:cNvPr>
            <p:cNvCxnSpPr/>
            <p:nvPr/>
          </p:nvCxnSpPr>
          <p:spPr>
            <a:xfrm flipH="1">
              <a:off x="4000500" y="6134100"/>
              <a:ext cx="5505450" cy="0"/>
            </a:xfrm>
            <a:prstGeom prst="line">
              <a:avLst/>
            </a:prstGeom>
            <a:ln w="508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669DA3A9-D879-6F05-A863-C9F664D5BF19}"/>
                    </a:ext>
                  </a:extLst>
                </p:cNvPr>
                <p:cNvSpPr txBox="1"/>
                <p:nvPr/>
              </p:nvSpPr>
              <p:spPr>
                <a:xfrm>
                  <a:off x="3047354" y="3114633"/>
                  <a:ext cx="979435" cy="5579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80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sz="2800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𝑛𝑛</m:t>
                            </m:r>
                            <m:r>
                              <a:rPr lang="en-US" sz="28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8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669DA3A9-D879-6F05-A863-C9F664D5BF1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47354" y="3114633"/>
                  <a:ext cx="979435" cy="557910"/>
                </a:xfrm>
                <a:prstGeom prst="rect">
                  <a:avLst/>
                </a:prstGeom>
                <a:blipFill>
                  <a:blip r:embed="rId3"/>
                  <a:stretch>
                    <a:fillRect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53540BAD-324A-F11B-C662-776E20F1DE79}"/>
                    </a:ext>
                  </a:extLst>
                </p:cNvPr>
                <p:cNvSpPr txBox="1"/>
                <p:nvPr/>
              </p:nvSpPr>
              <p:spPr>
                <a:xfrm>
                  <a:off x="9505950" y="5872490"/>
                  <a:ext cx="466089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53540BAD-324A-F11B-C662-776E20F1DE7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05950" y="5872490"/>
                  <a:ext cx="466089" cy="523220"/>
                </a:xfrm>
                <a:prstGeom prst="rect">
                  <a:avLst/>
                </a:prstGeom>
                <a:blipFill>
                  <a:blip r:embed="rId4"/>
                  <a:stretch>
                    <a:fillRect l="-7895" r="-5263" b="-1904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9442F82D-0F60-F244-485F-5DD41CEEA965}"/>
              </a:ext>
            </a:extLst>
          </p:cNvPr>
          <p:cNvCxnSpPr/>
          <p:nvPr/>
        </p:nvCxnSpPr>
        <p:spPr>
          <a:xfrm>
            <a:off x="4000500" y="4274288"/>
            <a:ext cx="5738494" cy="0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51FAA1AB-F545-549F-59D4-8A4658C8CA0D}"/>
                  </a:ext>
                </a:extLst>
              </p:cNvPr>
              <p:cNvSpPr txBox="1"/>
              <p:nvPr/>
            </p:nvSpPr>
            <p:spPr>
              <a:xfrm>
                <a:off x="9950566" y="4012678"/>
                <a:ext cx="1426288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2 </m:t>
                      </m:r>
                      <m:sSup>
                        <m:sSupPr>
                          <m:ctrlPr>
                            <a:rPr 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∆</m:t>
                          </m:r>
                        </m:e>
                        <m:sup>
                          <m:r>
                            <a:rPr 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sSub>
                        <m:sSubPr>
                          <m:ctrlPr>
                            <a:rPr 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51FAA1AB-F545-549F-59D4-8A4658C8CA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50566" y="4012678"/>
                <a:ext cx="1426288" cy="523220"/>
              </a:xfrm>
              <a:prstGeom prst="rect">
                <a:avLst/>
              </a:prstGeom>
              <a:blipFill>
                <a:blip r:embed="rId5"/>
                <a:stretch>
                  <a:fillRect b="-209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780AB763-63F7-190E-3F5B-E451806DD9AB}"/>
              </a:ext>
            </a:extLst>
          </p:cNvPr>
          <p:cNvSpPr txBox="1"/>
          <p:nvPr/>
        </p:nvSpPr>
        <p:spPr>
          <a:xfrm>
            <a:off x="571500" y="6284024"/>
            <a:ext cx="480779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u="sng" dirty="0"/>
              <a:t>Note</a:t>
            </a:r>
            <a:r>
              <a:rPr lang="en-US" sz="2800" dirty="0"/>
              <a:t>: Power at all frequencies</a:t>
            </a:r>
          </a:p>
        </p:txBody>
      </p:sp>
    </p:spTree>
    <p:extLst>
      <p:ext uri="{BB962C8B-B14F-4D97-AF65-F5344CB8AC3E}">
        <p14:creationId xmlns:p14="http://schemas.microsoft.com/office/powerpoint/2010/main" val="6228087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6" grpId="0"/>
      <p:bldP spid="24" grpId="0"/>
      <p:bldP spid="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FCCE415-0252-5F9D-CB50-EA38F4FC18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3228" y="1724136"/>
            <a:ext cx="5080000" cy="28702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65F91A8-83EC-9291-3E58-CCCD0C192C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Spectrum (spike train)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973855-FCB8-5751-D201-1EC60ACF1A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6871" y="1332689"/>
            <a:ext cx="12174487" cy="418177"/>
          </a:xfrm>
        </p:spPr>
        <p:txBody>
          <a:bodyPr>
            <a:noAutofit/>
          </a:bodyPr>
          <a:lstStyle/>
          <a:p>
            <a:r>
              <a:rPr lang="en-US" dirty="0"/>
              <a:t>Use autocovariance to gain intuition</a:t>
            </a:r>
          </a:p>
          <a:p>
            <a:r>
              <a:rPr lang="en-US" u="sng" dirty="0"/>
              <a:t>Alternative</a:t>
            </a:r>
            <a:r>
              <a:rPr lang="en-US" dirty="0"/>
              <a:t>: compute spectrum directly.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29C157B-EEF3-782B-C94D-E3CEB99E29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7789" y="4302690"/>
            <a:ext cx="5449292" cy="1765264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3115E4EF-A865-BFC4-6F2A-3D1D6490B6D8}"/>
              </a:ext>
            </a:extLst>
          </p:cNvPr>
          <p:cNvGrpSpPr/>
          <p:nvPr/>
        </p:nvGrpSpPr>
        <p:grpSpPr>
          <a:xfrm>
            <a:off x="6267789" y="3429000"/>
            <a:ext cx="5029197" cy="1003630"/>
            <a:chOff x="6267789" y="3429000"/>
            <a:chExt cx="5029197" cy="1003630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9BCCBAE7-0118-1C17-CBDB-D8083A0029E7}"/>
                </a:ext>
              </a:extLst>
            </p:cNvPr>
            <p:cNvSpPr txBox="1"/>
            <p:nvPr/>
          </p:nvSpPr>
          <p:spPr>
            <a:xfrm>
              <a:off x="6267789" y="3909410"/>
              <a:ext cx="5029197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Fourier transform of </a:t>
              </a:r>
              <a:r>
                <a:rPr lang="en-US" sz="2800" b="1" dirty="0"/>
                <a:t>spike train</a:t>
              </a:r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17E4ABC3-38A1-18D8-E7DA-341142106DF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37909" y="3429000"/>
              <a:ext cx="0" cy="498297"/>
            </a:xfrm>
            <a:prstGeom prst="straightConnector1">
              <a:avLst/>
            </a:prstGeom>
            <a:ln w="5080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8ECE6171-00A4-4963-C9A2-1EC8F77A4AB3}"/>
              </a:ext>
            </a:extLst>
          </p:cNvPr>
          <p:cNvGrpSpPr/>
          <p:nvPr/>
        </p:nvGrpSpPr>
        <p:grpSpPr>
          <a:xfrm>
            <a:off x="6950610" y="5376708"/>
            <a:ext cx="5220019" cy="1214466"/>
            <a:chOff x="6950610" y="5376708"/>
            <a:chExt cx="5220019" cy="1214466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F841533B-4E22-5ADF-0253-F69EC96199B3}"/>
                </a:ext>
              </a:extLst>
            </p:cNvPr>
            <p:cNvSpPr txBox="1"/>
            <p:nvPr/>
          </p:nvSpPr>
          <p:spPr>
            <a:xfrm>
              <a:off x="6950610" y="6067954"/>
              <a:ext cx="5220019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spike train with mean subtracted</a:t>
              </a:r>
            </a:p>
          </p:txBody>
        </p: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093271E7-242B-8173-6232-6FC06475DE7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296244" y="5376708"/>
              <a:ext cx="0" cy="720948"/>
            </a:xfrm>
            <a:prstGeom prst="straightConnector1">
              <a:avLst/>
            </a:prstGeom>
            <a:ln w="5080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0BACBCB1-C68F-A54F-F347-7F80FAE4AB18}"/>
              </a:ext>
            </a:extLst>
          </p:cNvPr>
          <p:cNvSpPr txBox="1"/>
          <p:nvPr/>
        </p:nvSpPr>
        <p:spPr>
          <a:xfrm>
            <a:off x="195537" y="4875408"/>
            <a:ext cx="4679871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Like our approach for “fields”</a:t>
            </a:r>
          </a:p>
          <a:p>
            <a:r>
              <a:rPr lang="en-US" sz="2200" dirty="0"/>
              <a:t>- new notation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015C2B39-8B3C-C8B0-E3CD-1C0F2FE212C4}"/>
              </a:ext>
            </a:extLst>
          </p:cNvPr>
          <p:cNvGrpSpPr/>
          <p:nvPr/>
        </p:nvGrpSpPr>
        <p:grpSpPr>
          <a:xfrm>
            <a:off x="8388496" y="4768616"/>
            <a:ext cx="3872407" cy="1178450"/>
            <a:chOff x="3986026" y="1476373"/>
            <a:chExt cx="3872407" cy="117845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1BB7108C-1ACE-EF72-BBC7-6EE53BBF1CDB}"/>
                </a:ext>
              </a:extLst>
            </p:cNvPr>
            <p:cNvSpPr/>
            <p:nvPr/>
          </p:nvSpPr>
          <p:spPr>
            <a:xfrm>
              <a:off x="4672958" y="1476373"/>
              <a:ext cx="2509841" cy="785170"/>
            </a:xfrm>
            <a:prstGeom prst="rect">
              <a:avLst/>
            </a:prstGeom>
            <a:noFill/>
            <a:ln w="25400">
              <a:solidFill>
                <a:srgbClr val="00B0F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BF7FCB0A-F199-418F-4532-59B329961AB5}"/>
                    </a:ext>
                  </a:extLst>
                </p:cNvPr>
                <p:cNvSpPr txBox="1"/>
                <p:nvPr/>
              </p:nvSpPr>
              <p:spPr>
                <a:xfrm>
                  <a:off x="3986026" y="2263177"/>
                  <a:ext cx="3872407" cy="39164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>
                      <a:solidFill>
                        <a:srgbClr val="00B0F0"/>
                      </a:solidFill>
                    </a:rPr>
                    <a:t>complex exponentials at frequency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</m:oMath>
                  </a14:m>
                  <a:endParaRPr lang="en-US" dirty="0">
                    <a:solidFill>
                      <a:srgbClr val="00B0F0"/>
                    </a:solidFill>
                  </a:endParaRPr>
                </a:p>
              </p:txBody>
            </p:sp>
          </mc:Choice>
          <mc:Fallback xmlns="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BF7FCB0A-F199-418F-4532-59B329961AB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86026" y="2263177"/>
                  <a:ext cx="3872407" cy="391646"/>
                </a:xfrm>
                <a:prstGeom prst="rect">
                  <a:avLst/>
                </a:prstGeom>
                <a:blipFill>
                  <a:blip r:embed="rId4"/>
                  <a:stretch>
                    <a:fillRect l="-1307" t="-6250" b="-1875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1459149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D861B0-F7C1-20AE-C399-E12703147F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61513D-3DBD-BA72-576E-78DCD5A28D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Spectrum (spike train)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F13C4B-F089-836B-8299-6A421C8362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6872" y="1332689"/>
            <a:ext cx="4257832" cy="418177"/>
          </a:xfrm>
        </p:spPr>
        <p:txBody>
          <a:bodyPr>
            <a:noAutofit/>
          </a:bodyPr>
          <a:lstStyle/>
          <a:p>
            <a:r>
              <a:rPr lang="en-US" b="1" dirty="0"/>
              <a:t>Q. </a:t>
            </a:r>
            <a:r>
              <a:rPr lang="en-US" dirty="0"/>
              <a:t>What is the spectrum? 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C13CFF36-A18E-825D-E70F-77ED7D1ED433}"/>
              </a:ext>
            </a:extLst>
          </p:cNvPr>
          <p:cNvGrpSpPr/>
          <p:nvPr/>
        </p:nvGrpSpPr>
        <p:grpSpPr>
          <a:xfrm>
            <a:off x="286871" y="1917626"/>
            <a:ext cx="11005478" cy="1188751"/>
            <a:chOff x="286871" y="1978462"/>
            <a:chExt cx="11005478" cy="1188751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3D1991B4-C992-54A8-15E4-0E0914D657FF}"/>
                </a:ext>
              </a:extLst>
            </p:cNvPr>
            <p:cNvGrpSpPr/>
            <p:nvPr/>
          </p:nvGrpSpPr>
          <p:grpSpPr>
            <a:xfrm>
              <a:off x="899651" y="2637092"/>
              <a:ext cx="10392698" cy="530121"/>
              <a:chOff x="1194619" y="1815589"/>
              <a:chExt cx="10392698" cy="530121"/>
            </a:xfrm>
          </p:grpSpPr>
          <p:grpSp>
            <p:nvGrpSpPr>
              <p:cNvPr id="17" name="Group 16">
                <a:extLst>
                  <a:ext uri="{FF2B5EF4-FFF2-40B4-BE49-F238E27FC236}">
                    <a16:creationId xmlns:a16="http://schemas.microsoft.com/office/drawing/2014/main" id="{719CA267-CC38-15FF-D660-AA94E81D3E2F}"/>
                  </a:ext>
                </a:extLst>
              </p:cNvPr>
              <p:cNvGrpSpPr/>
              <p:nvPr/>
            </p:nvGrpSpPr>
            <p:grpSpPr>
              <a:xfrm>
                <a:off x="1194619" y="1824038"/>
                <a:ext cx="5343832" cy="521672"/>
                <a:chOff x="3908323" y="1840527"/>
                <a:chExt cx="5343832" cy="521672"/>
              </a:xfrm>
            </p:grpSpPr>
            <p:cxnSp>
              <p:nvCxnSpPr>
                <p:cNvPr id="26" name="Straight Connector 25">
                  <a:extLst>
                    <a:ext uri="{FF2B5EF4-FFF2-40B4-BE49-F238E27FC236}">
                      <a16:creationId xmlns:a16="http://schemas.microsoft.com/office/drawing/2014/main" id="{AEE81647-BF38-D067-BE76-3148D48FBBF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908323" y="1840527"/>
                  <a:ext cx="0" cy="521672"/>
                </a:xfrm>
                <a:prstGeom prst="line">
                  <a:avLst/>
                </a:prstGeom>
                <a:ln w="508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" name="Straight Connector 26">
                  <a:extLst>
                    <a:ext uri="{FF2B5EF4-FFF2-40B4-BE49-F238E27FC236}">
                      <a16:creationId xmlns:a16="http://schemas.microsoft.com/office/drawing/2014/main" id="{DD7C7E10-CD1E-B88F-F46B-2B97D07219E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916130" y="1840527"/>
                  <a:ext cx="0" cy="521672"/>
                </a:xfrm>
                <a:prstGeom prst="line">
                  <a:avLst/>
                </a:prstGeom>
                <a:ln w="508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" name="Straight Connector 27">
                  <a:extLst>
                    <a:ext uri="{FF2B5EF4-FFF2-40B4-BE49-F238E27FC236}">
                      <a16:creationId xmlns:a16="http://schemas.microsoft.com/office/drawing/2014/main" id="{8A625E8D-FEBE-21A8-23E3-05B2662C92F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100917" y="1840527"/>
                  <a:ext cx="0" cy="521672"/>
                </a:xfrm>
                <a:prstGeom prst="line">
                  <a:avLst/>
                </a:prstGeom>
                <a:ln w="508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" name="Straight Connector 28">
                  <a:extLst>
                    <a:ext uri="{FF2B5EF4-FFF2-40B4-BE49-F238E27FC236}">
                      <a16:creationId xmlns:a16="http://schemas.microsoft.com/office/drawing/2014/main" id="{7A294CB9-9B90-2AA6-006F-5AA731F87F8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361471" y="1840527"/>
                  <a:ext cx="0" cy="521672"/>
                </a:xfrm>
                <a:prstGeom prst="line">
                  <a:avLst/>
                </a:prstGeom>
                <a:ln w="508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" name="Straight Connector 29">
                  <a:extLst>
                    <a:ext uri="{FF2B5EF4-FFF2-40B4-BE49-F238E27FC236}">
                      <a16:creationId xmlns:a16="http://schemas.microsoft.com/office/drawing/2014/main" id="{22F693FF-7400-685B-4D3D-C22631CA9FE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659330" y="1840527"/>
                  <a:ext cx="0" cy="521672"/>
                </a:xfrm>
                <a:prstGeom prst="line">
                  <a:avLst/>
                </a:prstGeom>
                <a:ln w="508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" name="Straight Connector 30">
                  <a:extLst>
                    <a:ext uri="{FF2B5EF4-FFF2-40B4-BE49-F238E27FC236}">
                      <a16:creationId xmlns:a16="http://schemas.microsoft.com/office/drawing/2014/main" id="{E528A6D5-015D-76A5-AE84-0DAE855FA23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252155" y="1840527"/>
                  <a:ext cx="0" cy="521672"/>
                </a:xfrm>
                <a:prstGeom prst="line">
                  <a:avLst/>
                </a:prstGeom>
                <a:ln w="508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" name="Straight Connector 31">
                  <a:extLst>
                    <a:ext uri="{FF2B5EF4-FFF2-40B4-BE49-F238E27FC236}">
                      <a16:creationId xmlns:a16="http://schemas.microsoft.com/office/drawing/2014/main" id="{BA41FC50-874E-280E-4FF3-D87927AC7CF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089923" y="1840527"/>
                  <a:ext cx="0" cy="521672"/>
                </a:xfrm>
                <a:prstGeom prst="line">
                  <a:avLst/>
                </a:prstGeom>
                <a:ln w="508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8" name="Group 17">
                <a:extLst>
                  <a:ext uri="{FF2B5EF4-FFF2-40B4-BE49-F238E27FC236}">
                    <a16:creationId xmlns:a16="http://schemas.microsoft.com/office/drawing/2014/main" id="{7559122D-ACE3-671A-1FA6-F2373654FF42}"/>
                  </a:ext>
                </a:extLst>
              </p:cNvPr>
              <p:cNvGrpSpPr/>
              <p:nvPr/>
            </p:nvGrpSpPr>
            <p:grpSpPr>
              <a:xfrm>
                <a:off x="6243485" y="1815589"/>
                <a:ext cx="5343832" cy="521672"/>
                <a:chOff x="3908323" y="1840527"/>
                <a:chExt cx="5343832" cy="521672"/>
              </a:xfrm>
            </p:grpSpPr>
            <p:cxnSp>
              <p:nvCxnSpPr>
                <p:cNvPr id="19" name="Straight Connector 18">
                  <a:extLst>
                    <a:ext uri="{FF2B5EF4-FFF2-40B4-BE49-F238E27FC236}">
                      <a16:creationId xmlns:a16="http://schemas.microsoft.com/office/drawing/2014/main" id="{1A95CDD6-FFA9-7C9F-63B3-F0FC3C188BE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908323" y="1840527"/>
                  <a:ext cx="0" cy="521672"/>
                </a:xfrm>
                <a:prstGeom prst="line">
                  <a:avLst/>
                </a:prstGeom>
                <a:ln w="508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" name="Straight Connector 19">
                  <a:extLst>
                    <a:ext uri="{FF2B5EF4-FFF2-40B4-BE49-F238E27FC236}">
                      <a16:creationId xmlns:a16="http://schemas.microsoft.com/office/drawing/2014/main" id="{980D4178-2647-C1F9-E1D8-C956EEFCB79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916130" y="1840527"/>
                  <a:ext cx="0" cy="521672"/>
                </a:xfrm>
                <a:prstGeom prst="line">
                  <a:avLst/>
                </a:prstGeom>
                <a:ln w="508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" name="Straight Connector 20">
                  <a:extLst>
                    <a:ext uri="{FF2B5EF4-FFF2-40B4-BE49-F238E27FC236}">
                      <a16:creationId xmlns:a16="http://schemas.microsoft.com/office/drawing/2014/main" id="{3BE20403-1D16-7FBE-30A9-C183AAA4F94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100917" y="1840527"/>
                  <a:ext cx="0" cy="521672"/>
                </a:xfrm>
                <a:prstGeom prst="line">
                  <a:avLst/>
                </a:prstGeom>
                <a:ln w="508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" name="Straight Connector 21">
                  <a:extLst>
                    <a:ext uri="{FF2B5EF4-FFF2-40B4-BE49-F238E27FC236}">
                      <a16:creationId xmlns:a16="http://schemas.microsoft.com/office/drawing/2014/main" id="{EA031F68-488B-265B-DF21-65C3D86ED9C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361471" y="1840527"/>
                  <a:ext cx="0" cy="521672"/>
                </a:xfrm>
                <a:prstGeom prst="line">
                  <a:avLst/>
                </a:prstGeom>
                <a:ln w="508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" name="Straight Connector 22">
                  <a:extLst>
                    <a:ext uri="{FF2B5EF4-FFF2-40B4-BE49-F238E27FC236}">
                      <a16:creationId xmlns:a16="http://schemas.microsoft.com/office/drawing/2014/main" id="{EA18BB0C-0EDA-1BE8-8985-EBCB3CEB9C5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659330" y="1840527"/>
                  <a:ext cx="0" cy="521672"/>
                </a:xfrm>
                <a:prstGeom prst="line">
                  <a:avLst/>
                </a:prstGeom>
                <a:ln w="508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" name="Straight Connector 23">
                  <a:extLst>
                    <a:ext uri="{FF2B5EF4-FFF2-40B4-BE49-F238E27FC236}">
                      <a16:creationId xmlns:a16="http://schemas.microsoft.com/office/drawing/2014/main" id="{0B361ACC-C3A1-E048-67B1-4EC8374F089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252155" y="1840527"/>
                  <a:ext cx="0" cy="521672"/>
                </a:xfrm>
                <a:prstGeom prst="line">
                  <a:avLst/>
                </a:prstGeom>
                <a:ln w="508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" name="Straight Connector 24">
                  <a:extLst>
                    <a:ext uri="{FF2B5EF4-FFF2-40B4-BE49-F238E27FC236}">
                      <a16:creationId xmlns:a16="http://schemas.microsoft.com/office/drawing/2014/main" id="{535699C1-6A52-78EE-097A-9E566FD3B38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089923" y="1840527"/>
                  <a:ext cx="0" cy="521672"/>
                </a:xfrm>
                <a:prstGeom prst="line">
                  <a:avLst/>
                </a:prstGeom>
                <a:ln w="508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141E13D0-9D3F-129F-1BFF-E9A357E2A6A5}"/>
                </a:ext>
              </a:extLst>
            </p:cNvPr>
            <p:cNvSpPr txBox="1"/>
            <p:nvPr/>
          </p:nvSpPr>
          <p:spPr>
            <a:xfrm>
              <a:off x="286871" y="1978462"/>
              <a:ext cx="2666627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Random spiking</a:t>
              </a:r>
            </a:p>
          </p:txBody>
        </p: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E42540C4-CBA1-E466-C9FC-747196D9254A}"/>
              </a:ext>
            </a:extLst>
          </p:cNvPr>
          <p:cNvGrpSpPr/>
          <p:nvPr/>
        </p:nvGrpSpPr>
        <p:grpSpPr>
          <a:xfrm>
            <a:off x="343714" y="3935821"/>
            <a:ext cx="5397628" cy="2952835"/>
            <a:chOff x="343714" y="3935821"/>
            <a:chExt cx="5397628" cy="2952835"/>
          </a:xfrm>
        </p:grpSpPr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F22F5265-08B4-AD20-281B-9EE7369EBBF0}"/>
                </a:ext>
              </a:extLst>
            </p:cNvPr>
            <p:cNvGrpSpPr/>
            <p:nvPr/>
          </p:nvGrpSpPr>
          <p:grpSpPr>
            <a:xfrm>
              <a:off x="443148" y="4393400"/>
              <a:ext cx="5298194" cy="2495256"/>
              <a:chOff x="417903" y="3531767"/>
              <a:chExt cx="7056421" cy="3008479"/>
            </a:xfrm>
          </p:grpSpPr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7AEE5DE7-8EEC-5A04-4C23-AF89C1BF49F9}"/>
                  </a:ext>
                </a:extLst>
              </p:cNvPr>
              <p:cNvGrpSpPr/>
              <p:nvPr/>
            </p:nvGrpSpPr>
            <p:grpSpPr>
              <a:xfrm>
                <a:off x="417903" y="5744025"/>
                <a:ext cx="7056421" cy="796221"/>
                <a:chOff x="2458065" y="5456592"/>
                <a:chExt cx="7056421" cy="796221"/>
              </a:xfrm>
            </p:grpSpPr>
            <p:cxnSp>
              <p:nvCxnSpPr>
                <p:cNvPr id="36" name="Straight Connector 35">
                  <a:extLst>
                    <a:ext uri="{FF2B5EF4-FFF2-40B4-BE49-F238E27FC236}">
                      <a16:creationId xmlns:a16="http://schemas.microsoft.com/office/drawing/2014/main" id="{D84497DE-B2E4-D8A1-48FA-205DD076BE0B}"/>
                    </a:ext>
                  </a:extLst>
                </p:cNvPr>
                <p:cNvCxnSpPr/>
                <p:nvPr/>
              </p:nvCxnSpPr>
              <p:spPr>
                <a:xfrm>
                  <a:off x="2458065" y="5619135"/>
                  <a:ext cx="6238568" cy="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" name="Straight Connector 36">
                  <a:extLst>
                    <a:ext uri="{FF2B5EF4-FFF2-40B4-BE49-F238E27FC236}">
                      <a16:creationId xmlns:a16="http://schemas.microsoft.com/office/drawing/2014/main" id="{E2746ECC-0B64-1B47-1238-AA41414D344B}"/>
                    </a:ext>
                  </a:extLst>
                </p:cNvPr>
                <p:cNvCxnSpPr/>
                <p:nvPr/>
              </p:nvCxnSpPr>
              <p:spPr>
                <a:xfrm>
                  <a:off x="5530645" y="5471652"/>
                  <a:ext cx="0" cy="339213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8D6F9BD9-4AA0-6862-2A69-F9375D0238B1}"/>
                    </a:ext>
                  </a:extLst>
                </p:cNvPr>
                <p:cNvSpPr txBox="1"/>
                <p:nvPr/>
              </p:nvSpPr>
              <p:spPr>
                <a:xfrm>
                  <a:off x="8696633" y="5456592"/>
                  <a:ext cx="817853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800" dirty="0"/>
                    <a:t>lags</a:t>
                  </a:r>
                </a:p>
              </p:txBody>
            </p:sp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7ADCA8F3-888C-170C-D625-601377E6678C}"/>
                    </a:ext>
                  </a:extLst>
                </p:cNvPr>
                <p:cNvSpPr txBox="1"/>
                <p:nvPr/>
              </p:nvSpPr>
              <p:spPr>
                <a:xfrm>
                  <a:off x="5356880" y="5729593"/>
                  <a:ext cx="377026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800" dirty="0"/>
                    <a:t>0</a:t>
                  </a:r>
                </a:p>
              </p:txBody>
            </p:sp>
          </p:grpSp>
          <p:grpSp>
            <p:nvGrpSpPr>
              <p:cNvPr id="40" name="Group 39">
                <a:extLst>
                  <a:ext uri="{FF2B5EF4-FFF2-40B4-BE49-F238E27FC236}">
                    <a16:creationId xmlns:a16="http://schemas.microsoft.com/office/drawing/2014/main" id="{DEF1FB18-99F0-7172-A28B-1004FC85DF5B}"/>
                  </a:ext>
                </a:extLst>
              </p:cNvPr>
              <p:cNvGrpSpPr/>
              <p:nvPr/>
            </p:nvGrpSpPr>
            <p:grpSpPr>
              <a:xfrm>
                <a:off x="3490483" y="3531767"/>
                <a:ext cx="1221407" cy="2374801"/>
                <a:chOff x="5530645" y="3244334"/>
                <a:chExt cx="1221407" cy="2374801"/>
              </a:xfrm>
            </p:grpSpPr>
            <p:cxnSp>
              <p:nvCxnSpPr>
                <p:cNvPr id="41" name="Straight Connector 40">
                  <a:extLst>
                    <a:ext uri="{FF2B5EF4-FFF2-40B4-BE49-F238E27FC236}">
                      <a16:creationId xmlns:a16="http://schemas.microsoft.com/office/drawing/2014/main" id="{3A4CCFA7-69AE-6574-A262-A5DB11A68C05}"/>
                    </a:ext>
                  </a:extLst>
                </p:cNvPr>
                <p:cNvCxnSpPr/>
                <p:nvPr/>
              </p:nvCxnSpPr>
              <p:spPr>
                <a:xfrm>
                  <a:off x="5530645" y="3378705"/>
                  <a:ext cx="0" cy="2240430"/>
                </a:xfrm>
                <a:prstGeom prst="line">
                  <a:avLst/>
                </a:prstGeom>
                <a:ln w="50800">
                  <a:solidFill>
                    <a:srgbClr val="FF000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2" name="TextBox 41">
                      <a:extLst>
                        <a:ext uri="{FF2B5EF4-FFF2-40B4-BE49-F238E27FC236}">
                          <a16:creationId xmlns:a16="http://schemas.microsoft.com/office/drawing/2014/main" id="{4957814D-84DD-727F-A513-85750304D237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653655" y="3244334"/>
                      <a:ext cx="1098397" cy="630835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14:m>
                        <m:oMath xmlns:m="http://schemas.openxmlformats.org/officeDocument/2006/math">
                          <m:sSub>
                            <m:sSubPr>
                              <m:ctrlPr>
                                <a:rPr lang="en-US" sz="280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sz="2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sz="28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</m:oMath>
                      </a14:m>
                      <a:r>
                        <a:rPr lang="en-US" sz="2800" dirty="0"/>
                        <a:t> </a:t>
                      </a:r>
                    </a:p>
                  </p:txBody>
                </p:sp>
              </mc:Choice>
              <mc:Fallback xmlns="">
                <p:sp>
                  <p:nvSpPr>
                    <p:cNvPr id="42" name="TextBox 41">
                      <a:extLst>
                        <a:ext uri="{FF2B5EF4-FFF2-40B4-BE49-F238E27FC236}">
                          <a16:creationId xmlns:a16="http://schemas.microsoft.com/office/drawing/2014/main" id="{4957814D-84DD-727F-A513-85750304D237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653655" y="3244334"/>
                      <a:ext cx="1098397" cy="630835"/>
                    </a:xfrm>
                    <a:prstGeom prst="rect">
                      <a:avLst/>
                    </a:prstGeom>
                    <a:blipFill>
                      <a:blip r:embed="rId2"/>
                      <a:stretch>
                        <a:fillRect l="-4545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grpSp>
            <p:nvGrpSpPr>
              <p:cNvPr id="43" name="Group 42">
                <a:extLst>
                  <a:ext uri="{FF2B5EF4-FFF2-40B4-BE49-F238E27FC236}">
                    <a16:creationId xmlns:a16="http://schemas.microsoft.com/office/drawing/2014/main" id="{D4A93756-E134-5501-B8C9-AD49AF2C01E6}"/>
                  </a:ext>
                </a:extLst>
              </p:cNvPr>
              <p:cNvGrpSpPr/>
              <p:nvPr/>
            </p:nvGrpSpPr>
            <p:grpSpPr>
              <a:xfrm>
                <a:off x="417903" y="5212617"/>
                <a:ext cx="6238568" cy="620208"/>
                <a:chOff x="2458065" y="4925184"/>
                <a:chExt cx="6238568" cy="620208"/>
              </a:xfrm>
            </p:grpSpPr>
            <p:cxnSp>
              <p:nvCxnSpPr>
                <p:cNvPr id="44" name="Straight Connector 43">
                  <a:extLst>
                    <a:ext uri="{FF2B5EF4-FFF2-40B4-BE49-F238E27FC236}">
                      <a16:creationId xmlns:a16="http://schemas.microsoft.com/office/drawing/2014/main" id="{A5E9B565-9A36-8553-CED7-B32157CEA20A}"/>
                    </a:ext>
                  </a:extLst>
                </p:cNvPr>
                <p:cNvCxnSpPr/>
                <p:nvPr/>
              </p:nvCxnSpPr>
              <p:spPr>
                <a:xfrm>
                  <a:off x="2458065" y="5545392"/>
                  <a:ext cx="6238568" cy="0"/>
                </a:xfrm>
                <a:prstGeom prst="line">
                  <a:avLst/>
                </a:prstGeom>
                <a:ln w="50800">
                  <a:solidFill>
                    <a:srgbClr val="FF000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5" name="TextBox 44">
                      <a:extLst>
                        <a:ext uri="{FF2B5EF4-FFF2-40B4-BE49-F238E27FC236}">
                          <a16:creationId xmlns:a16="http://schemas.microsoft.com/office/drawing/2014/main" id="{CBA93154-EFD8-575A-DBBA-BE04165B2E68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928852" y="4925184"/>
                      <a:ext cx="1785169" cy="523220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n-US" sz="2800" dirty="0"/>
                        <a:t>0 for </a:t>
                      </a:r>
                      <a14:m>
                        <m:oMath xmlns:m="http://schemas.openxmlformats.org/officeDocument/2006/math">
                          <m:r>
                            <a:rPr lang="en-US" sz="28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itchFamily="2" charset="2"/>
                            </a:rPr>
                            <m:t>𝜏</m:t>
                          </m:r>
                          <m:r>
                            <a:rPr lang="en-US" sz="28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itchFamily="2" charset="2"/>
                            </a:rPr>
                            <m:t>≠0</m:t>
                          </m:r>
                        </m:oMath>
                      </a14:m>
                      <a:endParaRPr lang="en-US" sz="2800" dirty="0"/>
                    </a:p>
                  </p:txBody>
                </p:sp>
              </mc:Choice>
              <mc:Fallback xmlns="">
                <p:sp>
                  <p:nvSpPr>
                    <p:cNvPr id="41" name="TextBox 40">
                      <a:extLst>
                        <a:ext uri="{FF2B5EF4-FFF2-40B4-BE49-F238E27FC236}">
                          <a16:creationId xmlns:a16="http://schemas.microsoft.com/office/drawing/2014/main" id="{68C6F684-66A3-28B9-1B5A-92C0EDCDD45C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928852" y="4925184"/>
                      <a:ext cx="1785169" cy="523220"/>
                    </a:xfrm>
                    <a:prstGeom prst="rect">
                      <a:avLst/>
                    </a:prstGeom>
                    <a:blipFill>
                      <a:blip r:embed="rId5"/>
                      <a:stretch>
                        <a:fillRect l="-7092" t="-9302" r="-1418" b="-32558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1D2B265E-4F48-8EF7-24C9-895DCC56595F}"/>
                </a:ext>
              </a:extLst>
            </p:cNvPr>
            <p:cNvSpPr txBox="1"/>
            <p:nvPr/>
          </p:nvSpPr>
          <p:spPr>
            <a:xfrm>
              <a:off x="343714" y="3935821"/>
              <a:ext cx="2690095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Autocovariance </a:t>
              </a:r>
            </a:p>
          </p:txBody>
        </p:sp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4F64862F-5349-8D49-0A37-650EE7B82797}"/>
              </a:ext>
            </a:extLst>
          </p:cNvPr>
          <p:cNvGrpSpPr/>
          <p:nvPr/>
        </p:nvGrpSpPr>
        <p:grpSpPr>
          <a:xfrm>
            <a:off x="7133573" y="3980394"/>
            <a:ext cx="4431847" cy="2576299"/>
            <a:chOff x="7133573" y="3980394"/>
            <a:chExt cx="4431847" cy="2576299"/>
          </a:xfrm>
        </p:grpSpPr>
        <p:grpSp>
          <p:nvGrpSpPr>
            <p:cNvPr id="55" name="Group 54">
              <a:extLst>
                <a:ext uri="{FF2B5EF4-FFF2-40B4-BE49-F238E27FC236}">
                  <a16:creationId xmlns:a16="http://schemas.microsoft.com/office/drawing/2014/main" id="{020BBC68-8507-7932-E1A6-E84B6F56E63F}"/>
                </a:ext>
              </a:extLst>
            </p:cNvPr>
            <p:cNvGrpSpPr/>
            <p:nvPr/>
          </p:nvGrpSpPr>
          <p:grpSpPr>
            <a:xfrm>
              <a:off x="7133573" y="4504848"/>
              <a:ext cx="4431847" cy="2051845"/>
              <a:chOff x="2556279" y="3150044"/>
              <a:chExt cx="6844053" cy="3168642"/>
            </a:xfrm>
          </p:grpSpPr>
          <p:grpSp>
            <p:nvGrpSpPr>
              <p:cNvPr id="48" name="Group 47">
                <a:extLst>
                  <a:ext uri="{FF2B5EF4-FFF2-40B4-BE49-F238E27FC236}">
                    <a16:creationId xmlns:a16="http://schemas.microsoft.com/office/drawing/2014/main" id="{9112D723-C006-48F8-B2B2-214853AE1266}"/>
                  </a:ext>
                </a:extLst>
              </p:cNvPr>
              <p:cNvGrpSpPr/>
              <p:nvPr/>
            </p:nvGrpSpPr>
            <p:grpSpPr>
              <a:xfrm>
                <a:off x="2556279" y="3150044"/>
                <a:ext cx="5919323" cy="3168642"/>
                <a:chOff x="2556279" y="3150044"/>
                <a:chExt cx="5919323" cy="3168642"/>
              </a:xfrm>
            </p:grpSpPr>
            <p:cxnSp>
              <p:nvCxnSpPr>
                <p:cNvPr id="49" name="Straight Connector 48">
                  <a:extLst>
                    <a:ext uri="{FF2B5EF4-FFF2-40B4-BE49-F238E27FC236}">
                      <a16:creationId xmlns:a16="http://schemas.microsoft.com/office/drawing/2014/main" id="{8AFAC50B-25B5-074A-A64E-179C3128AA78}"/>
                    </a:ext>
                  </a:extLst>
                </p:cNvPr>
                <p:cNvCxnSpPr/>
                <p:nvPr/>
              </p:nvCxnSpPr>
              <p:spPr>
                <a:xfrm>
                  <a:off x="4000500" y="3429000"/>
                  <a:ext cx="0" cy="2705100"/>
                </a:xfrm>
                <a:prstGeom prst="line">
                  <a:avLst/>
                </a:prstGeom>
                <a:ln w="508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0" name="Straight Connector 49">
                  <a:extLst>
                    <a:ext uri="{FF2B5EF4-FFF2-40B4-BE49-F238E27FC236}">
                      <a16:creationId xmlns:a16="http://schemas.microsoft.com/office/drawing/2014/main" id="{9B2BD871-67B8-C4A0-A3EF-051296178A3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000500" y="6134100"/>
                  <a:ext cx="3795959" cy="0"/>
                </a:xfrm>
                <a:prstGeom prst="line">
                  <a:avLst/>
                </a:prstGeom>
                <a:ln w="5080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51" name="TextBox 50">
                      <a:extLst>
                        <a:ext uri="{FF2B5EF4-FFF2-40B4-BE49-F238E27FC236}">
                          <a16:creationId xmlns:a16="http://schemas.microsoft.com/office/drawing/2014/main" id="{FE8642DE-DDF9-0FEA-EB48-D63BF03CBAEA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556279" y="3150044"/>
                      <a:ext cx="979434" cy="557910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sz="2800" i="1" smtClea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8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e>
                              <m:sub>
                                <m:r>
                                  <a:rPr lang="en-US" sz="2800" b="0" i="1" smtClea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𝑛𝑛</m:t>
                                </m:r>
                                <m:r>
                                  <a:rPr lang="en-US" sz="28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28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51" name="TextBox 50">
                      <a:extLst>
                        <a:ext uri="{FF2B5EF4-FFF2-40B4-BE49-F238E27FC236}">
                          <a16:creationId xmlns:a16="http://schemas.microsoft.com/office/drawing/2014/main" id="{FE8642DE-DDF9-0FEA-EB48-D63BF03CBAEA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556279" y="3150044"/>
                      <a:ext cx="979434" cy="557910"/>
                    </a:xfrm>
                    <a:prstGeom prst="rect">
                      <a:avLst/>
                    </a:prstGeom>
                    <a:blipFill>
                      <a:blip r:embed="rId6"/>
                      <a:stretch>
                        <a:fillRect l="-3922" r="-41176" b="-70000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52" name="TextBox 51">
                      <a:extLst>
                        <a:ext uri="{FF2B5EF4-FFF2-40B4-BE49-F238E27FC236}">
                          <a16:creationId xmlns:a16="http://schemas.microsoft.com/office/drawing/2014/main" id="{A02813BC-AD5C-B294-048D-B37DCBD0E9B6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8009512" y="5795465"/>
                      <a:ext cx="466090" cy="523221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2800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52" name="TextBox 51">
                      <a:extLst>
                        <a:ext uri="{FF2B5EF4-FFF2-40B4-BE49-F238E27FC236}">
                          <a16:creationId xmlns:a16="http://schemas.microsoft.com/office/drawing/2014/main" id="{A02813BC-AD5C-B294-048D-B37DCBD0E9B6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8009512" y="5795465"/>
                      <a:ext cx="466090" cy="523221"/>
                    </a:xfrm>
                    <a:prstGeom prst="rect">
                      <a:avLst/>
                    </a:prstGeom>
                    <a:blipFill>
                      <a:blip r:embed="rId7"/>
                      <a:stretch>
                        <a:fillRect l="-24000" r="-48000" b="-78571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cxnSp>
            <p:nvCxnSpPr>
              <p:cNvPr id="53" name="Straight Connector 52">
                <a:extLst>
                  <a:ext uri="{FF2B5EF4-FFF2-40B4-BE49-F238E27FC236}">
                    <a16:creationId xmlns:a16="http://schemas.microsoft.com/office/drawing/2014/main" id="{95EA47AB-49FC-5858-AB53-80A23BF406F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00500" y="4274288"/>
                <a:ext cx="3795958" cy="0"/>
              </a:xfrm>
              <a:prstGeom prst="line">
                <a:avLst/>
              </a:prstGeom>
              <a:ln w="50800"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4" name="TextBox 53">
                    <a:extLst>
                      <a:ext uri="{FF2B5EF4-FFF2-40B4-BE49-F238E27FC236}">
                        <a16:creationId xmlns:a16="http://schemas.microsoft.com/office/drawing/2014/main" id="{82509B52-198F-1649-B7CF-C9EE1159F6CA}"/>
                      </a:ext>
                    </a:extLst>
                  </p:cNvPr>
                  <p:cNvSpPr txBox="1"/>
                  <p:nvPr/>
                </p:nvSpPr>
                <p:spPr>
                  <a:xfrm>
                    <a:off x="7974044" y="3876376"/>
                    <a:ext cx="1426288" cy="523221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2 </m:t>
                          </m:r>
                          <m:sSup>
                            <m:sSupPr>
                              <m:ctrlPr>
                                <a:rPr lang="en-US" sz="2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∆</m:t>
                              </m:r>
                            </m:e>
                            <m:sup>
                              <m:r>
                                <a:rPr lang="en-US" sz="2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sSub>
                            <m:sSubPr>
                              <m:ctrlPr>
                                <a:rPr lang="en-US" sz="2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sz="2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54" name="TextBox 53">
                    <a:extLst>
                      <a:ext uri="{FF2B5EF4-FFF2-40B4-BE49-F238E27FC236}">
                        <a16:creationId xmlns:a16="http://schemas.microsoft.com/office/drawing/2014/main" id="{82509B52-198F-1649-B7CF-C9EE1159F6C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974044" y="3876376"/>
                    <a:ext cx="1426288" cy="523221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l="-4110" r="-42466" b="-82143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B54A94B7-3EED-FD96-97B6-A3712D41C05D}"/>
                </a:ext>
              </a:extLst>
            </p:cNvPr>
            <p:cNvSpPr txBox="1"/>
            <p:nvPr/>
          </p:nvSpPr>
          <p:spPr>
            <a:xfrm>
              <a:off x="8401665" y="3980394"/>
              <a:ext cx="1710725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Spectrum</a:t>
              </a:r>
            </a:p>
          </p:txBody>
        </p:sp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C401B0E0-7041-99A7-E25B-FB6A8B184361}"/>
              </a:ext>
            </a:extLst>
          </p:cNvPr>
          <p:cNvGrpSpPr/>
          <p:nvPr/>
        </p:nvGrpSpPr>
        <p:grpSpPr>
          <a:xfrm>
            <a:off x="4165686" y="3465901"/>
            <a:ext cx="3285002" cy="571445"/>
            <a:chOff x="3171985" y="3291116"/>
            <a:chExt cx="3285002" cy="571445"/>
          </a:xfrm>
        </p:grpSpPr>
        <p:cxnSp>
          <p:nvCxnSpPr>
            <p:cNvPr id="60" name="Straight Arrow Connector 59">
              <a:extLst>
                <a:ext uri="{FF2B5EF4-FFF2-40B4-BE49-F238E27FC236}">
                  <a16:creationId xmlns:a16="http://schemas.microsoft.com/office/drawing/2014/main" id="{878AAD4D-8555-FBCE-25E0-87EB7533FE23}"/>
                </a:ext>
              </a:extLst>
            </p:cNvPr>
            <p:cNvCxnSpPr/>
            <p:nvPr/>
          </p:nvCxnSpPr>
          <p:spPr>
            <a:xfrm>
              <a:off x="3254859" y="3862561"/>
              <a:ext cx="3119255" cy="0"/>
            </a:xfrm>
            <a:prstGeom prst="straightConnector1">
              <a:avLst/>
            </a:prstGeom>
            <a:ln w="508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1" name="TextBox 60">
                  <a:extLst>
                    <a:ext uri="{FF2B5EF4-FFF2-40B4-BE49-F238E27FC236}">
                      <a16:creationId xmlns:a16="http://schemas.microsoft.com/office/drawing/2014/main" id="{47655025-701C-2785-CB5E-4E0A832745F8}"/>
                    </a:ext>
                  </a:extLst>
                </p:cNvPr>
                <p:cNvSpPr txBox="1"/>
                <p:nvPr/>
              </p:nvSpPr>
              <p:spPr>
                <a:xfrm>
                  <a:off x="3171985" y="3291116"/>
                  <a:ext cx="3285002" cy="5579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𝑛𝑛</m:t>
                            </m:r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=2 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 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𝐹𝑇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{ </m:t>
                        </m:r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𝑛𝑛</m:t>
                            </m:r>
                          </m:sub>
                        </m:sSub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}</m:t>
                        </m:r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61" name="TextBox 60">
                  <a:extLst>
                    <a:ext uri="{FF2B5EF4-FFF2-40B4-BE49-F238E27FC236}">
                      <a16:creationId xmlns:a16="http://schemas.microsoft.com/office/drawing/2014/main" id="{47655025-701C-2785-CB5E-4E0A832745F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71985" y="3291116"/>
                  <a:ext cx="3285002" cy="557910"/>
                </a:xfrm>
                <a:prstGeom prst="rect">
                  <a:avLst/>
                </a:prstGeom>
                <a:blipFill>
                  <a:blip r:embed="rId9"/>
                  <a:stretch>
                    <a:fillRect r="-769" b="-1590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1265D4BD-6B57-7E62-5AE6-AD4F2C5927C7}"/>
              </a:ext>
            </a:extLst>
          </p:cNvPr>
          <p:cNvSpPr txBox="1"/>
          <p:nvPr/>
        </p:nvSpPr>
        <p:spPr>
          <a:xfrm>
            <a:off x="5330919" y="1332250"/>
            <a:ext cx="614149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A.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Use autocovariance to gain intuition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58951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40845B-07FB-2865-8DB7-5851BCC1F5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E51B77-DBA0-2BE2-EE60-E9AE4310D2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Autocovariance (spike train)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1F3C20-834A-46A8-D709-A292604C1D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6871" y="1325563"/>
            <a:ext cx="10515600" cy="498475"/>
          </a:xfrm>
        </p:spPr>
        <p:txBody>
          <a:bodyPr/>
          <a:lstStyle/>
          <a:p>
            <a:r>
              <a:rPr lang="en-US" b="1" dirty="0"/>
              <a:t>Ex. </a:t>
            </a:r>
            <a:r>
              <a:rPr lang="en-US" dirty="0"/>
              <a:t>Random spiking at a fixed rate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7B5D811-E1A7-BCA8-E8F6-3EAB0C752DC3}"/>
              </a:ext>
            </a:extLst>
          </p:cNvPr>
          <p:cNvSpPr txBox="1"/>
          <p:nvPr/>
        </p:nvSpPr>
        <p:spPr>
          <a:xfrm>
            <a:off x="286871" y="2389516"/>
            <a:ext cx="461316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prstClr val="black"/>
                </a:solidFill>
                <a:sym typeface="Wingdings" pitchFamily="2" charset="2"/>
              </a:rPr>
              <a:t>Q. </a:t>
            </a:r>
            <a:r>
              <a:rPr lang="en-US" sz="2800" dirty="0">
                <a:solidFill>
                  <a:prstClr val="black"/>
                </a:solidFill>
                <a:sym typeface="Wingdings" pitchFamily="2" charset="2"/>
              </a:rPr>
              <a:t>What is the </a:t>
            </a:r>
            <a:r>
              <a:rPr lang="en-US" sz="2800" u="sng" dirty="0">
                <a:solidFill>
                  <a:prstClr val="black"/>
                </a:solidFill>
                <a:sym typeface="Wingdings" pitchFamily="2" charset="2"/>
              </a:rPr>
              <a:t>spectrum</a:t>
            </a:r>
            <a:r>
              <a:rPr lang="en-US" sz="2800" dirty="0">
                <a:solidFill>
                  <a:prstClr val="black"/>
                </a:solidFill>
                <a:sym typeface="Wingdings" pitchFamily="2" charset="2"/>
              </a:rPr>
              <a:t>?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A2D7752-DAE4-7279-42AD-B4EA6F236B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153" y="3149601"/>
            <a:ext cx="11689976" cy="264536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68A440D-B770-26D9-E565-8FDED1E27DCF}"/>
              </a:ext>
            </a:extLst>
          </p:cNvPr>
          <p:cNvSpPr txBox="1"/>
          <p:nvPr/>
        </p:nvSpPr>
        <p:spPr>
          <a:xfrm>
            <a:off x="286870" y="1845167"/>
            <a:ext cx="660266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prstClr val="black"/>
                </a:solidFill>
                <a:sym typeface="Wingdings" pitchFamily="2" charset="2"/>
              </a:rPr>
              <a:t>Q. </a:t>
            </a:r>
            <a:r>
              <a:rPr lang="en-US" sz="2800" dirty="0">
                <a:solidFill>
                  <a:prstClr val="black"/>
                </a:solidFill>
                <a:sym typeface="Wingdings" pitchFamily="2" charset="2"/>
              </a:rPr>
              <a:t>What is the </a:t>
            </a:r>
            <a:r>
              <a:rPr lang="en-US" sz="2800" u="sng" dirty="0">
                <a:solidFill>
                  <a:prstClr val="black"/>
                </a:solidFill>
                <a:sym typeface="Wingdings" pitchFamily="2" charset="2"/>
              </a:rPr>
              <a:t>autocovariance</a:t>
            </a:r>
            <a:r>
              <a:rPr lang="en-US" sz="2800" dirty="0">
                <a:solidFill>
                  <a:prstClr val="black"/>
                </a:solidFill>
                <a:sym typeface="Wingdings" pitchFamily="2" charset="2"/>
              </a:rPr>
              <a:t>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692506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9C650C-0306-2791-6AFA-38A49648FE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184EFF-6F33-3F58-9AB8-B170B5A5DA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Autocovariance (spike train)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B41496-8E61-DE09-9392-83DBBDD9E8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6871" y="1325563"/>
            <a:ext cx="10515600" cy="498475"/>
          </a:xfrm>
        </p:spPr>
        <p:txBody>
          <a:bodyPr/>
          <a:lstStyle/>
          <a:p>
            <a:r>
              <a:rPr lang="en-US" b="1" dirty="0"/>
              <a:t>Ex. </a:t>
            </a:r>
            <a:r>
              <a:rPr lang="en-US" dirty="0"/>
              <a:t>Random spiking </a:t>
            </a:r>
            <a:r>
              <a:rPr lang="en-US" b="1" u="sng" dirty="0"/>
              <a:t>with refractory period</a:t>
            </a:r>
            <a:r>
              <a:rPr lang="en-US" dirty="0"/>
              <a:t>.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9BB40A97-0B2F-2025-3D37-7509B74B44B0}"/>
              </a:ext>
            </a:extLst>
          </p:cNvPr>
          <p:cNvGrpSpPr/>
          <p:nvPr/>
        </p:nvGrpSpPr>
        <p:grpSpPr>
          <a:xfrm>
            <a:off x="1194619" y="2121005"/>
            <a:ext cx="10234866" cy="530121"/>
            <a:chOff x="1194619" y="1815589"/>
            <a:chExt cx="10234866" cy="530121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9D6162A6-B15B-5F6A-BEFC-39EF2149EA7A}"/>
                </a:ext>
              </a:extLst>
            </p:cNvPr>
            <p:cNvGrpSpPr/>
            <p:nvPr/>
          </p:nvGrpSpPr>
          <p:grpSpPr>
            <a:xfrm>
              <a:off x="1194619" y="1824038"/>
              <a:ext cx="3751007" cy="521672"/>
              <a:chOff x="3908323" y="1840527"/>
              <a:chExt cx="3751007" cy="521672"/>
            </a:xfrm>
          </p:grpSpPr>
          <p:cxnSp>
            <p:nvCxnSpPr>
              <p:cNvPr id="5" name="Straight Connector 4">
                <a:extLst>
                  <a:ext uri="{FF2B5EF4-FFF2-40B4-BE49-F238E27FC236}">
                    <a16:creationId xmlns:a16="http://schemas.microsoft.com/office/drawing/2014/main" id="{CC45A22D-2F01-562D-4516-0832A749F57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08323" y="1840527"/>
                <a:ext cx="0" cy="521672"/>
              </a:xfrm>
              <a:prstGeom prst="line">
                <a:avLst/>
              </a:prstGeom>
              <a:ln w="508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" name="Straight Connector 6">
                <a:extLst>
                  <a:ext uri="{FF2B5EF4-FFF2-40B4-BE49-F238E27FC236}">
                    <a16:creationId xmlns:a16="http://schemas.microsoft.com/office/drawing/2014/main" id="{6013BCA5-1A71-04B3-D903-74485138492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100917" y="1840527"/>
                <a:ext cx="0" cy="521672"/>
              </a:xfrm>
              <a:prstGeom prst="line">
                <a:avLst/>
              </a:prstGeom>
              <a:ln w="508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" name="Straight Connector 7">
                <a:extLst>
                  <a:ext uri="{FF2B5EF4-FFF2-40B4-BE49-F238E27FC236}">
                    <a16:creationId xmlns:a16="http://schemas.microsoft.com/office/drawing/2014/main" id="{6A1E508A-94AB-B145-742C-16E76EC21AF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805069" y="1840527"/>
                <a:ext cx="0" cy="521672"/>
              </a:xfrm>
              <a:prstGeom prst="line">
                <a:avLst/>
              </a:prstGeom>
              <a:ln w="508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Straight Connector 8">
                <a:extLst>
                  <a:ext uri="{FF2B5EF4-FFF2-40B4-BE49-F238E27FC236}">
                    <a16:creationId xmlns:a16="http://schemas.microsoft.com/office/drawing/2014/main" id="{82B78B1D-AC63-05DD-2934-44F9C48D04E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659330" y="1840527"/>
                <a:ext cx="0" cy="521672"/>
              </a:xfrm>
              <a:prstGeom prst="line">
                <a:avLst/>
              </a:prstGeom>
              <a:ln w="508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843961CC-B70B-758F-1294-C38C1AF195D7}"/>
                </a:ext>
              </a:extLst>
            </p:cNvPr>
            <p:cNvGrpSpPr/>
            <p:nvPr/>
          </p:nvGrpSpPr>
          <p:grpSpPr>
            <a:xfrm>
              <a:off x="6243485" y="1815589"/>
              <a:ext cx="5186000" cy="530121"/>
              <a:chOff x="3908323" y="1840527"/>
              <a:chExt cx="5186000" cy="530121"/>
            </a:xfrm>
          </p:grpSpPr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CC92F0FF-3A70-160E-10E0-C2FEE569802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08323" y="1840527"/>
                <a:ext cx="0" cy="521672"/>
              </a:xfrm>
              <a:prstGeom prst="line">
                <a:avLst/>
              </a:prstGeom>
              <a:ln w="508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0EB8F7CB-2370-3933-EE7D-AC473EAAC23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916130" y="1840527"/>
                <a:ext cx="0" cy="521672"/>
              </a:xfrm>
              <a:prstGeom prst="line">
                <a:avLst/>
              </a:prstGeom>
              <a:ln w="508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EF9911A6-A917-7FD8-DBD2-09C63165B4E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659330" y="1840527"/>
                <a:ext cx="0" cy="521672"/>
              </a:xfrm>
              <a:prstGeom prst="line">
                <a:avLst/>
              </a:prstGeom>
              <a:ln w="508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9D074E49-9D4C-F746-29E0-18052427A91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094323" y="1848976"/>
                <a:ext cx="0" cy="521672"/>
              </a:xfrm>
              <a:prstGeom prst="line">
                <a:avLst/>
              </a:prstGeom>
              <a:ln w="508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C64CDD2E-ADE4-F39D-9646-FAB12A02A451}"/>
                  </a:ext>
                </a:extLst>
              </p:cNvPr>
              <p:cNvSpPr txBox="1"/>
              <p:nvPr/>
            </p:nvSpPr>
            <p:spPr>
              <a:xfrm>
                <a:off x="286871" y="4842090"/>
                <a:ext cx="6053837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b="1" dirty="0"/>
                  <a:t>Q. </a:t>
                </a:r>
                <a:r>
                  <a:rPr lang="en-US" sz="2800" dirty="0"/>
                  <a:t>What is the autocovariance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𝑟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𝑛𝑛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  <a:sym typeface="Wingdings" pitchFamily="2" charset="2"/>
                      </a:rPr>
                      <m:t>[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itchFamily="2" charset="2"/>
                      </a:rPr>
                      <m:t>𝜏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itchFamily="2" charset="2"/>
                      </a:rPr>
                      <m:t>]</m:t>
                    </m:r>
                  </m:oMath>
                </a14:m>
                <a:r>
                  <a:rPr lang="en-US" sz="2800" dirty="0"/>
                  <a:t>? </a:t>
                </a: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C64CDD2E-ADE4-F39D-9646-FAB12A02A4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6871" y="4842090"/>
                <a:ext cx="6053837" cy="523220"/>
              </a:xfrm>
              <a:prstGeom prst="rect">
                <a:avLst/>
              </a:prstGeom>
              <a:blipFill>
                <a:blip r:embed="rId2"/>
                <a:stretch>
                  <a:fillRect l="-2092" t="-11905" r="-1046"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197CE4CB-7637-C404-B0F9-D943E4CDB9CD}"/>
                  </a:ext>
                </a:extLst>
              </p:cNvPr>
              <p:cNvSpPr txBox="1"/>
              <p:nvPr/>
            </p:nvSpPr>
            <p:spPr>
              <a:xfrm>
                <a:off x="283148" y="5436300"/>
                <a:ext cx="4391780" cy="5579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b="1" dirty="0"/>
                  <a:t>Q. </a:t>
                </a:r>
                <a:r>
                  <a:rPr lang="en-US" sz="2800" dirty="0"/>
                  <a:t>What is spectrum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𝑛𝑛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2800" dirty="0"/>
                  <a:t> ?</a:t>
                </a:r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197CE4CB-7637-C404-B0F9-D943E4CDB9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3148" y="5436300"/>
                <a:ext cx="4391780" cy="557910"/>
              </a:xfrm>
              <a:prstGeom prst="rect">
                <a:avLst/>
              </a:prstGeom>
              <a:blipFill>
                <a:blip r:embed="rId3"/>
                <a:stretch>
                  <a:fillRect l="-2882" t="-11364" r="-1729" b="-272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Group 5">
            <a:extLst>
              <a:ext uri="{FF2B5EF4-FFF2-40B4-BE49-F238E27FC236}">
                <a16:creationId xmlns:a16="http://schemas.microsoft.com/office/drawing/2014/main" id="{A151DB91-F66B-3353-D34A-6DF93FEE47ED}"/>
              </a:ext>
            </a:extLst>
          </p:cNvPr>
          <p:cNvGrpSpPr/>
          <p:nvPr/>
        </p:nvGrpSpPr>
        <p:grpSpPr>
          <a:xfrm>
            <a:off x="1194619" y="2162946"/>
            <a:ext cx="10805252" cy="488180"/>
            <a:chOff x="1194619" y="2162946"/>
            <a:chExt cx="10805252" cy="488180"/>
          </a:xfrm>
        </p:grpSpPr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5586A875-7463-FE26-7A04-672894076C59}"/>
                </a:ext>
              </a:extLst>
            </p:cNvPr>
            <p:cNvCxnSpPr/>
            <p:nvPr/>
          </p:nvCxnSpPr>
          <p:spPr>
            <a:xfrm>
              <a:off x="1194619" y="2642677"/>
              <a:ext cx="570386" cy="0"/>
            </a:xfrm>
            <a:prstGeom prst="line">
              <a:avLst/>
            </a:prstGeom>
            <a:ln w="50800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7C68B5D2-8BA2-C291-4A68-F93F0FB87FE6}"/>
                </a:ext>
              </a:extLst>
            </p:cNvPr>
            <p:cNvSpPr txBox="1"/>
            <p:nvPr/>
          </p:nvSpPr>
          <p:spPr>
            <a:xfrm>
              <a:off x="1312043" y="2162946"/>
              <a:ext cx="194405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FF0000"/>
                  </a:solidFill>
                </a:rPr>
                <a:t>refractory period</a:t>
              </a:r>
            </a:p>
          </p:txBody>
        </p: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9C61C72E-7192-7C33-5777-3B11965601D3}"/>
                </a:ext>
              </a:extLst>
            </p:cNvPr>
            <p:cNvCxnSpPr/>
            <p:nvPr/>
          </p:nvCxnSpPr>
          <p:spPr>
            <a:xfrm>
              <a:off x="3387213" y="2651126"/>
              <a:ext cx="570386" cy="0"/>
            </a:xfrm>
            <a:prstGeom prst="line">
              <a:avLst/>
            </a:prstGeom>
            <a:ln w="50800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5DA8354F-297D-F6B4-C6D0-A2DC855D7B6E}"/>
                </a:ext>
              </a:extLst>
            </p:cNvPr>
            <p:cNvCxnSpPr/>
            <p:nvPr/>
          </p:nvCxnSpPr>
          <p:spPr>
            <a:xfrm>
              <a:off x="4091365" y="2651126"/>
              <a:ext cx="570386" cy="0"/>
            </a:xfrm>
            <a:prstGeom prst="line">
              <a:avLst/>
            </a:prstGeom>
            <a:ln w="50800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DB937FE6-C345-23F3-AB25-73425CF690DA}"/>
                </a:ext>
              </a:extLst>
            </p:cNvPr>
            <p:cNvCxnSpPr/>
            <p:nvPr/>
          </p:nvCxnSpPr>
          <p:spPr>
            <a:xfrm>
              <a:off x="4945626" y="2651126"/>
              <a:ext cx="570386" cy="0"/>
            </a:xfrm>
            <a:prstGeom prst="line">
              <a:avLst/>
            </a:prstGeom>
            <a:ln w="50800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7455B4CD-69C2-0C91-8529-8512AD8E4C94}"/>
                </a:ext>
              </a:extLst>
            </p:cNvPr>
            <p:cNvCxnSpPr/>
            <p:nvPr/>
          </p:nvCxnSpPr>
          <p:spPr>
            <a:xfrm>
              <a:off x="6243485" y="2642677"/>
              <a:ext cx="570386" cy="0"/>
            </a:xfrm>
            <a:prstGeom prst="line">
              <a:avLst/>
            </a:prstGeom>
            <a:ln w="50800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2E0FB501-CB3F-99FA-D8EE-EC4EEAEF46EB}"/>
                </a:ext>
              </a:extLst>
            </p:cNvPr>
            <p:cNvCxnSpPr/>
            <p:nvPr/>
          </p:nvCxnSpPr>
          <p:spPr>
            <a:xfrm>
              <a:off x="7251292" y="2642677"/>
              <a:ext cx="570386" cy="0"/>
            </a:xfrm>
            <a:prstGeom prst="line">
              <a:avLst/>
            </a:prstGeom>
            <a:ln w="50800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D5FB4650-A4C0-E9AE-B46E-F3DF747DC7CE}"/>
                </a:ext>
              </a:extLst>
            </p:cNvPr>
            <p:cNvCxnSpPr/>
            <p:nvPr/>
          </p:nvCxnSpPr>
          <p:spPr>
            <a:xfrm>
              <a:off x="9994492" y="2651126"/>
              <a:ext cx="570386" cy="0"/>
            </a:xfrm>
            <a:prstGeom prst="line">
              <a:avLst/>
            </a:prstGeom>
            <a:ln w="50800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73631E66-8B7A-BE4E-0249-07009EFBEC69}"/>
                </a:ext>
              </a:extLst>
            </p:cNvPr>
            <p:cNvCxnSpPr/>
            <p:nvPr/>
          </p:nvCxnSpPr>
          <p:spPr>
            <a:xfrm>
              <a:off x="11429485" y="2639941"/>
              <a:ext cx="570386" cy="0"/>
            </a:xfrm>
            <a:prstGeom prst="line">
              <a:avLst/>
            </a:prstGeom>
            <a:ln w="50800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3A945DFB-C6ED-5E1B-DFBC-E18E48F39384}"/>
              </a:ext>
            </a:extLst>
          </p:cNvPr>
          <p:cNvGrpSpPr/>
          <p:nvPr/>
        </p:nvGrpSpPr>
        <p:grpSpPr>
          <a:xfrm>
            <a:off x="1108356" y="2744627"/>
            <a:ext cx="10545097" cy="766683"/>
            <a:chOff x="1194619" y="4563550"/>
            <a:chExt cx="10545097" cy="76668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DBE803C5-63F8-4E77-2372-FB65A856224B}"/>
                    </a:ext>
                  </a:extLst>
                </p:cNvPr>
                <p:cNvSpPr txBox="1"/>
                <p:nvPr/>
              </p:nvSpPr>
              <p:spPr>
                <a:xfrm>
                  <a:off x="7653693" y="4807013"/>
                  <a:ext cx="3747373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800" dirty="0"/>
                    <a:t>N samples, time step </a:t>
                  </a:r>
                  <a14:m>
                    <m:oMath xmlns:m="http://schemas.openxmlformats.org/officeDocument/2006/math">
                      <m:r>
                        <a:rPr lang="en-US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</m:oMath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DBE803C5-63F8-4E77-2372-FB65A856224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53693" y="4807013"/>
                  <a:ext cx="3747373" cy="523220"/>
                </a:xfrm>
                <a:prstGeom prst="rect">
                  <a:avLst/>
                </a:prstGeom>
                <a:blipFill>
                  <a:blip r:embed="rId4"/>
                  <a:stretch>
                    <a:fillRect l="-3378" t="-14286" b="-3095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6FCDBDC1-FEAA-98F6-8D96-477E66A93E46}"/>
                </a:ext>
              </a:extLst>
            </p:cNvPr>
            <p:cNvGrpSpPr/>
            <p:nvPr/>
          </p:nvGrpSpPr>
          <p:grpSpPr>
            <a:xfrm>
              <a:off x="1194619" y="4563550"/>
              <a:ext cx="10545097" cy="124649"/>
              <a:chOff x="1194619" y="4563550"/>
              <a:chExt cx="10545097" cy="124649"/>
            </a:xfrm>
          </p:grpSpPr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FAE2E3AC-0DB9-47DE-5B14-26890D0BF9EA}"/>
                  </a:ext>
                </a:extLst>
              </p:cNvPr>
              <p:cNvCxnSpPr/>
              <p:nvPr/>
            </p:nvCxnSpPr>
            <p:spPr>
              <a:xfrm>
                <a:off x="1194619" y="4688199"/>
                <a:ext cx="10545097" cy="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9" name="Group 18">
                <a:extLst>
                  <a:ext uri="{FF2B5EF4-FFF2-40B4-BE49-F238E27FC236}">
                    <a16:creationId xmlns:a16="http://schemas.microsoft.com/office/drawing/2014/main" id="{E1C1C2B9-6F00-8ACD-F6BB-320A3D1F2057}"/>
                  </a:ext>
                </a:extLst>
              </p:cNvPr>
              <p:cNvGrpSpPr/>
              <p:nvPr/>
            </p:nvGrpSpPr>
            <p:grpSpPr>
              <a:xfrm>
                <a:off x="1194619" y="4571999"/>
                <a:ext cx="4215616" cy="116200"/>
                <a:chOff x="1194619" y="4571999"/>
                <a:chExt cx="4215616" cy="116200"/>
              </a:xfrm>
            </p:grpSpPr>
            <p:cxnSp>
              <p:nvCxnSpPr>
                <p:cNvPr id="85" name="Straight Connector 84">
                  <a:extLst>
                    <a:ext uri="{FF2B5EF4-FFF2-40B4-BE49-F238E27FC236}">
                      <a16:creationId xmlns:a16="http://schemas.microsoft.com/office/drawing/2014/main" id="{4A8675CD-9009-A266-8D45-92094BC6CEF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194619" y="4572000"/>
                  <a:ext cx="0" cy="116199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6" name="Straight Connector 85">
                  <a:extLst>
                    <a:ext uri="{FF2B5EF4-FFF2-40B4-BE49-F238E27FC236}">
                      <a16:creationId xmlns:a16="http://schemas.microsoft.com/office/drawing/2014/main" id="{745C77E7-E2E7-9A1E-D099-4CE6B0974FB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330607" y="4572000"/>
                  <a:ext cx="0" cy="116199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7" name="Straight Connector 86">
                  <a:extLst>
                    <a:ext uri="{FF2B5EF4-FFF2-40B4-BE49-F238E27FC236}">
                      <a16:creationId xmlns:a16="http://schemas.microsoft.com/office/drawing/2014/main" id="{2D85F5DC-BF79-261F-9C02-85054FE0171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466595" y="4572000"/>
                  <a:ext cx="0" cy="116199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8" name="Straight Connector 87">
                  <a:extLst>
                    <a:ext uri="{FF2B5EF4-FFF2-40B4-BE49-F238E27FC236}">
                      <a16:creationId xmlns:a16="http://schemas.microsoft.com/office/drawing/2014/main" id="{210CC422-FA84-02BB-6D1B-6D45888C0B8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602583" y="4572000"/>
                  <a:ext cx="0" cy="116199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9" name="Straight Connector 88">
                  <a:extLst>
                    <a:ext uri="{FF2B5EF4-FFF2-40B4-BE49-F238E27FC236}">
                      <a16:creationId xmlns:a16="http://schemas.microsoft.com/office/drawing/2014/main" id="{06616F3A-91BF-8253-48D0-D4132478448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738571" y="4572000"/>
                  <a:ext cx="0" cy="116199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0" name="Straight Connector 89">
                  <a:extLst>
                    <a:ext uri="{FF2B5EF4-FFF2-40B4-BE49-F238E27FC236}">
                      <a16:creationId xmlns:a16="http://schemas.microsoft.com/office/drawing/2014/main" id="{F878B597-01DC-F8C1-C275-018F7CC7BB7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874559" y="4572000"/>
                  <a:ext cx="0" cy="116199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1" name="Straight Connector 90">
                  <a:extLst>
                    <a:ext uri="{FF2B5EF4-FFF2-40B4-BE49-F238E27FC236}">
                      <a16:creationId xmlns:a16="http://schemas.microsoft.com/office/drawing/2014/main" id="{6B3B3A4D-E159-2BB8-1909-E87A4B74DF4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010547" y="4572000"/>
                  <a:ext cx="0" cy="116199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2" name="Straight Connector 91">
                  <a:extLst>
                    <a:ext uri="{FF2B5EF4-FFF2-40B4-BE49-F238E27FC236}">
                      <a16:creationId xmlns:a16="http://schemas.microsoft.com/office/drawing/2014/main" id="{3323DB02-49EF-3EB8-EDBD-9EF5457500B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146535" y="4572000"/>
                  <a:ext cx="0" cy="116199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3" name="Straight Connector 92">
                  <a:extLst>
                    <a:ext uri="{FF2B5EF4-FFF2-40B4-BE49-F238E27FC236}">
                      <a16:creationId xmlns:a16="http://schemas.microsoft.com/office/drawing/2014/main" id="{13CB648C-18BE-1800-E144-92042984766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282523" y="4572000"/>
                  <a:ext cx="0" cy="116199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4" name="Straight Connector 93">
                  <a:extLst>
                    <a:ext uri="{FF2B5EF4-FFF2-40B4-BE49-F238E27FC236}">
                      <a16:creationId xmlns:a16="http://schemas.microsoft.com/office/drawing/2014/main" id="{B0460D14-F093-2983-A7E7-CE1F24A71BB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418511" y="4572000"/>
                  <a:ext cx="0" cy="116199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5" name="Straight Connector 94">
                  <a:extLst>
                    <a:ext uri="{FF2B5EF4-FFF2-40B4-BE49-F238E27FC236}">
                      <a16:creationId xmlns:a16="http://schemas.microsoft.com/office/drawing/2014/main" id="{257B8266-1CF0-9BFE-C1CC-E4EEE0B321D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554499" y="4572000"/>
                  <a:ext cx="0" cy="116199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6" name="Straight Connector 95">
                  <a:extLst>
                    <a:ext uri="{FF2B5EF4-FFF2-40B4-BE49-F238E27FC236}">
                      <a16:creationId xmlns:a16="http://schemas.microsoft.com/office/drawing/2014/main" id="{DABE0B12-B794-B5B3-83C9-A098E134681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690487" y="4572000"/>
                  <a:ext cx="0" cy="116199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7" name="Straight Connector 96">
                  <a:extLst>
                    <a:ext uri="{FF2B5EF4-FFF2-40B4-BE49-F238E27FC236}">
                      <a16:creationId xmlns:a16="http://schemas.microsoft.com/office/drawing/2014/main" id="{755520D2-EB0E-3398-1545-1FA6C889D50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826475" y="4572000"/>
                  <a:ext cx="0" cy="116199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8" name="Straight Connector 97">
                  <a:extLst>
                    <a:ext uri="{FF2B5EF4-FFF2-40B4-BE49-F238E27FC236}">
                      <a16:creationId xmlns:a16="http://schemas.microsoft.com/office/drawing/2014/main" id="{E9CDE6B4-D92E-71AA-64B5-160058CD755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962463" y="4572000"/>
                  <a:ext cx="0" cy="116199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9" name="Straight Connector 98">
                  <a:extLst>
                    <a:ext uri="{FF2B5EF4-FFF2-40B4-BE49-F238E27FC236}">
                      <a16:creationId xmlns:a16="http://schemas.microsoft.com/office/drawing/2014/main" id="{81DEF81C-49EE-EC5C-5A6D-DAE664EEDDE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098451" y="4572000"/>
                  <a:ext cx="0" cy="116199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0" name="Straight Connector 99">
                  <a:extLst>
                    <a:ext uri="{FF2B5EF4-FFF2-40B4-BE49-F238E27FC236}">
                      <a16:creationId xmlns:a16="http://schemas.microsoft.com/office/drawing/2014/main" id="{D21CC8AC-F930-F683-FDDC-524A5B55620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234435" y="4572000"/>
                  <a:ext cx="0" cy="116199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101" name="Group 100">
                  <a:extLst>
                    <a:ext uri="{FF2B5EF4-FFF2-40B4-BE49-F238E27FC236}">
                      <a16:creationId xmlns:a16="http://schemas.microsoft.com/office/drawing/2014/main" id="{FE91A307-896E-268F-8BCB-04E740C00FCF}"/>
                    </a:ext>
                  </a:extLst>
                </p:cNvPr>
                <p:cNvGrpSpPr/>
                <p:nvPr/>
              </p:nvGrpSpPr>
              <p:grpSpPr>
                <a:xfrm>
                  <a:off x="3370419" y="4571999"/>
                  <a:ext cx="2039816" cy="116199"/>
                  <a:chOff x="1347019" y="4724400"/>
                  <a:chExt cx="2039816" cy="116199"/>
                </a:xfrm>
              </p:grpSpPr>
              <p:cxnSp>
                <p:nvCxnSpPr>
                  <p:cNvPr id="102" name="Straight Connector 101">
                    <a:extLst>
                      <a:ext uri="{FF2B5EF4-FFF2-40B4-BE49-F238E27FC236}">
                        <a16:creationId xmlns:a16="http://schemas.microsoft.com/office/drawing/2014/main" id="{533CFF4E-A072-B30F-7181-9626A69E04D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347019" y="4724400"/>
                    <a:ext cx="0" cy="116199"/>
                  </a:xfrm>
                  <a:prstGeom prst="line">
                    <a:avLst/>
                  </a:prstGeom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3" name="Straight Connector 102">
                    <a:extLst>
                      <a:ext uri="{FF2B5EF4-FFF2-40B4-BE49-F238E27FC236}">
                        <a16:creationId xmlns:a16="http://schemas.microsoft.com/office/drawing/2014/main" id="{66747C80-A750-5BD5-0278-C5FFAD5A598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483007" y="4724400"/>
                    <a:ext cx="0" cy="116199"/>
                  </a:xfrm>
                  <a:prstGeom prst="line">
                    <a:avLst/>
                  </a:prstGeom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4" name="Straight Connector 103">
                    <a:extLst>
                      <a:ext uri="{FF2B5EF4-FFF2-40B4-BE49-F238E27FC236}">
                        <a16:creationId xmlns:a16="http://schemas.microsoft.com/office/drawing/2014/main" id="{222E078D-53EC-CE92-1222-EEC6D5D12EA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618995" y="4724400"/>
                    <a:ext cx="0" cy="116199"/>
                  </a:xfrm>
                  <a:prstGeom prst="line">
                    <a:avLst/>
                  </a:prstGeom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5" name="Straight Connector 104">
                    <a:extLst>
                      <a:ext uri="{FF2B5EF4-FFF2-40B4-BE49-F238E27FC236}">
                        <a16:creationId xmlns:a16="http://schemas.microsoft.com/office/drawing/2014/main" id="{9BA82BC0-AC07-94B1-4313-6BCF897DA3D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754983" y="4724400"/>
                    <a:ext cx="0" cy="116199"/>
                  </a:xfrm>
                  <a:prstGeom prst="line">
                    <a:avLst/>
                  </a:prstGeom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6" name="Straight Connector 105">
                    <a:extLst>
                      <a:ext uri="{FF2B5EF4-FFF2-40B4-BE49-F238E27FC236}">
                        <a16:creationId xmlns:a16="http://schemas.microsoft.com/office/drawing/2014/main" id="{F303F3EA-9A5C-5ED3-0B8D-85ADA55AEE8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890971" y="4724400"/>
                    <a:ext cx="0" cy="116199"/>
                  </a:xfrm>
                  <a:prstGeom prst="line">
                    <a:avLst/>
                  </a:prstGeom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7" name="Straight Connector 106">
                    <a:extLst>
                      <a:ext uri="{FF2B5EF4-FFF2-40B4-BE49-F238E27FC236}">
                        <a16:creationId xmlns:a16="http://schemas.microsoft.com/office/drawing/2014/main" id="{DAC2BAB7-7FD4-0F91-2774-66866148DE5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026959" y="4724400"/>
                    <a:ext cx="0" cy="116199"/>
                  </a:xfrm>
                  <a:prstGeom prst="line">
                    <a:avLst/>
                  </a:prstGeom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8" name="Straight Connector 107">
                    <a:extLst>
                      <a:ext uri="{FF2B5EF4-FFF2-40B4-BE49-F238E27FC236}">
                        <a16:creationId xmlns:a16="http://schemas.microsoft.com/office/drawing/2014/main" id="{58A20FAC-F981-6CAA-5061-BF476BEF91B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162947" y="4724400"/>
                    <a:ext cx="0" cy="116199"/>
                  </a:xfrm>
                  <a:prstGeom prst="line">
                    <a:avLst/>
                  </a:prstGeom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9" name="Straight Connector 108">
                    <a:extLst>
                      <a:ext uri="{FF2B5EF4-FFF2-40B4-BE49-F238E27FC236}">
                        <a16:creationId xmlns:a16="http://schemas.microsoft.com/office/drawing/2014/main" id="{815E5CB3-F70F-0592-8BCA-3F833B086CA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298935" y="4724400"/>
                    <a:ext cx="0" cy="116199"/>
                  </a:xfrm>
                  <a:prstGeom prst="line">
                    <a:avLst/>
                  </a:prstGeom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0" name="Straight Connector 109">
                    <a:extLst>
                      <a:ext uri="{FF2B5EF4-FFF2-40B4-BE49-F238E27FC236}">
                        <a16:creationId xmlns:a16="http://schemas.microsoft.com/office/drawing/2014/main" id="{B1E5C684-262A-AEE8-6CE0-0B391A11276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434923" y="4724400"/>
                    <a:ext cx="0" cy="116199"/>
                  </a:xfrm>
                  <a:prstGeom prst="line">
                    <a:avLst/>
                  </a:prstGeom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1" name="Straight Connector 110">
                    <a:extLst>
                      <a:ext uri="{FF2B5EF4-FFF2-40B4-BE49-F238E27FC236}">
                        <a16:creationId xmlns:a16="http://schemas.microsoft.com/office/drawing/2014/main" id="{70AB2E83-EACE-8616-EF1D-759678D7020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570911" y="4724400"/>
                    <a:ext cx="0" cy="116199"/>
                  </a:xfrm>
                  <a:prstGeom prst="line">
                    <a:avLst/>
                  </a:prstGeom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2" name="Straight Connector 111">
                    <a:extLst>
                      <a:ext uri="{FF2B5EF4-FFF2-40B4-BE49-F238E27FC236}">
                        <a16:creationId xmlns:a16="http://schemas.microsoft.com/office/drawing/2014/main" id="{4EAD6107-FCB2-8111-8A68-93987C88D7C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706899" y="4724400"/>
                    <a:ext cx="0" cy="116199"/>
                  </a:xfrm>
                  <a:prstGeom prst="line">
                    <a:avLst/>
                  </a:prstGeom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3" name="Straight Connector 112">
                    <a:extLst>
                      <a:ext uri="{FF2B5EF4-FFF2-40B4-BE49-F238E27FC236}">
                        <a16:creationId xmlns:a16="http://schemas.microsoft.com/office/drawing/2014/main" id="{8FA7BAD2-FCE4-1703-C567-90EE89009AC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842887" y="4724400"/>
                    <a:ext cx="0" cy="116199"/>
                  </a:xfrm>
                  <a:prstGeom prst="line">
                    <a:avLst/>
                  </a:prstGeom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4" name="Straight Connector 113">
                    <a:extLst>
                      <a:ext uri="{FF2B5EF4-FFF2-40B4-BE49-F238E27FC236}">
                        <a16:creationId xmlns:a16="http://schemas.microsoft.com/office/drawing/2014/main" id="{AAE011E4-D491-30BD-691F-A08F362787D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978875" y="4724400"/>
                    <a:ext cx="0" cy="116199"/>
                  </a:xfrm>
                  <a:prstGeom prst="line">
                    <a:avLst/>
                  </a:prstGeom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5" name="Straight Connector 114">
                    <a:extLst>
                      <a:ext uri="{FF2B5EF4-FFF2-40B4-BE49-F238E27FC236}">
                        <a16:creationId xmlns:a16="http://schemas.microsoft.com/office/drawing/2014/main" id="{B4BA4085-F79A-67D8-6610-0D445A61500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114863" y="4724400"/>
                    <a:ext cx="0" cy="116199"/>
                  </a:xfrm>
                  <a:prstGeom prst="line">
                    <a:avLst/>
                  </a:prstGeom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6" name="Straight Connector 115">
                    <a:extLst>
                      <a:ext uri="{FF2B5EF4-FFF2-40B4-BE49-F238E27FC236}">
                        <a16:creationId xmlns:a16="http://schemas.microsoft.com/office/drawing/2014/main" id="{3A6B4ABC-475D-48B6-4C7A-AE3DFAAE603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250851" y="4724400"/>
                    <a:ext cx="0" cy="116199"/>
                  </a:xfrm>
                  <a:prstGeom prst="line">
                    <a:avLst/>
                  </a:prstGeom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7" name="Straight Connector 116">
                    <a:extLst>
                      <a:ext uri="{FF2B5EF4-FFF2-40B4-BE49-F238E27FC236}">
                        <a16:creationId xmlns:a16="http://schemas.microsoft.com/office/drawing/2014/main" id="{6C70D9B8-5DE7-7525-0E0F-4E1C528AD74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386835" y="4724400"/>
                    <a:ext cx="0" cy="116199"/>
                  </a:xfrm>
                  <a:prstGeom prst="line">
                    <a:avLst/>
                  </a:prstGeom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grpSp>
            <p:nvGrpSpPr>
              <p:cNvPr id="24" name="Group 23">
                <a:extLst>
                  <a:ext uri="{FF2B5EF4-FFF2-40B4-BE49-F238E27FC236}">
                    <a16:creationId xmlns:a16="http://schemas.microsoft.com/office/drawing/2014/main" id="{4B5E772F-8ADB-A774-B094-F47DD0C659A8}"/>
                  </a:ext>
                </a:extLst>
              </p:cNvPr>
              <p:cNvGrpSpPr/>
              <p:nvPr/>
            </p:nvGrpSpPr>
            <p:grpSpPr>
              <a:xfrm>
                <a:off x="5544671" y="4563550"/>
                <a:ext cx="4215616" cy="116200"/>
                <a:chOff x="1194619" y="4571999"/>
                <a:chExt cx="4215616" cy="116200"/>
              </a:xfrm>
            </p:grpSpPr>
            <p:cxnSp>
              <p:nvCxnSpPr>
                <p:cNvPr id="52" name="Straight Connector 51">
                  <a:extLst>
                    <a:ext uri="{FF2B5EF4-FFF2-40B4-BE49-F238E27FC236}">
                      <a16:creationId xmlns:a16="http://schemas.microsoft.com/office/drawing/2014/main" id="{4402D4F2-1118-8A28-B9C5-0749FF51487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194619" y="4572000"/>
                  <a:ext cx="0" cy="116199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3" name="Straight Connector 52">
                  <a:extLst>
                    <a:ext uri="{FF2B5EF4-FFF2-40B4-BE49-F238E27FC236}">
                      <a16:creationId xmlns:a16="http://schemas.microsoft.com/office/drawing/2014/main" id="{CB847939-A985-9ED9-A5DD-0CEEDC580F0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330607" y="4572000"/>
                  <a:ext cx="0" cy="116199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" name="Straight Connector 53">
                  <a:extLst>
                    <a:ext uri="{FF2B5EF4-FFF2-40B4-BE49-F238E27FC236}">
                      <a16:creationId xmlns:a16="http://schemas.microsoft.com/office/drawing/2014/main" id="{A0C68DDA-C788-0CE1-6851-FCC31DC4169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466595" y="4572000"/>
                  <a:ext cx="0" cy="116199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Straight Connector 54">
                  <a:extLst>
                    <a:ext uri="{FF2B5EF4-FFF2-40B4-BE49-F238E27FC236}">
                      <a16:creationId xmlns:a16="http://schemas.microsoft.com/office/drawing/2014/main" id="{CD604738-216B-230B-ADC6-6765C8955C8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602583" y="4572000"/>
                  <a:ext cx="0" cy="116199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Straight Connector 55">
                  <a:extLst>
                    <a:ext uri="{FF2B5EF4-FFF2-40B4-BE49-F238E27FC236}">
                      <a16:creationId xmlns:a16="http://schemas.microsoft.com/office/drawing/2014/main" id="{C6E07912-043E-99FD-E02F-5097342883E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738571" y="4572000"/>
                  <a:ext cx="0" cy="116199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Straight Connector 56">
                  <a:extLst>
                    <a:ext uri="{FF2B5EF4-FFF2-40B4-BE49-F238E27FC236}">
                      <a16:creationId xmlns:a16="http://schemas.microsoft.com/office/drawing/2014/main" id="{BFEA8D7B-E136-EB8F-B93F-F84DA6EAD6B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874559" y="4572000"/>
                  <a:ext cx="0" cy="116199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8" name="Straight Connector 57">
                  <a:extLst>
                    <a:ext uri="{FF2B5EF4-FFF2-40B4-BE49-F238E27FC236}">
                      <a16:creationId xmlns:a16="http://schemas.microsoft.com/office/drawing/2014/main" id="{49751281-883B-6F8E-3909-E8646855384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010547" y="4572000"/>
                  <a:ext cx="0" cy="116199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9" name="Straight Connector 58">
                  <a:extLst>
                    <a:ext uri="{FF2B5EF4-FFF2-40B4-BE49-F238E27FC236}">
                      <a16:creationId xmlns:a16="http://schemas.microsoft.com/office/drawing/2014/main" id="{6A115D29-5209-04F7-5A30-193A30655DC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146535" y="4572000"/>
                  <a:ext cx="0" cy="116199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0" name="Straight Connector 59">
                  <a:extLst>
                    <a:ext uri="{FF2B5EF4-FFF2-40B4-BE49-F238E27FC236}">
                      <a16:creationId xmlns:a16="http://schemas.microsoft.com/office/drawing/2014/main" id="{68DF95AD-3225-5283-CEFD-B51C5991E93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282523" y="4572000"/>
                  <a:ext cx="0" cy="116199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1" name="Straight Connector 60">
                  <a:extLst>
                    <a:ext uri="{FF2B5EF4-FFF2-40B4-BE49-F238E27FC236}">
                      <a16:creationId xmlns:a16="http://schemas.microsoft.com/office/drawing/2014/main" id="{300F3297-9361-04F5-52C2-39861781AFF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418511" y="4572000"/>
                  <a:ext cx="0" cy="116199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2" name="Straight Connector 61">
                  <a:extLst>
                    <a:ext uri="{FF2B5EF4-FFF2-40B4-BE49-F238E27FC236}">
                      <a16:creationId xmlns:a16="http://schemas.microsoft.com/office/drawing/2014/main" id="{7E60F6D7-939F-4C79-2834-4BBF84C586E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554499" y="4572000"/>
                  <a:ext cx="0" cy="116199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3" name="Straight Connector 62">
                  <a:extLst>
                    <a:ext uri="{FF2B5EF4-FFF2-40B4-BE49-F238E27FC236}">
                      <a16:creationId xmlns:a16="http://schemas.microsoft.com/office/drawing/2014/main" id="{FF01CC16-CF45-879A-56EC-1D57646E3F9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690487" y="4572000"/>
                  <a:ext cx="0" cy="116199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4" name="Straight Connector 63">
                  <a:extLst>
                    <a:ext uri="{FF2B5EF4-FFF2-40B4-BE49-F238E27FC236}">
                      <a16:creationId xmlns:a16="http://schemas.microsoft.com/office/drawing/2014/main" id="{A127B4E5-7137-D21F-BE57-4432AD39130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826475" y="4572000"/>
                  <a:ext cx="0" cy="116199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5" name="Straight Connector 64">
                  <a:extLst>
                    <a:ext uri="{FF2B5EF4-FFF2-40B4-BE49-F238E27FC236}">
                      <a16:creationId xmlns:a16="http://schemas.microsoft.com/office/drawing/2014/main" id="{66748FA3-6CFD-A443-1A82-E339F526FA8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962463" y="4572000"/>
                  <a:ext cx="0" cy="116199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6" name="Straight Connector 65">
                  <a:extLst>
                    <a:ext uri="{FF2B5EF4-FFF2-40B4-BE49-F238E27FC236}">
                      <a16:creationId xmlns:a16="http://schemas.microsoft.com/office/drawing/2014/main" id="{2887892E-DB34-051C-A956-046E84734BC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098451" y="4572000"/>
                  <a:ext cx="0" cy="116199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7" name="Straight Connector 66">
                  <a:extLst>
                    <a:ext uri="{FF2B5EF4-FFF2-40B4-BE49-F238E27FC236}">
                      <a16:creationId xmlns:a16="http://schemas.microsoft.com/office/drawing/2014/main" id="{BD947290-FAB4-F185-D29C-52FD33876E7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234435" y="4572000"/>
                  <a:ext cx="0" cy="116199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68" name="Group 67">
                  <a:extLst>
                    <a:ext uri="{FF2B5EF4-FFF2-40B4-BE49-F238E27FC236}">
                      <a16:creationId xmlns:a16="http://schemas.microsoft.com/office/drawing/2014/main" id="{49F530AC-26CA-D934-2622-117302BBD66F}"/>
                    </a:ext>
                  </a:extLst>
                </p:cNvPr>
                <p:cNvGrpSpPr/>
                <p:nvPr/>
              </p:nvGrpSpPr>
              <p:grpSpPr>
                <a:xfrm>
                  <a:off x="3370419" y="4571999"/>
                  <a:ext cx="2039816" cy="116199"/>
                  <a:chOff x="1347019" y="4724400"/>
                  <a:chExt cx="2039816" cy="116199"/>
                </a:xfrm>
              </p:grpSpPr>
              <p:cxnSp>
                <p:nvCxnSpPr>
                  <p:cNvPr id="69" name="Straight Connector 68">
                    <a:extLst>
                      <a:ext uri="{FF2B5EF4-FFF2-40B4-BE49-F238E27FC236}">
                        <a16:creationId xmlns:a16="http://schemas.microsoft.com/office/drawing/2014/main" id="{318711BB-F261-4966-866D-D4B1E93CB0B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347019" y="4724400"/>
                    <a:ext cx="0" cy="116199"/>
                  </a:xfrm>
                  <a:prstGeom prst="line">
                    <a:avLst/>
                  </a:prstGeom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0" name="Straight Connector 69">
                    <a:extLst>
                      <a:ext uri="{FF2B5EF4-FFF2-40B4-BE49-F238E27FC236}">
                        <a16:creationId xmlns:a16="http://schemas.microsoft.com/office/drawing/2014/main" id="{1728D97F-ED12-3CF6-1FF1-F52665B0A40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483007" y="4724400"/>
                    <a:ext cx="0" cy="116199"/>
                  </a:xfrm>
                  <a:prstGeom prst="line">
                    <a:avLst/>
                  </a:prstGeom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1" name="Straight Connector 70">
                    <a:extLst>
                      <a:ext uri="{FF2B5EF4-FFF2-40B4-BE49-F238E27FC236}">
                        <a16:creationId xmlns:a16="http://schemas.microsoft.com/office/drawing/2014/main" id="{EDCF548F-89F9-C1FE-A7FA-EA77A13D7D5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618995" y="4724400"/>
                    <a:ext cx="0" cy="116199"/>
                  </a:xfrm>
                  <a:prstGeom prst="line">
                    <a:avLst/>
                  </a:prstGeom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2" name="Straight Connector 71">
                    <a:extLst>
                      <a:ext uri="{FF2B5EF4-FFF2-40B4-BE49-F238E27FC236}">
                        <a16:creationId xmlns:a16="http://schemas.microsoft.com/office/drawing/2014/main" id="{165D166D-BEDD-499D-F5CD-180A1BF9A90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754983" y="4724400"/>
                    <a:ext cx="0" cy="116199"/>
                  </a:xfrm>
                  <a:prstGeom prst="line">
                    <a:avLst/>
                  </a:prstGeom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3" name="Straight Connector 72">
                    <a:extLst>
                      <a:ext uri="{FF2B5EF4-FFF2-40B4-BE49-F238E27FC236}">
                        <a16:creationId xmlns:a16="http://schemas.microsoft.com/office/drawing/2014/main" id="{3A23FE33-A296-85E3-F5A2-871843F031F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890971" y="4724400"/>
                    <a:ext cx="0" cy="116199"/>
                  </a:xfrm>
                  <a:prstGeom prst="line">
                    <a:avLst/>
                  </a:prstGeom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4" name="Straight Connector 73">
                    <a:extLst>
                      <a:ext uri="{FF2B5EF4-FFF2-40B4-BE49-F238E27FC236}">
                        <a16:creationId xmlns:a16="http://schemas.microsoft.com/office/drawing/2014/main" id="{F4BCB4FB-33F9-2968-CC83-F7C63011045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026959" y="4724400"/>
                    <a:ext cx="0" cy="116199"/>
                  </a:xfrm>
                  <a:prstGeom prst="line">
                    <a:avLst/>
                  </a:prstGeom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5" name="Straight Connector 74">
                    <a:extLst>
                      <a:ext uri="{FF2B5EF4-FFF2-40B4-BE49-F238E27FC236}">
                        <a16:creationId xmlns:a16="http://schemas.microsoft.com/office/drawing/2014/main" id="{058FDABF-3327-23EA-B338-0ED8F7CB074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162947" y="4724400"/>
                    <a:ext cx="0" cy="116199"/>
                  </a:xfrm>
                  <a:prstGeom prst="line">
                    <a:avLst/>
                  </a:prstGeom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6" name="Straight Connector 75">
                    <a:extLst>
                      <a:ext uri="{FF2B5EF4-FFF2-40B4-BE49-F238E27FC236}">
                        <a16:creationId xmlns:a16="http://schemas.microsoft.com/office/drawing/2014/main" id="{5FAA3D4D-68A4-2CF6-CB53-EE9B6EFE409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298935" y="4724400"/>
                    <a:ext cx="0" cy="116199"/>
                  </a:xfrm>
                  <a:prstGeom prst="line">
                    <a:avLst/>
                  </a:prstGeom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7" name="Straight Connector 76">
                    <a:extLst>
                      <a:ext uri="{FF2B5EF4-FFF2-40B4-BE49-F238E27FC236}">
                        <a16:creationId xmlns:a16="http://schemas.microsoft.com/office/drawing/2014/main" id="{62FD90C5-6784-95BE-D2A4-73590AACB7C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434923" y="4724400"/>
                    <a:ext cx="0" cy="116199"/>
                  </a:xfrm>
                  <a:prstGeom prst="line">
                    <a:avLst/>
                  </a:prstGeom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8" name="Straight Connector 77">
                    <a:extLst>
                      <a:ext uri="{FF2B5EF4-FFF2-40B4-BE49-F238E27FC236}">
                        <a16:creationId xmlns:a16="http://schemas.microsoft.com/office/drawing/2014/main" id="{6FD72ABD-7F27-D12C-E3EE-92FF3BCD738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570911" y="4724400"/>
                    <a:ext cx="0" cy="116199"/>
                  </a:xfrm>
                  <a:prstGeom prst="line">
                    <a:avLst/>
                  </a:prstGeom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9" name="Straight Connector 78">
                    <a:extLst>
                      <a:ext uri="{FF2B5EF4-FFF2-40B4-BE49-F238E27FC236}">
                        <a16:creationId xmlns:a16="http://schemas.microsoft.com/office/drawing/2014/main" id="{5505F2B7-A9FF-D3FE-73D0-602D8E79E79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706899" y="4724400"/>
                    <a:ext cx="0" cy="116199"/>
                  </a:xfrm>
                  <a:prstGeom prst="line">
                    <a:avLst/>
                  </a:prstGeom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0" name="Straight Connector 79">
                    <a:extLst>
                      <a:ext uri="{FF2B5EF4-FFF2-40B4-BE49-F238E27FC236}">
                        <a16:creationId xmlns:a16="http://schemas.microsoft.com/office/drawing/2014/main" id="{DFB69196-3174-35CE-532E-FEF1FE4C511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842887" y="4724400"/>
                    <a:ext cx="0" cy="116199"/>
                  </a:xfrm>
                  <a:prstGeom prst="line">
                    <a:avLst/>
                  </a:prstGeom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1" name="Straight Connector 80">
                    <a:extLst>
                      <a:ext uri="{FF2B5EF4-FFF2-40B4-BE49-F238E27FC236}">
                        <a16:creationId xmlns:a16="http://schemas.microsoft.com/office/drawing/2014/main" id="{989E34ED-8096-FB39-F49E-9E3E59EDE37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978875" y="4724400"/>
                    <a:ext cx="0" cy="116199"/>
                  </a:xfrm>
                  <a:prstGeom prst="line">
                    <a:avLst/>
                  </a:prstGeom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2" name="Straight Connector 81">
                    <a:extLst>
                      <a:ext uri="{FF2B5EF4-FFF2-40B4-BE49-F238E27FC236}">
                        <a16:creationId xmlns:a16="http://schemas.microsoft.com/office/drawing/2014/main" id="{E2E5EFAF-B8CA-079C-6829-F99755817A9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114863" y="4724400"/>
                    <a:ext cx="0" cy="116199"/>
                  </a:xfrm>
                  <a:prstGeom prst="line">
                    <a:avLst/>
                  </a:prstGeom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3" name="Straight Connector 82">
                    <a:extLst>
                      <a:ext uri="{FF2B5EF4-FFF2-40B4-BE49-F238E27FC236}">
                        <a16:creationId xmlns:a16="http://schemas.microsoft.com/office/drawing/2014/main" id="{3A8FC8CE-0BA6-39A4-643C-E26486E2F6F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250851" y="4724400"/>
                    <a:ext cx="0" cy="116199"/>
                  </a:xfrm>
                  <a:prstGeom prst="line">
                    <a:avLst/>
                  </a:prstGeom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4" name="Straight Connector 83">
                    <a:extLst>
                      <a:ext uri="{FF2B5EF4-FFF2-40B4-BE49-F238E27FC236}">
                        <a16:creationId xmlns:a16="http://schemas.microsoft.com/office/drawing/2014/main" id="{5396906B-1469-8E98-426D-C1993E91EDA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386835" y="4724400"/>
                    <a:ext cx="0" cy="116199"/>
                  </a:xfrm>
                  <a:prstGeom prst="line">
                    <a:avLst/>
                  </a:prstGeom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cxnSp>
            <p:nvCxnSpPr>
              <p:cNvPr id="27" name="Straight Connector 26">
                <a:extLst>
                  <a:ext uri="{FF2B5EF4-FFF2-40B4-BE49-F238E27FC236}">
                    <a16:creationId xmlns:a16="http://schemas.microsoft.com/office/drawing/2014/main" id="{3F29111D-AC03-3347-4338-9CFF673C664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905198" y="4563550"/>
                <a:ext cx="0" cy="116199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>
                <a:extLst>
                  <a:ext uri="{FF2B5EF4-FFF2-40B4-BE49-F238E27FC236}">
                    <a16:creationId xmlns:a16="http://schemas.microsoft.com/office/drawing/2014/main" id="{5BC17812-7C3E-7638-3B54-3B95C0C2685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041186" y="4563550"/>
                <a:ext cx="0" cy="116199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473EB3D8-1C17-8992-FBEC-676DF94914E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177174" y="4563550"/>
                <a:ext cx="0" cy="116199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Straight Connector 40">
                <a:extLst>
                  <a:ext uri="{FF2B5EF4-FFF2-40B4-BE49-F238E27FC236}">
                    <a16:creationId xmlns:a16="http://schemas.microsoft.com/office/drawing/2014/main" id="{C39C49D5-D0C3-6186-5036-DB887A10555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313162" y="4563550"/>
                <a:ext cx="0" cy="116199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Straight Connector 41">
                <a:extLst>
                  <a:ext uri="{FF2B5EF4-FFF2-40B4-BE49-F238E27FC236}">
                    <a16:creationId xmlns:a16="http://schemas.microsoft.com/office/drawing/2014/main" id="{CC6AB0E9-3CCE-6DAA-C4AC-DDC2CB2ABC9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449150" y="4563550"/>
                <a:ext cx="0" cy="116199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>
                <a:extLst>
                  <a:ext uri="{FF2B5EF4-FFF2-40B4-BE49-F238E27FC236}">
                    <a16:creationId xmlns:a16="http://schemas.microsoft.com/office/drawing/2014/main" id="{8D400B4E-17DB-5493-8980-107AFBDBC4B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585138" y="4563550"/>
                <a:ext cx="0" cy="116199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>
                <a:extLst>
                  <a:ext uri="{FF2B5EF4-FFF2-40B4-BE49-F238E27FC236}">
                    <a16:creationId xmlns:a16="http://schemas.microsoft.com/office/drawing/2014/main" id="{82FF0336-302E-71C1-FBD6-F960C2D9AF4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721126" y="4563550"/>
                <a:ext cx="0" cy="116199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>
                <a:extLst>
                  <a:ext uri="{FF2B5EF4-FFF2-40B4-BE49-F238E27FC236}">
                    <a16:creationId xmlns:a16="http://schemas.microsoft.com/office/drawing/2014/main" id="{C942E79C-B765-3DE7-8FE2-A94986915D7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857114" y="4563550"/>
                <a:ext cx="0" cy="116199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>
                <a:extLst>
                  <a:ext uri="{FF2B5EF4-FFF2-40B4-BE49-F238E27FC236}">
                    <a16:creationId xmlns:a16="http://schemas.microsoft.com/office/drawing/2014/main" id="{FFDAFCFB-EF5E-12BB-9BE4-32B648E7F73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993102" y="4563550"/>
                <a:ext cx="0" cy="116199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Straight Connector 46">
                <a:extLst>
                  <a:ext uri="{FF2B5EF4-FFF2-40B4-BE49-F238E27FC236}">
                    <a16:creationId xmlns:a16="http://schemas.microsoft.com/office/drawing/2014/main" id="{0A8E476C-6806-781A-A9E6-CC83FB9A79C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129090" y="4563550"/>
                <a:ext cx="0" cy="116199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Straight Connector 47">
                <a:extLst>
                  <a:ext uri="{FF2B5EF4-FFF2-40B4-BE49-F238E27FC236}">
                    <a16:creationId xmlns:a16="http://schemas.microsoft.com/office/drawing/2014/main" id="{1169EB86-90F6-FDE2-4670-4B41CFEF9C4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265078" y="4563550"/>
                <a:ext cx="0" cy="116199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Connector 48">
                <a:extLst>
                  <a:ext uri="{FF2B5EF4-FFF2-40B4-BE49-F238E27FC236}">
                    <a16:creationId xmlns:a16="http://schemas.microsoft.com/office/drawing/2014/main" id="{4C5E6196-0510-AFD2-6F09-6B78F2BE02A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401066" y="4563550"/>
                <a:ext cx="0" cy="116199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>
                <a:extLst>
                  <a:ext uri="{FF2B5EF4-FFF2-40B4-BE49-F238E27FC236}">
                    <a16:creationId xmlns:a16="http://schemas.microsoft.com/office/drawing/2014/main" id="{BB4F288D-0478-78E9-663D-F648FAD4889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537054" y="4563550"/>
                <a:ext cx="0" cy="116199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>
                <a:extLst>
                  <a:ext uri="{FF2B5EF4-FFF2-40B4-BE49-F238E27FC236}">
                    <a16:creationId xmlns:a16="http://schemas.microsoft.com/office/drawing/2014/main" id="{3710CA20-AE66-53B0-64C0-9591F5A3642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673042" y="4563550"/>
                <a:ext cx="0" cy="116199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A16B103F-07BB-B529-45CE-003F7768A075}"/>
              </a:ext>
            </a:extLst>
          </p:cNvPr>
          <p:cNvGrpSpPr/>
          <p:nvPr/>
        </p:nvGrpSpPr>
        <p:grpSpPr>
          <a:xfrm>
            <a:off x="4026620" y="2905938"/>
            <a:ext cx="6463629" cy="1408936"/>
            <a:chOff x="5658262" y="5681103"/>
            <a:chExt cx="6463629" cy="1408936"/>
          </a:xfrm>
        </p:grpSpPr>
        <p:sp>
          <p:nvSpPr>
            <p:cNvPr id="119" name="TextBox 118">
              <a:extLst>
                <a:ext uri="{FF2B5EF4-FFF2-40B4-BE49-F238E27FC236}">
                  <a16:creationId xmlns:a16="http://schemas.microsoft.com/office/drawing/2014/main" id="{0FCFD08D-1343-F1E8-2BCA-18E9795CA9B1}"/>
                </a:ext>
              </a:extLst>
            </p:cNvPr>
            <p:cNvSpPr txBox="1"/>
            <p:nvPr/>
          </p:nvSpPr>
          <p:spPr>
            <a:xfrm>
              <a:off x="5658262" y="6566819"/>
              <a:ext cx="6463629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each moment in time: a (biased) coin flip</a:t>
              </a:r>
            </a:p>
          </p:txBody>
        </p:sp>
        <p:cxnSp>
          <p:nvCxnSpPr>
            <p:cNvPr id="120" name="Straight Arrow Connector 119">
              <a:extLst>
                <a:ext uri="{FF2B5EF4-FFF2-40B4-BE49-F238E27FC236}">
                  <a16:creationId xmlns:a16="http://schemas.microsoft.com/office/drawing/2014/main" id="{6D26A6C0-C52F-44EF-11CF-F4BB5CB57EF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74523" y="5681103"/>
              <a:ext cx="0" cy="819509"/>
            </a:xfrm>
            <a:prstGeom prst="straightConnector1">
              <a:avLst/>
            </a:prstGeom>
            <a:ln w="5080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345706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35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14ECB9-B327-C3D2-FC4E-5D77CCC068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0B04F2-9962-7612-A076-56B4770D0C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Autocovariance (spike train)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EF3694-F857-CAF8-B88B-BCBF85BBE3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6871" y="1325563"/>
            <a:ext cx="10515600" cy="498475"/>
          </a:xfrm>
        </p:spPr>
        <p:txBody>
          <a:bodyPr/>
          <a:lstStyle/>
          <a:p>
            <a:r>
              <a:rPr lang="en-US" b="1" dirty="0"/>
              <a:t>Ex. </a:t>
            </a:r>
            <a:r>
              <a:rPr lang="en-US" dirty="0"/>
              <a:t>Random spiking </a:t>
            </a:r>
            <a:r>
              <a:rPr lang="en-US" b="1" u="sng" dirty="0"/>
              <a:t>with refractory period</a:t>
            </a:r>
            <a:r>
              <a:rPr lang="en-US" dirty="0"/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B6F28874-9B6A-BA98-1732-CB306A4EC793}"/>
                  </a:ext>
                </a:extLst>
              </p:cNvPr>
              <p:cNvSpPr txBox="1"/>
              <p:nvPr/>
            </p:nvSpPr>
            <p:spPr>
              <a:xfrm>
                <a:off x="286871" y="1824038"/>
                <a:ext cx="6053837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b="1" dirty="0"/>
                  <a:t>Q. </a:t>
                </a:r>
                <a:r>
                  <a:rPr lang="en-US" sz="2800" dirty="0"/>
                  <a:t>What is the </a:t>
                </a:r>
                <a:r>
                  <a:rPr lang="en-US" sz="2800" u="sng" dirty="0"/>
                  <a:t>autocovariance</a:t>
                </a:r>
                <a:r>
                  <a:rPr lang="en-US" sz="28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𝑟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𝑛𝑛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  <a:sym typeface="Wingdings" pitchFamily="2" charset="2"/>
                      </a:rPr>
                      <m:t>[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itchFamily="2" charset="2"/>
                      </a:rPr>
                      <m:t>𝜏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itchFamily="2" charset="2"/>
                      </a:rPr>
                      <m:t>]</m:t>
                    </m:r>
                  </m:oMath>
                </a14:m>
                <a:r>
                  <a:rPr lang="en-US" sz="2800" dirty="0"/>
                  <a:t>? </a:t>
                </a: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B6F28874-9B6A-BA98-1732-CB306A4EC7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6871" y="1824038"/>
                <a:ext cx="6053837" cy="523220"/>
              </a:xfrm>
              <a:prstGeom prst="rect">
                <a:avLst/>
              </a:prstGeom>
              <a:blipFill>
                <a:blip r:embed="rId2"/>
                <a:stretch>
                  <a:fillRect l="-2092" t="-11905" r="-1046"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2412C29B-B6D7-DCFF-8593-F9351B7393A3}"/>
              </a:ext>
            </a:extLst>
          </p:cNvPr>
          <p:cNvSpPr txBox="1"/>
          <p:nvPr/>
        </p:nvSpPr>
        <p:spPr>
          <a:xfrm>
            <a:off x="9376183" y="1824038"/>
            <a:ext cx="142628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[sketch]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516552F8-F23A-6154-3466-DC10112364A8}"/>
              </a:ext>
            </a:extLst>
          </p:cNvPr>
          <p:cNvGrpSpPr/>
          <p:nvPr/>
        </p:nvGrpSpPr>
        <p:grpSpPr>
          <a:xfrm>
            <a:off x="2812497" y="5134326"/>
            <a:ext cx="7056421" cy="796221"/>
            <a:chOff x="2458065" y="5456592"/>
            <a:chExt cx="7056421" cy="796221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9BC3B756-DA6F-6269-5B12-AFBACBF431AD}"/>
                </a:ext>
              </a:extLst>
            </p:cNvPr>
            <p:cNvCxnSpPr/>
            <p:nvPr/>
          </p:nvCxnSpPr>
          <p:spPr>
            <a:xfrm>
              <a:off x="2458065" y="5619135"/>
              <a:ext cx="6238568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7AC6EDFF-B157-5654-E746-D762F494FB20}"/>
                </a:ext>
              </a:extLst>
            </p:cNvPr>
            <p:cNvCxnSpPr/>
            <p:nvPr/>
          </p:nvCxnSpPr>
          <p:spPr>
            <a:xfrm>
              <a:off x="5530645" y="5471652"/>
              <a:ext cx="0" cy="339213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96AAA958-C08C-3667-7623-F41EE044F5F5}"/>
                </a:ext>
              </a:extLst>
            </p:cNvPr>
            <p:cNvSpPr txBox="1"/>
            <p:nvPr/>
          </p:nvSpPr>
          <p:spPr>
            <a:xfrm>
              <a:off x="8696633" y="5456592"/>
              <a:ext cx="817853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lags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2AE1D7CF-9D54-E767-9AEA-092B29450E83}"/>
                </a:ext>
              </a:extLst>
            </p:cNvPr>
            <p:cNvSpPr txBox="1"/>
            <p:nvPr/>
          </p:nvSpPr>
          <p:spPr>
            <a:xfrm>
              <a:off x="5356880" y="5729593"/>
              <a:ext cx="377026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374691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A0A214-844E-0ACB-EF4D-3D756CEEE2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8BD1D3-B7CD-5BBA-ABDA-EC57D1E1A0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Autocovariance (spike train)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8E74B6-2193-6E2A-956C-1F1C232772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6871" y="1325563"/>
            <a:ext cx="10515600" cy="498475"/>
          </a:xfrm>
        </p:spPr>
        <p:txBody>
          <a:bodyPr/>
          <a:lstStyle/>
          <a:p>
            <a:r>
              <a:rPr lang="en-US" b="1" dirty="0"/>
              <a:t>Ex. </a:t>
            </a:r>
            <a:r>
              <a:rPr lang="en-US" dirty="0"/>
              <a:t>Random spiking </a:t>
            </a:r>
            <a:r>
              <a:rPr lang="en-US" b="1" u="sng" dirty="0"/>
              <a:t>with refractory period</a:t>
            </a:r>
            <a:r>
              <a:rPr lang="en-US" dirty="0"/>
              <a:t>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A028CBD-7169-4883-F65F-ED1A3233BB56}"/>
              </a:ext>
            </a:extLst>
          </p:cNvPr>
          <p:cNvSpPr txBox="1"/>
          <p:nvPr/>
        </p:nvSpPr>
        <p:spPr>
          <a:xfrm>
            <a:off x="9376183" y="1824038"/>
            <a:ext cx="142628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[sketch]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245348C-52F1-AB5A-5284-20538728D94C}"/>
                  </a:ext>
                </a:extLst>
              </p:cNvPr>
              <p:cNvSpPr txBox="1"/>
              <p:nvPr/>
            </p:nvSpPr>
            <p:spPr>
              <a:xfrm>
                <a:off x="286871" y="1824038"/>
                <a:ext cx="4391780" cy="5579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b="1" dirty="0"/>
                  <a:t>Q. </a:t>
                </a:r>
                <a:r>
                  <a:rPr lang="en-US" sz="2800" dirty="0"/>
                  <a:t>What is </a:t>
                </a:r>
                <a:r>
                  <a:rPr lang="en-US" sz="2800" u="sng" dirty="0"/>
                  <a:t>spectrum</a:t>
                </a:r>
                <a:r>
                  <a:rPr lang="en-US" sz="28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𝑛𝑛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2800" dirty="0"/>
                  <a:t> ?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245348C-52F1-AB5A-5284-20538728D9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6871" y="1824038"/>
                <a:ext cx="4391780" cy="557910"/>
              </a:xfrm>
              <a:prstGeom prst="rect">
                <a:avLst/>
              </a:prstGeom>
              <a:blipFill>
                <a:blip r:embed="rId2"/>
                <a:stretch>
                  <a:fillRect l="-2882" t="-8889" r="-1729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Group 4">
            <a:extLst>
              <a:ext uri="{FF2B5EF4-FFF2-40B4-BE49-F238E27FC236}">
                <a16:creationId xmlns:a16="http://schemas.microsoft.com/office/drawing/2014/main" id="{BDB76E6D-25F8-CB63-BAAA-C68D1FA05583}"/>
              </a:ext>
            </a:extLst>
          </p:cNvPr>
          <p:cNvGrpSpPr/>
          <p:nvPr/>
        </p:nvGrpSpPr>
        <p:grpSpPr>
          <a:xfrm>
            <a:off x="3047354" y="3114633"/>
            <a:ext cx="6924685" cy="3281077"/>
            <a:chOff x="3047354" y="3114633"/>
            <a:chExt cx="6924685" cy="3281077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D78A1670-6C18-D982-BA54-CD1346927FE9}"/>
                </a:ext>
              </a:extLst>
            </p:cNvPr>
            <p:cNvCxnSpPr/>
            <p:nvPr/>
          </p:nvCxnSpPr>
          <p:spPr>
            <a:xfrm>
              <a:off x="4000500" y="3429000"/>
              <a:ext cx="0" cy="2705100"/>
            </a:xfrm>
            <a:prstGeom prst="line">
              <a:avLst/>
            </a:prstGeom>
            <a:ln w="508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BD2D345C-E86B-4D20-A177-50733D839580}"/>
                </a:ext>
              </a:extLst>
            </p:cNvPr>
            <p:cNvCxnSpPr/>
            <p:nvPr/>
          </p:nvCxnSpPr>
          <p:spPr>
            <a:xfrm flipH="1">
              <a:off x="4000500" y="6134100"/>
              <a:ext cx="5505450" cy="0"/>
            </a:xfrm>
            <a:prstGeom prst="line">
              <a:avLst/>
            </a:prstGeom>
            <a:ln w="508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59F7FBA1-D01F-0A60-DDAA-402FB1972F29}"/>
                    </a:ext>
                  </a:extLst>
                </p:cNvPr>
                <p:cNvSpPr txBox="1"/>
                <p:nvPr/>
              </p:nvSpPr>
              <p:spPr>
                <a:xfrm>
                  <a:off x="3047354" y="3114633"/>
                  <a:ext cx="979435" cy="5579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80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sz="2800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𝑛𝑛</m:t>
                            </m:r>
                            <m:r>
                              <a:rPr lang="en-US" sz="28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8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669DA3A9-D879-6F05-A863-C9F664D5BF1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47354" y="3114633"/>
                  <a:ext cx="979435" cy="557910"/>
                </a:xfrm>
                <a:prstGeom prst="rect">
                  <a:avLst/>
                </a:prstGeom>
                <a:blipFill>
                  <a:blip r:embed="rId3"/>
                  <a:stretch>
                    <a:fillRect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5A0DA9DE-372D-094D-7326-243514B297C0}"/>
                    </a:ext>
                  </a:extLst>
                </p:cNvPr>
                <p:cNvSpPr txBox="1"/>
                <p:nvPr/>
              </p:nvSpPr>
              <p:spPr>
                <a:xfrm>
                  <a:off x="9505950" y="5872490"/>
                  <a:ext cx="466089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53540BAD-324A-F11B-C662-776E20F1DE7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05950" y="5872490"/>
                  <a:ext cx="466089" cy="523220"/>
                </a:xfrm>
                <a:prstGeom prst="rect">
                  <a:avLst/>
                </a:prstGeom>
                <a:blipFill>
                  <a:blip r:embed="rId4"/>
                  <a:stretch>
                    <a:fillRect l="-7895" r="-5263" b="-1904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27901909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C5D56E-E831-EF2B-8425-AFA2818894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FD6150-89EF-A72F-7800-80CB470C93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Autocovariance (spike train)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ABEF68-CD67-257C-1695-1D0027196E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6871" y="1325563"/>
            <a:ext cx="10515600" cy="498475"/>
          </a:xfrm>
        </p:spPr>
        <p:txBody>
          <a:bodyPr/>
          <a:lstStyle/>
          <a:p>
            <a:r>
              <a:rPr lang="en-US" b="1" dirty="0"/>
              <a:t>Ex. </a:t>
            </a:r>
            <a:r>
              <a:rPr lang="en-US" dirty="0"/>
              <a:t>Random spiking </a:t>
            </a:r>
            <a:r>
              <a:rPr lang="en-US" b="1" u="sng" dirty="0"/>
              <a:t>with refractory period</a:t>
            </a:r>
            <a:r>
              <a:rPr lang="en-US" dirty="0"/>
              <a:t>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7C0A559-7266-51E6-2046-EA4F50C96D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252" y="3711283"/>
            <a:ext cx="11689976" cy="264536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4BA9847-A92D-16E0-2F05-2C50CD0021C1}"/>
                  </a:ext>
                </a:extLst>
              </p:cNvPr>
              <p:cNvSpPr txBox="1"/>
              <p:nvPr/>
            </p:nvSpPr>
            <p:spPr>
              <a:xfrm>
                <a:off x="286871" y="1824038"/>
                <a:ext cx="6053837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b="1" dirty="0"/>
                  <a:t>Q. </a:t>
                </a:r>
                <a:r>
                  <a:rPr lang="en-US" sz="2800" dirty="0"/>
                  <a:t>What is the </a:t>
                </a:r>
                <a:r>
                  <a:rPr lang="en-US" sz="2800" u="sng" dirty="0"/>
                  <a:t>autocovariance</a:t>
                </a:r>
                <a:r>
                  <a:rPr lang="en-US" sz="28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𝑟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𝑛𝑛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  <a:sym typeface="Wingdings" pitchFamily="2" charset="2"/>
                      </a:rPr>
                      <m:t>[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itchFamily="2" charset="2"/>
                      </a:rPr>
                      <m:t>𝜏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itchFamily="2" charset="2"/>
                      </a:rPr>
                      <m:t>]</m:t>
                    </m:r>
                  </m:oMath>
                </a14:m>
                <a:r>
                  <a:rPr lang="en-US" sz="2800" dirty="0"/>
                  <a:t>? 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4BA9847-A92D-16E0-2F05-2C50CD0021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6871" y="1824038"/>
                <a:ext cx="6053837" cy="523220"/>
              </a:xfrm>
              <a:prstGeom prst="rect">
                <a:avLst/>
              </a:prstGeom>
              <a:blipFill>
                <a:blip r:embed="rId3"/>
                <a:stretch>
                  <a:fillRect l="-2092" t="-11905" r="-1046"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F4AB30B-BB3F-4C9E-CEAF-C5B84A54B675}"/>
                  </a:ext>
                </a:extLst>
              </p:cNvPr>
              <p:cNvSpPr txBox="1"/>
              <p:nvPr/>
            </p:nvSpPr>
            <p:spPr>
              <a:xfrm>
                <a:off x="286871" y="2374027"/>
                <a:ext cx="4391780" cy="5579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b="1" dirty="0"/>
                  <a:t>Q. </a:t>
                </a:r>
                <a:r>
                  <a:rPr lang="en-US" sz="2800" dirty="0"/>
                  <a:t>What is </a:t>
                </a:r>
                <a:r>
                  <a:rPr lang="en-US" sz="2800" u="sng" dirty="0"/>
                  <a:t>spectrum</a:t>
                </a:r>
                <a:r>
                  <a:rPr lang="en-US" sz="28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𝑛𝑛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2800" dirty="0"/>
                  <a:t> ?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F4AB30B-BB3F-4C9E-CEAF-C5B84A54B6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6871" y="2374027"/>
                <a:ext cx="4391780" cy="557910"/>
              </a:xfrm>
              <a:prstGeom prst="rect">
                <a:avLst/>
              </a:prstGeom>
              <a:blipFill>
                <a:blip r:embed="rId4"/>
                <a:stretch>
                  <a:fillRect l="-2882" t="-8889" r="-1729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948807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747</TotalTime>
  <Words>991</Words>
  <Application>Microsoft Macintosh PowerPoint</Application>
  <PresentationFormat>Widescreen</PresentationFormat>
  <Paragraphs>193</Paragraphs>
  <Slides>23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9" baseType="lpstr">
      <vt:lpstr>Aptos</vt:lpstr>
      <vt:lpstr>Aptos Display</vt:lpstr>
      <vt:lpstr>Arial</vt:lpstr>
      <vt:lpstr>Cambria Math</vt:lpstr>
      <vt:lpstr>Wingdings</vt:lpstr>
      <vt:lpstr>Office Theme</vt:lpstr>
      <vt:lpstr>Rhythms</vt:lpstr>
      <vt:lpstr>Today</vt:lpstr>
      <vt:lpstr>Review</vt:lpstr>
      <vt:lpstr>Today</vt:lpstr>
      <vt:lpstr>Why? </vt:lpstr>
      <vt:lpstr>Subtract the mean</vt:lpstr>
      <vt:lpstr>Autocovariance (spike train)</vt:lpstr>
      <vt:lpstr>Autocovariance (spike train)</vt:lpstr>
      <vt:lpstr>Autocovariance (spike train) </vt:lpstr>
      <vt:lpstr>Autocovariance (spike train)</vt:lpstr>
      <vt:lpstr>Autocovariance (spike train)</vt:lpstr>
      <vt:lpstr>Autocovariance (spike train)</vt:lpstr>
      <vt:lpstr>Autocovariance (spike train)</vt:lpstr>
      <vt:lpstr>Autocovariance (spike train)</vt:lpstr>
      <vt:lpstr>Autocovariance (spike train)</vt:lpstr>
      <vt:lpstr>Autocovariance (spike train)</vt:lpstr>
      <vt:lpstr>Spectrum (spike train)</vt:lpstr>
      <vt:lpstr>Spectrum (spike train)</vt:lpstr>
      <vt:lpstr>Autocovariance (spike train)</vt:lpstr>
      <vt:lpstr>Autocovariance (spike train)</vt:lpstr>
      <vt:lpstr>Autocovariance (spike train)</vt:lpstr>
      <vt:lpstr>Autocovariance (spike train)</vt:lpstr>
      <vt:lpstr>Autocovariance (spike train)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Kramer, Mark</dc:creator>
  <cp:lastModifiedBy>Kramer, Mark</cp:lastModifiedBy>
  <cp:revision>237</cp:revision>
  <dcterms:created xsi:type="dcterms:W3CDTF">2024-10-21T17:21:04Z</dcterms:created>
  <dcterms:modified xsi:type="dcterms:W3CDTF">2024-11-07T18:45:09Z</dcterms:modified>
</cp:coreProperties>
</file>